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[Both — Speaker 1 opens]</a:t>
            </a:r>
          </a:p>
          <a:p>
            <a:r>
              <a:t>Speaker 1 (Stuart) opens with the one-liner: 'Upload a grocery receipt, get one smarter thing to buy next time.' Introduce both presenters. Set expectations: ~10–12 min, high-level, plus a short live demo. This is v0 of our final. Speaker 2 (Jennifer) takes the data/model half after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>
            <a:r>
              <a:t>Frame the pain: people want to eat better, but manual logging (MyFitnessPal-style) is exhausting and gets abandoned. Target user = health-conscious 25–45. Key insight: the receipt is a passive, honest proxy for what people actually buy — no logging required. That's our wedge.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>
            <a:r>
              <a:t>Walk the real loop: upload builds the pantry → you tap to log what you ate → weekly gaps → two recommendations ('use what you have' + one Next Cart buy). The product bet: a living pantry plus one clear decision beats a food diary. Trust framing: estimates from groceries + your taps, not medical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 or 2]</a:t>
            </a:r>
          </a:p>
          <a:p>
            <a:r>
              <a:t>Show the real product shape in one glance: a conversational onboarding sets targets; the Pantry is the home you return to (sorted by expiry); a single tap in the Daily Log records what you ate; Insights turns a week of taps into gaps and two recommendations. A fully clickable prototype exists if the audience wants to see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>
            <a:r>
              <a:t>The make-or-break LEADING indicator is check-off retention — does the daily tap survive novelty? If not, the whole pantry model dies, so we prove it first. North-star: ≥30% change their next purchase without manual logging. Supporting: action rate &gt;20%, time-to-value &lt;2 min. Full 10-KPI framework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1]</a:t>
            </a:r>
          </a:p>
          <a:p>
            <a:r>
              <a:t>Three-week sprint. DONE: the whole core loop runs end-to-end. IN PROGRESS: smarter matching + first 5 user tests. NEXT: recipes, pushing accuracy past 70%, KPI instrumentation. And rather than just tell you — let me show you the current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 → hands to Speaker 2]</a:t>
            </a:r>
          </a:p>
          <a:p>
            <a:r>
              <a:t>LIVE DEMO (~2 min). Say the positioning line first, then: chat onboarding (profile) → upload a receipt (on-device OCR — highlight: private, no API quota, works offline) → land on the Pantry (the home) → tap-to-log something eaten → Insights: weekly gaps + the “use what you have” pantry pick + Next Cart → Nutri-Coach phrasing + GDPR erase. NOTE: receipts no longer depend on Gemini, so there is no quota risk there. Only the Nutri-Coach uses Gemini (phrasing only) — if the free-tier daily limit is hit, the numbers and recommendation still work, only the conversational text degrades. Then hand to Speaker 2: 'that recommendation is only as good as the data behind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>
            <a:r>
              <a:t>Speaker 2 (Jennifer) takes over. Be explicit: this is NOT a classic supervised-ML project — it's a rule-based / LLM-hybrid. The core task is matching messy receipt text like 'AB Bud 6x0,3l MW' to a real food. No ground truth exists, so our evaluation is an LLM-judge panel: 3 independent judges, majority vote. Two numbers: precision (correct/usable) and inter-judge agreement (do we trust the metric itself). Product bar to hit: ≥70% of items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>
            <a:r>
              <a:t>Three data worlds: (1) real German receipts → on-device OCR (Tesseract) → items — private, no API, no quota, (2) Open Food Facts as first-line identity match, (3) the German federal BLS 4.0 table (7,140 rows, we pull 7 macros + 11 micros) for authoritative nutrients. Eval set: 76 unique items from 227 real occurrences, 13 columns. The challenges ARE the story — cryptic OCR, branded-vs-generic, OFF's sugar is total not free sugar, BLS has no processing rating, and coverage is thin, so we deliberately track a few nutrients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>
            <a:r>
              <a:t>Note honestly: these plots didn't exist in the repo — we built them from the evaluation data for this deck. Two findings: left, purchases skew to produce &amp; dairy (the basics); right, it's a long tail — 50% of items appear only once. So we can't memorise frequent items; the matcher must generalise to one-off, oddly-abbreviated products. That shaped the whole pipeline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>
            <a:r>
              <a:t>Given that long tail, we don't use one model — we use a tiered resolver. Receipt → on-device OCR (Tesseract, replaced Gemini — private, no quota) → normalization. Then four tiers, cheapest/most-certain first: Tier 0 human-verified, Tier 1 OFF fuzzy match bridged to German BLS nutrients, Tier 1b raw-produce, Tier 3 honest low-confidence category fallback. Every output carries nutrients + confidence + source. Say it plainly: this is rule-based on purpose — rules are more transparent and trustworthy than a black box for a health MVP. No fitted model in the matching path; the only LLM (Gemini) is the Nutri-Coach, and it only phrases the numbers, never invents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>
            <a:r>
              <a:t>Important framing correction: these are two INDEPENDENT matching strategies compared head-to-head, NOT a cumulative improvement. Judged by the panel: OpenFoodFacts identity match = 54% correct / 66% usable; the BLS generic table matched on its own = only 32% correct, 36% wrong. Judge agreement is 96% unanimous, so we trust the number. This head-to-head is exactly WHY the architecture uses OFF for identity and only borrows BLS nutrients under a type-agreement guard — a loose bridge would reintroduce BLS's ~33% wrong-food problem. 66% usable is just under our 70% bar — that gap is what the learned Tier-0 store is built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2]</a:t>
            </a:r>
          </a:p>
          <a:p>
            <a:r>
              <a:t>Two tracks next week. Matching: turn the resolver into a learning system — every user correction feeds the Tier-0 store — plus better normalization, to push past 70% usable. Product: start live user testing and instrument the KPI funnel, so we validate the trust hypothesis with real behaviour, not just a rising accuracy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[Both]</a:t>
            </a:r>
          </a:p>
          <a:p>
            <a:r>
              <a:t>Close on the one-liner and invite questions. If pushed on accuracy: honest baseline (OFF 66% usable), clear plan (learned Tier-0) to close the gap — and the harder validation question is trust / behaviour, which live user testing answers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53535" cy="6729984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749808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NUTRIWISE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7315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1D1D21"/>
                </a:solidFill>
                <a:latin typeface="Arial"/>
              </a:rPr>
              <a:t>Upload a grocery receipt.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5F7B4F"/>
                </a:solidFill>
                <a:latin typeface="Arial"/>
              </a:rPr>
              <a:t>Get one smarter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5F7B4F"/>
                </a:solidFill>
                <a:latin typeface="Arial"/>
              </a:rPr>
              <a:t>to buy next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160520"/>
            <a:ext cx="310896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389120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6E6F74"/>
                </a:solidFill>
                <a:latin typeface="Arial"/>
              </a:rPr>
              <a:t>A receipt-first nutrition assistant — your pantry works for you: tap what you eat, don't type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Jennifer Rake</a:t>
            </a:r>
            <a:r>
              <a:rPr sz="1300" b="1" i="0">
                <a:solidFill>
                  <a:srgbClr val="5F7B4F"/>
                </a:solidFill>
                <a:latin typeface="Arial"/>
              </a:rPr>
              <a:t>  · Speaker 2      </a:t>
            </a:r>
            <a:r>
              <a:rPr sz="1500" b="1" i="0">
                <a:solidFill>
                  <a:srgbClr val="1D1D21"/>
                </a:solidFill>
                <a:latin typeface="Arial"/>
              </a:rPr>
              <a:t>Stuart Kasemeier</a:t>
            </a:r>
            <a:r>
              <a:rPr sz="1300" b="1" i="0">
                <a:solidFill>
                  <a:srgbClr val="6E6F74"/>
                </a:solidFill>
                <a:latin typeface="Arial"/>
              </a:rPr>
              <a:t>  · Speaker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AI Product Management Capstone  ·  Midterm Presentation  ·  Version 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0" y="2148840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093976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Onboard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96528" y="2423160"/>
            <a:ext cx="18288" cy="548640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0" y="2990088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2935224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Pantry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6528" y="3264408"/>
            <a:ext cx="18288" cy="548640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0" y="3831336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377647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Check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96528" y="4105656"/>
            <a:ext cx="18288" cy="548640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0" y="4672584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4617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Insights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Eating well shouldn't require a spreadsheet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577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D1D21"/>
                </a:solidFill>
                <a:latin typeface="Arial"/>
              </a:rPr>
              <a:t>Health-conscious adults (25–45) want to eat better — but every tool asks them to </a:t>
            </a:r>
            <a:r>
              <a:rPr sz="1550" b="1" i="0">
                <a:solidFill>
                  <a:srgbClr val="1D1D21"/>
                </a:solidFill>
                <a:latin typeface="Arial"/>
              </a:rPr>
              <a:t>log every meal by hand.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D1D21"/>
                </a:solidFill>
                <a:latin typeface="Arial"/>
              </a:rPr>
              <a:t>That habit dies within weeks. People give up — or they guess.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D1D21"/>
                </a:solidFill>
                <a:latin typeface="Arial"/>
              </a:rPr>
              <a:t>Meanwhile the one honest record of what they actually eat already exists — </a:t>
            </a:r>
            <a:r>
              <a:rPr sz="1550" b="1" i="0">
                <a:solidFill>
                  <a:srgbClr val="5F7B4F"/>
                </a:solidFill>
                <a:latin typeface="Arial"/>
              </a:rPr>
              <a:t>the grocery receipt.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617720" cy="3520440"/>
          </a:xfrm>
          <a:prstGeom prst="roundRect">
            <a:avLst>
              <a:gd name="adj" fmla="val 5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01168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F7B4F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7086600" y="2478024"/>
            <a:ext cx="310896" cy="310896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404872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Manual logging is the #1 reason nutrition apps get abandoned</a:t>
            </a:r>
          </a:p>
        </p:txBody>
      </p:sp>
      <p:sp>
        <p:nvSpPr>
          <p:cNvPr id="11" name="Oval 10"/>
          <p:cNvSpPr/>
          <p:nvPr/>
        </p:nvSpPr>
        <p:spPr>
          <a:xfrm>
            <a:off x="7086600" y="3392424"/>
            <a:ext cx="310896" cy="310896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319272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Receipts are passive — zero extra effort for the user</a:t>
            </a:r>
          </a:p>
        </p:txBody>
      </p:sp>
      <p:sp>
        <p:nvSpPr>
          <p:cNvPr id="14" name="Oval 13"/>
          <p:cNvSpPr/>
          <p:nvPr/>
        </p:nvSpPr>
        <p:spPr>
          <a:xfrm>
            <a:off x="7086600" y="4306824"/>
            <a:ext cx="310896" cy="310896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42702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233672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One clear “next cart” decision beats another dashboard to ignore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One receipt in → a pantry that works for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822960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Snap or paste a receipt — on-device OCR builds your pantry. Private, no API, offline.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9856" y="3017520"/>
            <a:ext cx="310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599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599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99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Your Pantry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See what's in the house, sorted by freshness — no manual food logging.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3017520"/>
            <a:ext cx="310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492240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Check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One tap logs what you actually ate — that's your real intake signal.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3017520"/>
            <a:ext cx="310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9326880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Gaps + pick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Weekly gaps → “use what you have” + one Next Cart buy, each with a plain-language why.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1D1D21"/>
                </a:solidFill>
                <a:latin typeface="Arial"/>
              </a:rPr>
              <a:t>Every output is labeled </a:t>
            </a:r>
            <a:r>
              <a:rPr sz="1350" b="1" i="1">
                <a:solidFill>
                  <a:srgbClr val="5F7B4F"/>
                </a:solidFill>
                <a:latin typeface="Arial"/>
              </a:rPr>
              <a:t>“estimates from your groceries + what you tap in.”</a:t>
            </a:r>
            <a:r>
              <a:rPr sz="1350" b="0" i="1">
                <a:solidFill>
                  <a:srgbClr val="1D1D21"/>
                </a:solidFill>
                <a:latin typeface="Arial"/>
              </a:rPr>
              <a:t>  Not medical advice.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THE PRODUCT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D1D21"/>
                </a:solidFill>
                <a:latin typeface="Arial"/>
              </a:rPr>
              <a:t>From receipt to a daily habit — the user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18688" y="3246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5" y="3246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0224" y="3246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1 · Onboarding chat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conversational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2 · Your Pantry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home · expiry-aware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3 · Daily log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1 tap = 1 portion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5984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4 · Insights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weekly gaps + picks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868680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NutriWise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2578608"/>
            <a:ext cx="1417320" cy="365760"/>
          </a:xfrm>
          <a:prstGeom prst="roundRect">
            <a:avLst>
              <a:gd name="adj" fmla="val 45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2596896"/>
            <a:ext cx="1280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Dein Ziel?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00200" y="3054096"/>
            <a:ext cx="1417320" cy="365760"/>
          </a:xfrm>
          <a:prstGeom prst="roundRect">
            <a:avLst>
              <a:gd name="adj" fmla="val 45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9072" y="3072384"/>
            <a:ext cx="1280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Gesünder essen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3675887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9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94176"/>
            <a:ext cx="6035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Wenig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09928" y="3675887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9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09928" y="3694176"/>
            <a:ext cx="6035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Mittel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68296" y="3675887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9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8296" y="3694176"/>
            <a:ext cx="6035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Hoch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4297680"/>
            <a:ext cx="128016" cy="45720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34439" y="4297680"/>
            <a:ext cx="128016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17319" y="4297680"/>
            <a:ext cx="128016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4297680"/>
            <a:ext cx="128016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84448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3584448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328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Dein Vorrat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67328" y="2542032"/>
            <a:ext cx="1965960" cy="502920"/>
          </a:xfrm>
          <a:prstGeom prst="roundRect">
            <a:avLst>
              <a:gd name="adj" fmla="val 20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578608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EMPFOHLEN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D1D21"/>
                </a:solidFill>
                <a:latin typeface="Arial"/>
              </a:rPr>
              <a:t>🥛 Trink deine Buttermilch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67328" y="3218688"/>
            <a:ext cx="1965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1868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🍗 Hähnchenbrust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321868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B36A4A"/>
                </a:solidFill>
                <a:latin typeface="Arial"/>
              </a:rPr>
              <a:t>1 Tag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67328" y="3767328"/>
            <a:ext cx="1965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37673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🥛 Buttermilch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376732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B36A4A"/>
                </a:solidFill>
                <a:latin typeface="Arial"/>
              </a:rPr>
              <a:t>2 Tage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67328" y="4315968"/>
            <a:ext cx="1965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431596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🥦 Brokkoli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38928" y="431596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frisch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0216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6300216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3096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Tages-Log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83096" y="2670048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D1D21"/>
                </a:solidFill>
                <a:latin typeface="Arial"/>
              </a:rPr>
              <a:t>Protein</a:t>
            </a:r>
            <a:r>
              <a:rPr sz="700" b="0" i="0">
                <a:solidFill>
                  <a:srgbClr val="6E6F74"/>
                </a:solidFill>
                <a:latin typeface="Arial"/>
              </a:rPr>
              <a:t>   62 / 120 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83096" y="2944368"/>
            <a:ext cx="1965960" cy="128016"/>
          </a:xfrm>
          <a:prstGeom prst="roundRect">
            <a:avLst>
              <a:gd name="adj" fmla="val 50000"/>
            </a:avLst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83096" y="2944368"/>
            <a:ext cx="1022299" cy="128016"/>
          </a:xfrm>
          <a:prstGeom prst="roundRect">
            <a:avLst>
              <a:gd name="adj" fmla="val 50000"/>
            </a:avLst>
          </a:prstGeom>
          <a:solidFill>
            <a:srgbClr val="B3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3096" y="338328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D1D21"/>
                </a:solidFill>
                <a:latin typeface="Arial"/>
              </a:rPr>
              <a:t>Ballaststoffe</a:t>
            </a:r>
            <a:r>
              <a:rPr sz="700" b="0" i="0">
                <a:solidFill>
                  <a:srgbClr val="6E6F74"/>
                </a:solidFill>
                <a:latin typeface="Arial"/>
              </a:rPr>
              <a:t>   11 / 30 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83096" y="3657600"/>
            <a:ext cx="1965960" cy="128016"/>
          </a:xfrm>
          <a:prstGeom prst="roundRect">
            <a:avLst>
              <a:gd name="adj" fmla="val 50000"/>
            </a:avLst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83096" y="3657600"/>
            <a:ext cx="727405" cy="128016"/>
          </a:xfrm>
          <a:prstGeom prst="roundRect">
            <a:avLst>
              <a:gd name="adj" fmla="val 50000"/>
            </a:avLst>
          </a:prstGeom>
          <a:solidFill>
            <a:srgbClr val="B3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83096" y="4096512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D1D21"/>
                </a:solidFill>
                <a:latin typeface="Arial"/>
              </a:rPr>
              <a:t>Kalorien</a:t>
            </a:r>
            <a:r>
              <a:rPr sz="700" b="0" i="0">
                <a:solidFill>
                  <a:srgbClr val="6E6F74"/>
                </a:solidFill>
                <a:latin typeface="Arial"/>
              </a:rPr>
              <a:t>   1.340 / 2.100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83096" y="4370832"/>
            <a:ext cx="1965960" cy="128016"/>
          </a:xfrm>
          <a:prstGeom prst="roundRect">
            <a:avLst>
              <a:gd name="adj" fmla="val 50000"/>
            </a:avLst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83096" y="4370832"/>
            <a:ext cx="1258214" cy="128016"/>
          </a:xfrm>
          <a:prstGeom prst="roundRect">
            <a:avLst>
              <a:gd name="adj" fmla="val 5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015984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9015984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98863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Insights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98863" y="2523744"/>
            <a:ext cx="1965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5F7B4F"/>
                </a:solidFill>
                <a:latin typeface="Arial"/>
              </a:rPr>
              <a:t>72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98863" y="312724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E6F74"/>
                </a:solidFill>
                <a:latin typeface="Arial"/>
              </a:rPr>
              <a:t>Wochen-Score · Gut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98863" y="3493008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99447" y="3493008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Protein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36A4A"/>
                </a:solidFill>
                <a:latin typeface="Arial"/>
              </a:rPr>
              <a:t>niedrig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3" y="3493008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05287" y="3493008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Ballastst.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36A4A"/>
                </a:solidFill>
                <a:latin typeface="Arial"/>
              </a:rPr>
              <a:t>niedrig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8863" y="4059936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99447" y="4059936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Zucker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204703" y="4059936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305287" y="4059936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Kalorien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629107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E6F74"/>
                </a:solidFill>
                <a:latin typeface="Arial"/>
              </a:rPr>
              <a:t>Fully clickable prototype — sage-green corporate design, light &amp; dark.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SUCCESS CRITERIA &amp;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How we'll know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E6F74"/>
                </a:solidFill>
                <a:latin typeface="Arial"/>
              </a:rPr>
              <a:t>Core hypothesis: </a:t>
            </a:r>
            <a:r>
              <a:rPr sz="1400" b="1" i="0">
                <a:solidFill>
                  <a:srgbClr val="1D1D21"/>
                </a:solidFill>
                <a:latin typeface="Arial"/>
              </a:rPr>
              <a:t>do users trust a receipt-inferred recommendation enough to act — and does the check-off habit stick?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68296"/>
            <a:ext cx="73152" cy="1572768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5F7B4F"/>
                </a:solidFill>
                <a:latin typeface="Arial"/>
              </a:rPr>
              <a:t>Week 1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Check-off sticks?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the make-or-break — does tapping survive novelty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599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2368296"/>
            <a:ext cx="73152" cy="157276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30%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Behaviour shift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adjust their next cart to our suggestion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68296"/>
            <a:ext cx="73152" cy="157276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&gt;20%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Recommendation acted 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marked “done”, not dismissed unread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0" y="2368296"/>
            <a:ext cx="73152" cy="157276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&lt;2 min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Time to value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from upload to first personalised result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34840"/>
            <a:ext cx="10543032" cy="1234440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90288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F7B4F"/>
                </a:solidFill>
                <a:latin typeface="Arial"/>
              </a:rPr>
              <a:t>The check-off habit gates everything.  </a:t>
            </a:r>
            <a:r>
              <a:rPr sz="1350" b="0" i="0">
                <a:solidFill>
                  <a:srgbClr val="1D1D21"/>
                </a:solidFill>
                <a:latin typeface="Arial"/>
              </a:rPr>
              <a:t>If tapping doesn't survive week 1, the pantry and its recommendations go stale — so we prove that loop first, then layer in the full 10-KPI funnel across behaviour, business and satisfaction.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ROADMAP &amp;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Where we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3044952"/>
            <a:ext cx="10241280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46604" y="2935224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103120"/>
            <a:ext cx="1825599" cy="402336"/>
          </a:xfrm>
          <a:prstGeom prst="roundRect">
            <a:avLst>
              <a:gd name="adj" fmla="val 5000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21408"/>
            <a:ext cx="18255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017" y="2130552"/>
            <a:ext cx="16596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E6F74"/>
                </a:solidFill>
                <a:latin typeface="Arial"/>
              </a:rPr>
              <a:t>Weeks 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520440"/>
            <a:ext cx="33192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581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39896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On-device OCR → pantry → gaps → 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242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224528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Daily check-off log + expiry-aware pantry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27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709160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Recipes, easy swaps, progress 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212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193792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Nutri-Coach + transparent empty states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96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678424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GDPR export/erasure · engagement banner · DE/EN</a:t>
            </a:r>
          </a:p>
        </p:txBody>
      </p:sp>
      <p:sp>
        <p:nvSpPr>
          <p:cNvPr id="21" name="Oval 20"/>
          <p:cNvSpPr/>
          <p:nvPr/>
        </p:nvSpPr>
        <p:spPr>
          <a:xfrm>
            <a:off x="6085332" y="2935224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44568" y="2103120"/>
            <a:ext cx="1825599" cy="402336"/>
          </a:xfrm>
          <a:prstGeom prst="roundRect">
            <a:avLst>
              <a:gd name="adj" fmla="val 5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2121408"/>
            <a:ext cx="18255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IN 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9745" y="2130552"/>
            <a:ext cx="16596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E6F74"/>
                </a:solidFill>
                <a:latin typeface="Arial"/>
              </a:rPr>
              <a:t>Now — Week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3520440"/>
            <a:ext cx="33192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18888" y="37581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3739896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1-tap portion — cut check-off friction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4242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4224528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Sharper matching (learned Tier-0 + normalization)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4727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4709160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A/B test: when to ask “what did you eat?”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8888" y="5212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5193792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Live user testing + check-off retention</a:t>
            </a:r>
          </a:p>
        </p:txBody>
      </p:sp>
      <p:sp>
        <p:nvSpPr>
          <p:cNvPr id="34" name="Oval 33"/>
          <p:cNvSpPr/>
          <p:nvPr/>
        </p:nvSpPr>
        <p:spPr>
          <a:xfrm>
            <a:off x="9624059" y="2935224"/>
            <a:ext cx="274320" cy="274320"/>
          </a:xfrm>
          <a:prstGeom prst="ellipse">
            <a:avLst/>
          </a:prstGeom>
          <a:solidFill>
            <a:srgbClr val="6E6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83296" y="2103120"/>
            <a:ext cx="1825599" cy="402336"/>
          </a:xfrm>
          <a:prstGeom prst="roundRect">
            <a:avLst>
              <a:gd name="adj" fmla="val 50000"/>
            </a:avLst>
          </a:prstGeom>
          <a:solidFill>
            <a:srgbClr val="6E6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83296" y="2121408"/>
            <a:ext cx="18255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NEXT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8473" y="2130552"/>
            <a:ext cx="16596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E6F74"/>
                </a:solidFill>
                <a:latin typeface="Arial"/>
              </a:rPr>
              <a:t>Post-midterm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520440"/>
            <a:ext cx="33192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37581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E6F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3376" y="3739896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Advanced matching model (embeddings) past 70 %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7616" y="4242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E6F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4224528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Instrument the 10-KPI funnel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57616" y="4727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E6F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23376" y="4709160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Weekly / monthly trends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LIVE DEMO — THE CURRENT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See it run, end-to-end, on a real receipt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874519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37943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Chat onboarding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conversational profile — goal, needs, exclusions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" y="2331720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05456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Upload receipts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on-device OCR — private, no quota, offline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" y="2999232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72968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Your Pantry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what's in the house, expiry-aware — the home screen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" y="3666744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3877056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587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40480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Daily log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one tap to check off what you actually 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" y="4334256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" y="4544568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26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07992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Insights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weekly gaps + “use what you have” + Next Cart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2" y="5001768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5212079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937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175503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Nutri-Coach + erase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plain-language why · GDPR erase anytime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1783080"/>
            <a:ext cx="475488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629400" y="1783080"/>
            <a:ext cx="4754880" cy="603504"/>
          </a:xfrm>
          <a:prstGeom prst="round2SameRect">
            <a:avLst>
              <a:gd name="adj1" fmla="val 5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1819656"/>
            <a:ext cx="4206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NutriWise  ·  Your 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420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E6F74"/>
                </a:solidFill>
                <a:latin typeface="Arial"/>
              </a:rPr>
              <a:t>Estimates from your groceries + daily log — not medical 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2971800"/>
            <a:ext cx="4206240" cy="1371600"/>
          </a:xfrm>
          <a:prstGeom prst="roundRect">
            <a:avLst>
              <a:gd name="adj" fmla="val 8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310896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F7B4F"/>
                </a:solidFill>
                <a:latin typeface="Arial"/>
              </a:rPr>
              <a:t>YOUR NEXT CART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42900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+ Red lentils (dried)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84048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Closes your fiber &amp; plant-protein gap — and it's peanut-free.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526280"/>
            <a:ext cx="1280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4617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E6F74"/>
                </a:solidFill>
                <a:latin typeface="Arial"/>
              </a:rPr>
              <a:t>Fiber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892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36A4A"/>
                </a:solidFill>
                <a:latin typeface="Arial"/>
              </a:rPr>
              <a:t>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4526280"/>
            <a:ext cx="1280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4617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E6F74"/>
                </a:solidFill>
                <a:latin typeface="Arial"/>
              </a:rPr>
              <a:t>Protein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892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38360" y="4526280"/>
            <a:ext cx="1280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38360" y="4617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E6F74"/>
                </a:solidFill>
                <a:latin typeface="Arial"/>
              </a:rPr>
              <a:t>Sugar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4892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5532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6F74"/>
                </a:solidFill>
                <a:latin typeface="Arial"/>
              </a:rPr>
              <a:t>illustrative — shown live in the demo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EVALUATION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D1D21"/>
                </a:solidFill>
                <a:latin typeface="Arial"/>
              </a:rPr>
              <a:t>The hard part: turning cryptic receipt text into a real food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6692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36A4A"/>
                </a:solidFill>
                <a:latin typeface="Arial"/>
              </a:rPr>
              <a:t>“AB Bud 6x0,3l MW”</a:t>
            </a:r>
            <a:r>
              <a:rPr sz="1700" b="1" i="0">
                <a:solidFill>
                  <a:srgbClr val="1D1D21"/>
                </a:solidFill>
                <a:latin typeface="Arial"/>
              </a:rPr>
              <a:t>   →   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D1D21"/>
                </a:solidFill>
                <a:latin typeface="Arial"/>
              </a:rPr>
              <a:t>Every receipt line must become a real food with real nutrients. There is </a:t>
            </a:r>
            <a:r>
              <a:rPr sz="1450" b="1" i="0">
                <a:solidFill>
                  <a:srgbClr val="1D1D21"/>
                </a:solidFill>
                <a:latin typeface="Arial"/>
              </a:rPr>
              <a:t>no ground-truth label</a:t>
            </a:r>
            <a:r>
              <a:rPr sz="1450" b="0" i="0">
                <a:solidFill>
                  <a:srgbClr val="1D1D21"/>
                </a:solidFill>
                <a:latin typeface="Arial"/>
              </a:rPr>
              <a:t> for “what food is this, really?”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D1D21"/>
                </a:solidFill>
                <a:latin typeface="Arial"/>
              </a:rPr>
              <a:t>This is a rule-based / LLM-hybrid, </a:t>
            </a:r>
            <a:r>
              <a:rPr sz="1450" b="1" i="0">
                <a:solidFill>
                  <a:srgbClr val="5F7B4F"/>
                </a:solidFill>
                <a:latin typeface="Arial"/>
              </a:rPr>
              <a:t>not a trained ML model</a:t>
            </a:r>
            <a:r>
              <a:rPr sz="1450" b="0" i="0">
                <a:solidFill>
                  <a:srgbClr val="1D1D21"/>
                </a:solidFill>
                <a:latin typeface="Arial"/>
              </a:rPr>
              <a:t> — so we built our own evaluation: an </a:t>
            </a:r>
            <a:r>
              <a:rPr sz="1450" b="1" i="0">
                <a:solidFill>
                  <a:srgbClr val="5F7B4F"/>
                </a:solidFill>
                <a:latin typeface="Arial"/>
              </a:rPr>
              <a:t>LLM-judge panel.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D1D21"/>
                </a:solidFill>
                <a:latin typeface="Arial"/>
              </a:rPr>
              <a:t>3 independent judges rate every match — </a:t>
            </a:r>
            <a:r>
              <a:rPr sz="1450" b="1" i="0">
                <a:solidFill>
                  <a:srgbClr val="1D1D21"/>
                </a:solidFill>
                <a:latin typeface="Arial"/>
              </a:rPr>
              <a:t>correct / partial / wrong / no-match</a:t>
            </a:r>
            <a:r>
              <a:rPr sz="1450" b="0" i="0">
                <a:solidFill>
                  <a:srgbClr val="1D1D21"/>
                </a:solidFill>
                <a:latin typeface="Arial"/>
              </a:rPr>
              <a:t> — majority verdict wins.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83080"/>
            <a:ext cx="4526280" cy="3520440"/>
          </a:xfrm>
          <a:prstGeom prst="roundRect">
            <a:avLst>
              <a:gd name="adj" fmla="val 5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98424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F7B4F"/>
                </a:solidFill>
                <a:latin typeface="Arial"/>
              </a:rPr>
              <a:t>WHAT WE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395728"/>
            <a:ext cx="397763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0" y="2523744"/>
            <a:ext cx="73152" cy="95097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523744"/>
            <a:ext cx="3593591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Precision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Match quality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% judged correct — or usable (correct + partial)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749039"/>
            <a:ext cx="397763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0" y="3877055"/>
            <a:ext cx="73152" cy="950976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877055"/>
            <a:ext cx="3593591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5F7B4F"/>
                </a:solidFill>
                <a:latin typeface="Arial"/>
              </a:rPr>
              <a:t>Agreement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Judge reliability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% of items where all 3 judges agree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DATA — SOURCES, SHAPE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Three data worlds, stitched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319272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11095"/>
            <a:ext cx="73152" cy="148132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65960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Grocery receipts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41448"/>
            <a:ext cx="28163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Real German receipts (Lidl / Netto / Edeka) → on-device OCR (Tesseract) → items. Private: no receipt data leaves the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319272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911095"/>
            <a:ext cx="73152" cy="148132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965960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Open Food 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441448"/>
            <a:ext cx="28163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Crowd-sourced branded-product API + local cache. First-line identity match; sparse per field.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16" y="1783080"/>
            <a:ext cx="3319272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00416" y="1911095"/>
            <a:ext cx="73152" cy="1481328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1965960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BLS 4.0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2441448"/>
            <a:ext cx="28163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German federal food-composition DB. ~7,140 rows × 418 cols — 7 macros + 11 micros extracted.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49039"/>
            <a:ext cx="5074920" cy="1554480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F7B4F"/>
                </a:solidFill>
                <a:latin typeface="Arial"/>
              </a:rPr>
              <a:t>EVALUATION SET (shape)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270248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5F7B4F"/>
                </a:solidFill>
                <a:latin typeface="Arial"/>
              </a:rPr>
              <a:t>76</a:t>
            </a:r>
            <a:r>
              <a:rPr sz="1250" b="0" i="0">
                <a:solidFill>
                  <a:srgbClr val="1D1D21"/>
                </a:solidFill>
                <a:latin typeface="Arial"/>
              </a:rPr>
              <a:t> unique items   ·   </a:t>
            </a:r>
            <a:r>
              <a:rPr sz="2000" b="1" i="0">
                <a:solidFill>
                  <a:srgbClr val="5F7B4F"/>
                </a:solidFill>
                <a:latin typeface="Arial"/>
              </a:rPr>
              <a:t>227</a:t>
            </a:r>
            <a:r>
              <a:rPr sz="1250" b="0" i="0">
                <a:solidFill>
                  <a:srgbClr val="1D1D21"/>
                </a:solidFill>
                <a:latin typeface="Arial"/>
              </a:rPr>
              <a:t> line-item occurrences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E6F74"/>
                </a:solidFill>
                <a:latin typeface="Arial"/>
              </a:rPr>
              <a:t>13 columns: raw &amp; normalized name, category, occurrences,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E6F74"/>
                </a:solidFill>
                <a:latin typeface="Arial"/>
              </a:rPr>
              <a:t>off/bls matched-name · verdict · agreement · n_judges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749039"/>
            <a:ext cx="5239512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886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36A4A"/>
                </a:solidFill>
                <a:latin typeface="Arial"/>
              </a:rPr>
              <a:t>HONEST DATA CHALLENGES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2245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36A4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D1D21"/>
                </a:solidFill>
                <a:latin typeface="Arial"/>
              </a:rPr>
              <a:t>Cryptic OCR / branded-vs-generic (“Budweiser” → “Pilsner Bier”)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5628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36A4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D1D21"/>
                </a:solidFill>
                <a:latin typeface="Arial"/>
              </a:rPr>
              <a:t>OFF sugar = total, not free sugar; BLS has no NOVA rating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90118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36A4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D1D21"/>
                </a:solidFill>
                <a:latin typeface="Arial"/>
              </a:rPr>
              <a:t>Thin per-nutrient coverage → track few nutrients well, not many poorly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EXPLORATORY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What real baskets actually look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2578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da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38528"/>
            <a:ext cx="5591387" cy="35661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783080"/>
            <a:ext cx="5102352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a_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38528"/>
            <a:ext cx="5591387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779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Takeaway:  </a:t>
            </a:r>
            <a:r>
              <a:rPr sz="1250" b="0" i="0">
                <a:solidFill>
                  <a:srgbClr val="1D1D21"/>
                </a:solidFill>
                <a:latin typeface="Arial"/>
              </a:rPr>
              <a:t>baskets are produce- and dairy-heavy, but the long tail is brutal — half the items appear only once, so the matcher must generalise, not memorise.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ML WORKFLOW / 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A tiered resolver — cheap &amp; certain first, fallback last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1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Receipt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7C9A9"/>
                </a:solidFill>
                <a:latin typeface="Arial"/>
              </a:rPr>
              <a:t>image /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256" y="20574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7C9A6A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599" y="1874519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1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242316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7C9A9"/>
                </a:solidFill>
                <a:latin typeface="Arial"/>
              </a:rPr>
              <a:t>on-device OCR →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20574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7C9A6A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874519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1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Normalize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2316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7C9A9"/>
                </a:solidFill>
                <a:latin typeface="Arial"/>
              </a:rPr>
              <a:t>strip qty · price · non-food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057400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7C9A6A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63240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063240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063240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Tier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06324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Learned verified matches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063240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human-confirmed · conf 1.0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721608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3721608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21608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Tier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721608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OpenFoodFacts + fuzzy 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721608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→ BLS bridge for DE nutrients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379976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437997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379976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Tier 1b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379976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BLS whole-food (raw produce)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4379976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guarded by food-type agreement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038344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03834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CF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038344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Tier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5038344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Category fallback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5038344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low confidence · flagged “unknown”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063240"/>
            <a:ext cx="2542032" cy="2542032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6840" y="32461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F7B4F"/>
                </a:solidFill>
                <a:latin typeface="Arial"/>
              </a:rPr>
              <a:t>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365760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Nutrients (macros + micros)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1422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Confidence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6268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Data-source citation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6840" y="511149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→ Gaps + Next Cart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80644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E6F74"/>
                </a:solidFill>
                <a:latin typeface="Arial"/>
              </a:rPr>
              <a:t>Rule-based on purpose — no fitted model — so the logic stays transparent and trustworthy for the MVP.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BASELINE MODEL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Two matching strategies, judged head-to-head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690372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20240"/>
            <a:ext cx="6629400" cy="23938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737360"/>
            <a:ext cx="336499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0" y="1865376"/>
            <a:ext cx="73152" cy="74980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65376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66%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OFF usable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correct + partial — our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2928"/>
            <a:ext cx="336499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2980944"/>
            <a:ext cx="73152" cy="749808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98094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5F7B4F"/>
                </a:solidFill>
                <a:latin typeface="Arial"/>
              </a:rPr>
              <a:t>2×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OFF beats BLS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54% vs 32% correct on identity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3968496"/>
            <a:ext cx="336499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4096511"/>
            <a:ext cx="73152" cy="74980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096511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96%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Judge agreement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3/3 unanimous — metric is reliable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138928"/>
            <a:ext cx="10543032" cy="822960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230368"/>
            <a:ext cx="10058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Why the architecture:  </a:t>
            </a:r>
            <a:r>
              <a:rPr sz="1300" b="0" i="0">
                <a:solidFill>
                  <a:srgbClr val="1D1D21"/>
                </a:solidFill>
                <a:latin typeface="Arial"/>
              </a:rPr>
              <a:t>OFF wins on identity, so it leads. BLS matches worse (~⅓ wrong-food), so its nutrients are only borrowed under a guard — never used as the primary matcher. 66% usable is just below our 70% bar.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NEXT WEEK &amp;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From baseline to trustworthy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257800" cy="342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822960" y="1874519"/>
            <a:ext cx="5257800" cy="65836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47672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Sharper matching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862071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83463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Fuzzy baseline 66% → semantic-embedding re-ranker, target &gt;70% usable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3703320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7588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630168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Learned Tier-0 store keeps improving from every correction</a:t>
            </a:r>
          </a:p>
        </p:txBody>
      </p:sp>
      <p:sp>
        <p:nvSpPr>
          <p:cNvPr id="14" name="Oval 13"/>
          <p:cNvSpPr/>
          <p:nvPr/>
        </p:nvSpPr>
        <p:spPr>
          <a:xfrm>
            <a:off x="1143000" y="4544568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51713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71416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Personalized portion &amp; consumption estimation (ML)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874519"/>
            <a:ext cx="5257800" cy="342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199632" y="1874519"/>
            <a:ext cx="5257800" cy="65836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947672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Validate &amp; grow</a:t>
            </a:r>
          </a:p>
        </p:txBody>
      </p:sp>
      <p:sp>
        <p:nvSpPr>
          <p:cNvPr id="20" name="Oval 19"/>
          <p:cNvSpPr/>
          <p:nvPr/>
        </p:nvSpPr>
        <p:spPr>
          <a:xfrm>
            <a:off x="6519672" y="2862071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283463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2788920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Live user testing — does the check-off habit stick?</a:t>
            </a:r>
          </a:p>
        </p:txBody>
      </p:sp>
      <p:sp>
        <p:nvSpPr>
          <p:cNvPr id="23" name="Oval 22"/>
          <p:cNvSpPr/>
          <p:nvPr/>
        </p:nvSpPr>
        <p:spPr>
          <a:xfrm>
            <a:off x="6519672" y="3703320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67588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3630168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A/B test: the best moment to ask “what did you eat?”</a:t>
            </a:r>
          </a:p>
        </p:txBody>
      </p:sp>
      <p:sp>
        <p:nvSpPr>
          <p:cNvPr id="26" name="Oval 25"/>
          <p:cNvSpPr/>
          <p:nvPr/>
        </p:nvSpPr>
        <p:spPr>
          <a:xfrm>
            <a:off x="6519672" y="4544568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9672" y="451713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4471416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Instrument the 10-KPI funnel (upload → insight → retention)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F7B4F"/>
                </a:solidFill>
                <a:latin typeface="Arial"/>
              </a:rPr>
              <a:t>Principle:  </a:t>
            </a:r>
            <a:r>
              <a:rPr sz="1200" b="0" i="1">
                <a:solidFill>
                  <a:srgbClr val="6E6F74"/>
                </a:solidFill>
                <a:latin typeface="Arial"/>
              </a:rPr>
              <a:t>ML where rules can't generalise (matching, portions) — gaps &amp; recommendations stay rule-based and transparent.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795528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NUTRIWISE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1D1D21"/>
                </a:solidFill>
                <a:latin typeface="Arial"/>
              </a:rPr>
              <a:t>Thank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383280"/>
            <a:ext cx="310896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5F7B4F"/>
                </a:solidFill>
                <a:latin typeface="Arial"/>
              </a:rPr>
              <a:t>Upload a grocery receipt. Get one smarter thing to buy next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Jennifer Rake</a:t>
            </a:r>
            <a:r>
              <a:rPr sz="1500" b="0" i="0">
                <a:solidFill>
                  <a:srgbClr val="6E6F74"/>
                </a:solidFill>
                <a:latin typeface="Arial"/>
              </a:rPr>
              <a:t>   &amp;   </a:t>
            </a:r>
            <a:r>
              <a:rPr sz="1500" b="1" i="0">
                <a:solidFill>
                  <a:srgbClr val="1D1D21"/>
                </a:solidFill>
                <a:latin typeface="Arial"/>
              </a:rPr>
              <a:t>Stuart Kasemeier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NutriWise  ·  AI PM Capstone  ·  Midterm V1  —  Questions &amp; feedback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