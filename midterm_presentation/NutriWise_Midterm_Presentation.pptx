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 — Speaker 1 opens]</a:t>
            </a:r>
          </a:p>
          <a:p>
            <a:r>
              <a:t>Speaker 1 (Stuart) opens with the one-liner: 'Upload a grocery receipt, get one smarter thing to buy next time.' Introduce both presenters. Set expectations: ~10–12 min, high-level, plus a short live demo. This is v0 of our final. Speaker 2 (Jennifer) takes the data/model half after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Frame the pain: people want to eat better, but manual logging (MyFitnessPal-style) is exhausting and gets abandoned. Target user = health-conscious 25–45. Key insight: the receipt is a passive, honest proxy for what people actually buy — no logging required. That's our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Walk the core loop in one breath: upload → snapshot → gap → ONE Next Cart action. The product bet: a single clear decision beats a full dashboard. Stress the trust framing — everything is labelled 'estimated, not actual intake', and it's explicitly not medical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North-star: ≥30% of users change their next grocery purchase without any manual logging. Supporting KPIs: action rate &gt;20%, time-to-value &lt;2 min, and the strongest trust signal — re-uploading a second receipt unprompted. Full 10-KPI framework, but the core loop is validated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Three-week sprint. DONE: the whole core loop runs end-to-end. IN PROGRESS: smarter matching + first 5 user tests. NEXT: recipes, pushing accuracy past 70%, KPI instrumentation. And rather than just tell you — let me show you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→ hands to Speaker 2]</a:t>
            </a:r>
          </a:p>
          <a:p>
            <a:r>
              <a:t>LIVE DEMO (~2 min). Say the positioning line first, then: chat onboarding (profile) → upload a receipt (on-device OCR — highlight: private, no API quota, works offline) → land on the Pantry (the home) → tap-to-log something eaten → Insights: weekly gaps + the “use what you have” pantry pick + Next Cart → Nutri-Coach phrasing + GDPR erase. NOTE: receipts no longer depend on Gemini, so there is no quota risk there. Only the Nutri-Coach uses Gemini (phrasing only) — if the free-tier daily limit is hit, the numbers and recommendation still work, only the conversational text degrades. Then hand to Speaker 2: 'that recommendation is only as good as the data behind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Speaker 2 (Jennifer) takes over. Be explicit: this is NOT a classic supervised-ML project — it's a rule-based / LLM-hybrid. The core task is matching messy receipt text like 'AB Bud 6x0,3l MW' to a real food. No ground truth exists, so our evaluation is an LLM-judge panel: 3 independent judges, majority vote. Two numbers: precision (correct/usable) and inter-judge agreement (do we trust the metric itself). Product bar to hit: ≥70% of items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Three data worlds: (1) real German receipts → on-device OCR (Tesseract) → items — private, no API, no quota, (2) Open Food Facts as first-line identity match, (3) the German federal BLS 4.0 table (7,140 rows, we pull 7 macros + 11 micros) for authoritative nutrients. Eval set: 76 unique items from 227 real occurrences, 13 columns. The challenges ARE the story — cryptic OCR, branded-vs-generic, OFF's sugar is total not free sugar, BLS has no processing rating, and coverage is thin, so we deliberately track a few nutrients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Note honestly: these plots didn't exist in the repo — we built them from the evaluation data for this deck. Two findings: left, purchases skew to produce &amp; dairy (the basics); right, it's a long tail — 50% of items appear only once. So we can't memorise frequent items; the matcher must generalise to one-off, oddly-abbreviated products. That shaped the whole pipeline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Given that long tail, we don't use one model — we use a tiered resolver. Receipt → on-device OCR (Tesseract, replaced Gemini — private, no quota) → normalization. Then four tiers, cheapest/most-certain first: Tier 0 human-verified, Tier 1 OFF fuzzy match bridged to German BLS nutrients, Tier 1b raw-produce, Tier 3 honest low-confidence category fallback. Every output carries nutrients + confidence + source. Say it plainly: this is rule-based on purpose — rules are more transparent and trustworthy than a black box for a health MVP. No fitted model in the matching path; the only LLM (Gemini) is the Nutri-Coach, and it only phrases the numbers, never invents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Important framing correction: these are two INDEPENDENT matching strategies compared head-to-head, NOT a cumulative improvement. Judged by the panel: OpenFoodFacts identity match = 54% correct / 66% usable; the BLS generic table matched on its own = only 32% correct, 36% wrong. Judge agreement is 96% unanimous, so we trust the number. This head-to-head is exactly WHY the architecture uses OFF for identity and only borrows BLS nutrients under a type-agreement guard — a loose bridge would reintroduce BLS's ~33% wrong-food problem. 66% usable is just under our 70% bar — that gap is what the learned Tier-0 store is built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Two tracks next week. Matching: turn the resolver into a learning system — every user correction feeds the Tier-0 store — plus better normalization, to push past 70% usable. Product: start live user testing and instrument the KPI funnel, so we validate the trust hypothesis with real behaviour, not just a rising accuracy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Close on the one-liner and invite questions. If pushed on accuracy: honest baseline (OFF 66% usable), clear plan (learned Tier-0) to close the gap — and the harder validation question is trust / behaviour, which live user testing answers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28016"/>
            <a:ext cx="4053535" cy="6729984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4980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7315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1D1D21"/>
                </a:solidFill>
                <a:latin typeface="Arial"/>
              </a:rPr>
              <a:t>Upload a grocery receipt.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5F7B4F"/>
                </a:solidFill>
                <a:latin typeface="Arial"/>
              </a:rPr>
              <a:t>Get one smarter 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5F7B4F"/>
                </a:solidFill>
                <a:latin typeface="Arial"/>
              </a:rPr>
              <a:t>to buy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6052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38912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E6F74"/>
                </a:solidFill>
                <a:latin typeface="Arial"/>
              </a:rPr>
              <a:t>A receipt-first nutrition assistant — no food logging, one clear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300" b="1" i="0">
                <a:solidFill>
                  <a:srgbClr val="5F7B4F"/>
                </a:solidFill>
                <a:latin typeface="Arial"/>
              </a:rPr>
              <a:t>  · Speaker 2   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  <a:r>
              <a:rPr sz="1300" b="1" i="0">
                <a:solidFill>
                  <a:srgbClr val="6E6F74"/>
                </a:solidFill>
                <a:latin typeface="Arial"/>
              </a:rPr>
              <a:t>  · Speaker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AI Product Management Capstone  ·  Midterm Presentation  ·  Version 0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2148840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0939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Upload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2423160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0" y="2990088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93522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Estimate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3264408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0" y="3831336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77647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Find the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96528" y="4105656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0" y="4672584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46177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Next Cart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Eating well shouldn't require a spreadsheet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577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Health-conscious adults (25–45) want to eat better — but every tool asks them to </a:t>
            </a:r>
            <a:r>
              <a:rPr sz="1550" b="1" i="0">
                <a:solidFill>
                  <a:srgbClr val="1D1D21"/>
                </a:solidFill>
                <a:latin typeface="Arial"/>
              </a:rPr>
              <a:t>log every meal by hand.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That habit dies within weeks. People give up — or they guess.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Meanwhile the one honest record of what they actually eat already exists — </a:t>
            </a:r>
            <a:r>
              <a:rPr sz="1550" b="1" i="0">
                <a:solidFill>
                  <a:srgbClr val="5F7B4F"/>
                </a:solidFill>
                <a:latin typeface="Arial"/>
              </a:rPr>
              <a:t>the grocery receipt.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83080"/>
            <a:ext cx="4617720" cy="352044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11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7086600" y="24780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4048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Manual logging is the #1 reason nutrition apps get abandoned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33924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355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192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Receipts are passive — zero extra effort for the user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43068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270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2336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One clear “next cart” decision beats another dashboard to ignore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One receipt in → one better decision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Snap or paste a receipt. Text paste is first-class — OCR is unreliable.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599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599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Reconstruct a nutrition snapshot from what was bought — protein, fiber, sugar, processed signal.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9224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Find 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Top 1–3 likely gaps vs. a WHO / DGE baseline,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932688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Next Cart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Exactly ONE product to add, swap or drop next trip — with a plain-language “why this fits you.”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1D1D21"/>
                </a:solidFill>
                <a:latin typeface="Arial"/>
              </a:rPr>
              <a:t>Every output is labeled </a:t>
            </a:r>
            <a:r>
              <a:rPr sz="1350" b="1" i="1">
                <a:solidFill>
                  <a:srgbClr val="5F7B4F"/>
                </a:solidFill>
                <a:latin typeface="Arial"/>
              </a:rPr>
              <a:t>“estimated from your shopping, not actual intake.”</a:t>
            </a:r>
            <a:r>
              <a:rPr sz="1350" b="0" i="1">
                <a:solidFill>
                  <a:srgbClr val="1D1D21"/>
                </a:solidFill>
                <a:latin typeface="Arial"/>
              </a:rPr>
              <a:t>  Not a tracker. Not medical advice.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SUCCESS CRITERIA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How we'll know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E6F74"/>
                </a:solidFill>
                <a:latin typeface="Arial"/>
              </a:rPr>
              <a:t>Core hypothesis: do people </a:t>
            </a:r>
            <a:r>
              <a:rPr sz="1400" b="1" i="0">
                <a:solidFill>
                  <a:srgbClr val="1D1D21"/>
                </a:solidFill>
                <a:latin typeface="Arial"/>
              </a:rPr>
              <a:t>trust a receipt-inferred recommendation enough to act on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30%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Behaviour shift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adjust their next cart to our suggestion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9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&gt;20%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Recommendation acted 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marked “done”, not dismissed unread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368296"/>
            <a:ext cx="73152" cy="157276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&lt;2 min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Time to value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from upload to first personalised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2 of 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Would re-upload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strongest trust signal — return unprompted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Measured behaviourally, not by vanity metrics.  </a:t>
            </a:r>
            <a:r>
              <a:rPr sz="1350" b="0" i="0">
                <a:solidFill>
                  <a:srgbClr val="1D1D21"/>
                </a:solidFill>
                <a:latin typeface="Arial"/>
              </a:rPr>
              <a:t>Full plan tracks 10 KPIs across behaviour, business and satisfaction — sequenced so the core loop (upload rate → time-to-insight → W1–W4 retention) is proven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ROADMAP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044952"/>
            <a:ext cx="10241280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46604" y="2935224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1017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Weeks 1–2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On-device OCR → pantry → gaps →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Daily check-off log + expiry-aware pantry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Recipes, easy swaps, progress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93792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Nutri-Coach + transparent empty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967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7842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GDPR export/erasure · engagement banner · DE/EN</a:t>
            </a:r>
          </a:p>
        </p:txBody>
      </p:sp>
      <p:sp>
        <p:nvSpPr>
          <p:cNvPr id="21" name="Oval 20"/>
          <p:cNvSpPr/>
          <p:nvPr/>
        </p:nvSpPr>
        <p:spPr>
          <a:xfrm>
            <a:off x="6085332" y="2935224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9745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Now — Week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Sharper matching (learned Tier-0 + normalization)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A/B test: when to ask “what did you eat?”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Live user testing (5 users)</a:t>
            </a:r>
          </a:p>
        </p:txBody>
      </p:sp>
      <p:sp>
        <p:nvSpPr>
          <p:cNvPr id="32" name="Oval 31"/>
          <p:cNvSpPr/>
          <p:nvPr/>
        </p:nvSpPr>
        <p:spPr>
          <a:xfrm>
            <a:off x="9624059" y="2935224"/>
            <a:ext cx="274320" cy="274320"/>
          </a:xfrm>
          <a:prstGeom prst="ellipse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3296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3296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8473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Post-midterm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3296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6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Advanced matching model (embeddings) past 70 %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Instrument the 10-KPI 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Weekly / monthly trends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LIVE DEMO — THE CURRENT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See it run, end-to-end, on a real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37943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Chat onboarding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conversational profile — goal, needs, exclusions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" y="2331720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237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05456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Upload receipts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on-device OCR — private, no quota,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" y="2999232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91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72968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Your Pantry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what's in the house, expiry-aware — the home screen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" y="3666744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877056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40480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Daily log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one tap to check off what you actually 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" y="4334256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44568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Insights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weekly gaps + “use what you have” + Next Cart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" y="5001768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212079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175503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Nutri-Coach + erase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plain-language why · GDPR erase anytime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783080"/>
            <a:ext cx="47548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629400" y="1783080"/>
            <a:ext cx="4754880" cy="603504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1819656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NutriWise  ·  Your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542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E6F74"/>
                </a:solidFill>
                <a:latin typeface="Arial"/>
              </a:rPr>
              <a:t>Estimates from your groceries + daily log — not medical advice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9718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1089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F7B4F"/>
                </a:solidFill>
                <a:latin typeface="Arial"/>
              </a:rPr>
              <a:t>YOUR NEXT CART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42900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+ Red lentils (dried)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Closes your fiber &amp; plant-protein gap — and it's peanut-free.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Fiber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36A4A"/>
                </a:solidFill>
                <a:latin typeface="Arial"/>
              </a:rPr>
              <a:t>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Protein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Sugar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532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E6F74"/>
                </a:solidFill>
                <a:latin typeface="Arial"/>
              </a:rPr>
              <a:t>illustrative — shown live in the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EVALUATION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D1D21"/>
                </a:solidFill>
                <a:latin typeface="Arial"/>
              </a:rPr>
              <a:t>The hard part: turning cryptic receipt text into a real food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6692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B36A4A"/>
                </a:solidFill>
                <a:latin typeface="Arial"/>
              </a:rPr>
              <a:t>“AB Bud 6x0,3l MW”</a:t>
            </a:r>
            <a:r>
              <a:rPr sz="1700" b="1" i="0">
                <a:solidFill>
                  <a:srgbClr val="1D1D21"/>
                </a:solidFill>
                <a:latin typeface="Arial"/>
              </a:rPr>
              <a:t>   →   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Every receipt line must become a real food with real nutrients. There is </a:t>
            </a:r>
            <a:r>
              <a:rPr sz="1450" b="1" i="0">
                <a:solidFill>
                  <a:srgbClr val="1D1D21"/>
                </a:solidFill>
                <a:latin typeface="Arial"/>
              </a:rPr>
              <a:t>no ground-truth label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for “what food is this, really?”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This is a rule-based / LLM-hybrid, </a:t>
            </a:r>
            <a:r>
              <a:rPr sz="1450" b="1" i="0">
                <a:solidFill>
                  <a:srgbClr val="5F7B4F"/>
                </a:solidFill>
                <a:latin typeface="Arial"/>
              </a:rPr>
              <a:t>not a trained ML model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— so we built our own evaluation: an </a:t>
            </a:r>
            <a:r>
              <a:rPr sz="1450" b="1" i="0">
                <a:solidFill>
                  <a:srgbClr val="5F7B4F"/>
                </a:solidFill>
                <a:latin typeface="Arial"/>
              </a:rPr>
              <a:t>LLM-judge panel.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3 independent judges rate every match — </a:t>
            </a:r>
            <a:r>
              <a:rPr sz="1450" b="1" i="0">
                <a:solidFill>
                  <a:srgbClr val="1D1D21"/>
                </a:solidFill>
                <a:latin typeface="Arial"/>
              </a:rPr>
              <a:t>correct / partial / wrong / no-match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— majority verdict 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83080"/>
            <a:ext cx="4526280" cy="352044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9842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WHAT WE MEASURE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395728"/>
            <a:ext cx="3977639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2523744"/>
            <a:ext cx="73152" cy="95097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523744"/>
            <a:ext cx="3593591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Precision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Match quality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% judged correct — or usable (correct + partial)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749039"/>
            <a:ext cx="3977639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3877055"/>
            <a:ext cx="73152" cy="950976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877055"/>
            <a:ext cx="3593591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Agreement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Judge reliability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% of items where all 3 judges agree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DATA — SOURCES, SHAPE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Three data worlds, stitched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11095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Grocery receipts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Real German receipts (Lidl / Netto / Edeka) → on-device OCR (Tesseract) → items. Private: no receipt data leaves the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911095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Open Food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Crowd-sourced branded-product API + local cache. First-line identity match; sparse per field.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0416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0416" y="1911095"/>
            <a:ext cx="73152" cy="148132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BLS 4.0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German federal food-composition DB. ~7,140 rows × 418 cols — 7 macros + 11 micros extracted.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5074920" cy="155448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862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EVALUATION SET (shape)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7024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5F7B4F"/>
                </a:solidFill>
                <a:latin typeface="Arial"/>
              </a:rPr>
              <a:t>76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unique items   ·   </a:t>
            </a:r>
            <a:r>
              <a:rPr sz="2000" b="1" i="0">
                <a:solidFill>
                  <a:srgbClr val="5F7B4F"/>
                </a:solidFill>
                <a:latin typeface="Arial"/>
              </a:rPr>
              <a:t>227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line-item occurrences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E6F74"/>
                </a:solidFill>
                <a:latin typeface="Arial"/>
              </a:rPr>
              <a:t>13 columns: raw &amp; normalized name, category, occurrences,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E6F74"/>
                </a:solidFill>
                <a:latin typeface="Arial"/>
              </a:rPr>
              <a:t>off/bls matched-name · verdict · agreement · n_judges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49039"/>
            <a:ext cx="523951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886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6A4A"/>
                </a:solidFill>
                <a:latin typeface="Arial"/>
              </a:rPr>
              <a:t>HONEST DATA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24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Cryptic OCR / branded-vs-generic (“Budweiser” → “Pilsner Bier”)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628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OFF sugar = total, not free sugar; BLS has no NOVA 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0118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Thin per-nutrient coverage → track few nutrients well, not many poorly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What real baskets actually look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578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38528"/>
            <a:ext cx="5591387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783080"/>
            <a:ext cx="5102352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a_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38528"/>
            <a:ext cx="5591387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Takeaway: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baskets are produce- and dairy-heavy, but the long tail is brutal — half the items appear only once, so the matcher must generalise, not memorise.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ML WORKFLOW /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A tiered resolver — cheap &amp; certain first, fallback last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Receipt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image /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256" y="20574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9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on-device OCR →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5" y="20574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strip qty · price · non-food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05740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63240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Tier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06324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Learned verified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063240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human-confirmed · conf 1.0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21608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3721608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21608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Tier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721608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OpenFoodFacts + fuzzy 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21608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→ BLS bridge for DE nutrients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379976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379976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79976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Tier 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379976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BLS whole-food (raw produce)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379976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guarded by food-type agreement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038344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5038344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CF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38344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Tier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038344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Category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038344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low confidence · flagged “unknown”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063240"/>
            <a:ext cx="2542032" cy="2542032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246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Nutrients (macros + micros)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1422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Confidence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6268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Data-source citation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11149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→ Gaps + Next Cart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Rule-based on purpose — no fitted model — so the logic stays transparent and trustworthy for the MVP.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BASELINE MODEL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Two matching strategies, judged head-to-head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9037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6629400" cy="23938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737360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865376"/>
            <a:ext cx="73152" cy="74980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65376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66%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OFF usable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correct + partial — our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852928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980944"/>
            <a:ext cx="73152" cy="74980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980944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2×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OFF beats BLS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54% vs 32% correct on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968496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4096511"/>
            <a:ext cx="73152" cy="74980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1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96%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Judge agreement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3/3 unanimous — metric is reliable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38928"/>
            <a:ext cx="10543032" cy="82296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3036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Why the architecture: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OFF wins on identity, so it leads. BLS matches worse (~⅓ wrong-food), so its nutrients are only borrowed under a guard — never used as the primary matcher. 66% usable is just below our 70% bar.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NEXT WEEK &amp; BEYOND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From baseline to trustworthy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2578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874519"/>
            <a:ext cx="5257800" cy="65836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Sharper matching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862071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3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Semantic-embedding re-ranker to push usable matches past 70%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703320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7588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63016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Learned Tier-0 store keeps improving from every correction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544568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5171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71416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Personalized portion &amp; consumption estimation (ML)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874519"/>
            <a:ext cx="52578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199632" y="1874519"/>
            <a:ext cx="5257800" cy="65836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947672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Validate &amp; grow</a:t>
            </a:r>
          </a:p>
        </p:txBody>
      </p:sp>
      <p:sp>
        <p:nvSpPr>
          <p:cNvPr id="20" name="Oval 19"/>
          <p:cNvSpPr/>
          <p:nvPr/>
        </p:nvSpPr>
        <p:spPr>
          <a:xfrm>
            <a:off x="6519672" y="2862071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83463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78892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Live user testing — does the check-off habit stick?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3703320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67588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63016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A/B test: the best moment to ask “what did you eat?”</a:t>
            </a:r>
          </a:p>
        </p:txBody>
      </p:sp>
      <p:sp>
        <p:nvSpPr>
          <p:cNvPr id="26" name="Oval 25"/>
          <p:cNvSpPr/>
          <p:nvPr/>
        </p:nvSpPr>
        <p:spPr>
          <a:xfrm>
            <a:off x="6519672" y="4544568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5171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4471416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Instrument the 10-KPI funnel (upload → insight → retention)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Midterm v0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9552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1D1D21"/>
                </a:solidFill>
                <a:latin typeface="Arial"/>
              </a:rPr>
              <a:t>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38328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5F7B4F"/>
                </a:solidFill>
                <a:latin typeface="Arial"/>
              </a:rPr>
              <a:t>Upload a grocery receipt. Get one smarter thing to buy next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500" b="0" i="0">
                <a:solidFill>
                  <a:srgbClr val="6E6F74"/>
                </a:solidFill>
                <a:latin typeface="Arial"/>
              </a:rPr>
              <a:t>   &amp;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NutriWise  ·  AI PM Capstone  ·  Midterm v0  — 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