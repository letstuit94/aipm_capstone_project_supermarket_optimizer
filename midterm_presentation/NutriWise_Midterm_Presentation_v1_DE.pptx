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[Beide — Sprecher 1 beginnt]</a:t>
            </a:r>
          </a:p>
          <a:p>
            <a:r>
              <a:t>Sprecher 1 (Stuart) eröffnet mit dem Einzeiler und stellt beide vor. Erwartung setzen: ~10–12 Min., high-level, plus kurze Live-Demo. Das ist V1 unserer finalen Präsentation. Sprecher 2 (Jennifer) übernimmt nach der Demo den Daten-/Modell-Teil.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[Sprecher 1]</a:t>
            </a:r>
          </a:p>
          <a:p>
            <a:r>
              <a:t>Den Schmerz rahmen: Menschen wollen besser essen, aber manuelles Loggen (à la MyFitnessPal) ist anstrengend und wird abgebrochen. Zielgruppe = gesundheitsbewusst, 25–45. Kern-Insight: der Bon ist ein passiver, ehrlicher Proxy für das tatsächlich Gekaufte — kein Loggen nötig. Das ist unser Wedge.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[Sprecher 1]</a:t>
            </a:r>
          </a:p>
          <a:p>
            <a:r>
              <a:t>Den echten Loop zeigen: Upload baut den Vorrat → du tappst, was du gegessen hast → Wochen-Lücken → zwei Empfehlungen („nutze, was du hast“ + ein Next-Cart-Kauf). Die Produktwette: ein lebendiger Vorrat plus eine klare Entscheidung schlägt ein Ernährungstagebuch. Trust-Framing: Schätzung aus Einkauf + deinen Taps, keine medizinische Beratung.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[Sprecher 1 oder 2]</a:t>
            </a:r>
          </a:p>
          <a:p>
            <a:r>
              <a:t>Die echte Produktform auf einen Blick: dialogbasiertes Onboarding setzt die Zielwerte; der Vorrat ist der Startbildschirm, zu dem man zurückkehrt (nach Ablauf sortiert); ein Tap im Tages-Log erfasst Gegessenes; Insights macht aus einer Woche Taps Lücken und zwei Empfehlungen. Ein voll klickbarer Prototyp existiert, falls das Publikum es live sehen will.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[Sprecher 1]</a:t>
            </a:r>
          </a:p>
          <a:p>
            <a:r>
              <a:t>Der Make-or-Break-Frühindikator ist die Abhak-Retention — überlebt der tägliche Tap die Neuheit? Wenn nicht, stirbt das gesamte Vorratsmodell, also beweisen wir das zuerst. North-Star: ≥30% ändern ihren nächsten Einkauf ohne manuelles Loggen. Ergänzend: Aktionsrate &gt;20%, Zeit bis Nutzen &lt;2 Min. Dahinter das volle 10-KPI-Framework.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[Sprecher 1]</a:t>
            </a:r>
          </a:p>
          <a:p>
            <a:r>
              <a:t>Drei-Wochen-Sprint. FERTIG: der ganze Kern-Loop läuft end-to-end. IN ARBEIT: besseres Matching + erste 5 User-Tests + 1-Tap-Portion. NÄCHSTES: Genauigkeit über 70%, KPI-Instrumentierung. Und statt es nur zu erzählen — ich zeige euch den aktuellen Stand.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[Sprecher 1 → übergibt an Sprecher 2]</a:t>
            </a:r>
          </a:p>
          <a:p>
            <a:r>
              <a:t>LIVE-DEMO (~2 Min). Zuerst den Positioning-Satz, dann: Onboarding-Chat (Profil) → Bon hochladen (On-Device-OCR — betonen: privat, keine API-Quota, offline) → auf dem Vorrat landen (das Home) → Gegessenes per Tap loggen → Insights: Wochen-Lücken + „nutze, was du hast“ + Next Cart → Nutri-Coach-Formulierung + DSGVO-Löschung. HINWEIS: Bons hängen nicht mehr an Gemini, dort kein Quota-Risiko. Nur der Nutri-Coach nutzt Gemini (nur Formulierung) — bei erschöpftem Tageslimit funktionieren Zahlen &amp; Empfehlung weiter, nur der Text degradiert. Dann Übergabe an Sprecher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[Sprecher 2]</a:t>
            </a:r>
          </a:p>
          <a:p>
            <a:r>
              <a:t>Sprecher 2 (Jennifer) übernimmt. Klar sagen: das ist KEIN klassisches Supervised-ML-Projekt — es ist regelbasiert / LLM-Hybrid. Kernaufgabe: kryptischen Bon-Text wie „AB Bud 6x0,3l MW“ auf ein echtes Lebensmittel matchen. Es gibt keine Ground Truth, also ist unsere Evaluation ein LLM-Judge-Panel: 3 unabhängige Judges, Mehrheitsentscheid. Zwei Zahlen: Precision (korrekt/nutzbar) und Judge-Konsens (vertrauen wir der Metrik selbst). Produktziel: ≥70% der Items nutzbar.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[Sprecher 2]</a:t>
            </a:r>
          </a:p>
          <a:p>
            <a:r>
              <a:t>Drei Datenwelten: (1) echte deutsche Bons → On-Device-OCR (Tesseract) → Items — privat, keine API, keine Quota, (2) Open Food Facts als erste Identitäts-Zuordnung, (3) die deutsche Bundes-BLS-4.0-Tabelle (7.140 Zeilen, wir ziehen 7 Makros + 11 Mikros) für die Nährwerte. Eval-Set: 76 Items aus 227 echten Vorkommen, 13 Spalten. Die Challenges SIND die Story — kryptische OCR, Marke-vs-generisch, OFF-Zucker ist Gesamt- statt freier Zucker, BLS ohne Processing-Rating, dünne Coverage.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[Sprecher 2]</a:t>
            </a:r>
          </a:p>
          <a:p>
            <a:r>
              <a:t>Ehrlich anmerken: diese Plots gab es im Repo nicht — wir haben sie für dieses Deck aus den Evaluationsdaten gebaut. Zwei Befunde: links Käufe stark bei Obst/Gemüse &amp; Milch (die Basics); rechts ein Long-Tail — 50% der Items erscheinen nur einmal. Wir können also nicht auswendig lernen; der Matcher muss auf einmalige, kryptisch abgekürzte Produkte generalisieren. Das prägte die Pipeline.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[Sprecher 2]</a:t>
            </a:r>
          </a:p>
          <a:p>
            <a:r>
              <a:t>Wegen des Long-Tails nutzen wir kein einzelnes Modell — sondern einen gestuften Resolver. Bon → On-Device-OCR (Tesseract, ersetzt Gemini — privat, keine Quota) → Normalisierung. Dann vier Tiers, günstigste/sicherste zuerst: Tier 0 menschlich verifiziert, Tier 1 OFF-Fuzzy-Match mit Bridge zu deutschen BLS-Nährwerten, Tier 1b Rohware, Tier 3 ehrlicher Low-Confidence-Kategorie-Fallback. Jede Ausgabe trägt Nährwerte + Konfidenz + Quelle. Klar sagen: bewusst regelbasiert — Regeln sind transparenter und vertrauenswürdiger als eine Blackbox für ein Gesundheits-MVP. Kein gefittetes Modell im Matching-Pfad; die einzige LLM (Gemini) ist der Nutri-Coach, der nur formuliert.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[Sprecher 2]</a:t>
            </a:r>
          </a:p>
          <a:p>
            <a:r>
              <a:t>Wichtige Klarstellung: das sind zwei UNABHÄNGIGE Matching-Strategien im direkten Vergleich, KEINE kumulative Verbesserung. Vom Panel bewertet: OpenFoodFacts-Identitäts-Match = 54% korrekt / 66% nutzbar; die BLS-Tabelle allein = nur 32% korrekt, 36% falsch. Judge-Konsens 96% einstimmig, also vertrauen wir der Zahl. Genau dieser Vergleich ist der Grund, warum die Architektur OFF für die Identität nutzt und BLS-Nährwerte nur unter Typ-Übereinstimmungs-Guard leiht — eine lose Bridge würde BLS' ~33%-Falschlebensmittel-Problem zurückbringen. 66% nutzbar liegt knapp unter der 70%-Marke — genau diese Lücke schließt der gelernte Tier-0-Store.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[Sprecher 2]</a:t>
            </a:r>
          </a:p>
          <a:p>
            <a:r>
              <a:t>Zwei Tracks nächste Woche. Matching: den Resolver zum lernenden System machen — jede Nutzerkorrektur füttert den Tier-0-Store — plus bessere Normalisierung, um über 70% nutzbar zu kommen. Produkt: Live-User-Tests starten und den KPI-Funnel instrumentieren, damit wir die Trust-Hypothese mit echtem Verhalten validieren, nicht nur mit einer steigenden Genauigkeitszahl.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[Beide]</a:t>
            </a:r>
          </a:p>
          <a:p>
            <a:r>
              <a:t>Mit dem Einzeiler schließen und Fragen einladen. Bei Nachfragen zur Genauigkeit: ehrliche Baseline (OFF 66% nutzbar), klarer Plan (gelernter Tier-0) zum Schließen der Lücke — und die schwierigere Validierungsfrage ist Vertrauen/Verhalten, die als Nächstes die Live-User-Tests beantworten.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7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138160" y="128016"/>
            <a:ext cx="4053535" cy="6729984"/>
          </a:xfrm>
          <a:prstGeom prst="rect">
            <a:avLst/>
          </a:prstGeom>
          <a:solidFill>
            <a:srgbClr val="EE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777240"/>
            <a:ext cx="310896" cy="310896"/>
          </a:xfrm>
          <a:prstGeom prst="roundRect">
            <a:avLst>
              <a:gd name="adj" fmla="val 30000"/>
            </a:avLst>
          </a:prstGeom>
          <a:solidFill>
            <a:srgbClr val="7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43584" y="749808"/>
            <a:ext cx="36576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D1D21"/>
                </a:solidFill>
                <a:latin typeface="Arial"/>
              </a:rPr>
              <a:t>NUTRIWISE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73152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3800" b="1" i="0">
                <a:solidFill>
                  <a:srgbClr val="1D1D21"/>
                </a:solidFill>
                <a:latin typeface="Arial"/>
              </a:rPr>
              <a:t>Lade deinen Kassenbon hoch.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3800" b="1" i="0">
                <a:solidFill>
                  <a:srgbClr val="5F7B4F"/>
                </a:solidFill>
                <a:latin typeface="Arial"/>
              </a:rPr>
              <a:t>Bekomm eine klügere Sache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3800" b="1" i="0">
                <a:solidFill>
                  <a:srgbClr val="5F7B4F"/>
                </a:solidFill>
                <a:latin typeface="Arial"/>
              </a:rPr>
              <a:t>für den nächsten Einkauf.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4160520"/>
            <a:ext cx="3108960" cy="41148"/>
          </a:xfrm>
          <a:prstGeom prst="rect">
            <a:avLst/>
          </a:prstGeom>
          <a:solidFill>
            <a:srgbClr val="7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4389120"/>
            <a:ext cx="6949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1">
                <a:solidFill>
                  <a:srgbClr val="6E6F74"/>
                </a:solidFill>
                <a:latin typeface="Arial"/>
              </a:rPr>
              <a:t>Ein Kassenbon-basierter Ernährungsassistent — dein Vorrat arbeitet für dich: abhaken statt tippen.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257800"/>
            <a:ext cx="71323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1D1D21"/>
                </a:solidFill>
                <a:latin typeface="Arial"/>
              </a:rPr>
              <a:t>Jennifer Rake</a:t>
            </a:r>
            <a:r>
              <a:rPr sz="1300" b="1" i="0">
                <a:solidFill>
                  <a:srgbClr val="5F7B4F"/>
                </a:solidFill>
                <a:latin typeface="Arial"/>
              </a:rPr>
              <a:t>  · Sprecher 2      </a:t>
            </a:r>
            <a:r>
              <a:rPr sz="1500" b="1" i="0">
                <a:solidFill>
                  <a:srgbClr val="1D1D21"/>
                </a:solidFill>
                <a:latin typeface="Arial"/>
              </a:rPr>
              <a:t>Stuart Kasemeier</a:t>
            </a:r>
            <a:r>
              <a:rPr sz="1300" b="1" i="0">
                <a:solidFill>
                  <a:srgbClr val="6E6F74"/>
                </a:solidFill>
                <a:latin typeface="Arial"/>
              </a:rPr>
              <a:t>  · Sprecher 1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0" i="0">
                <a:solidFill>
                  <a:srgbClr val="6E6F74"/>
                </a:solidFill>
                <a:latin typeface="Arial"/>
              </a:rPr>
              <a:t>AI Product Management Capstone  ·  Midterm-Präsentation  ·  Version 1</a:t>
            </a:r>
          </a:p>
        </p:txBody>
      </p:sp>
      <p:sp>
        <p:nvSpPr>
          <p:cNvPr id="10" name="Oval 9"/>
          <p:cNvSpPr/>
          <p:nvPr/>
        </p:nvSpPr>
        <p:spPr>
          <a:xfrm>
            <a:off x="8686800" y="2148840"/>
            <a:ext cx="237744" cy="237744"/>
          </a:xfrm>
          <a:prstGeom prst="ellipse">
            <a:avLst/>
          </a:prstGeom>
          <a:solidFill>
            <a:srgbClr val="7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98280" y="2093976"/>
            <a:ext cx="2651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D1D21"/>
                </a:solidFill>
                <a:latin typeface="Arial"/>
              </a:rPr>
              <a:t>Onboarding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796528" y="2423160"/>
            <a:ext cx="18288" cy="548640"/>
          </a:xfrm>
          <a:prstGeom prst="rect">
            <a:avLst/>
          </a:prstGeom>
          <a:solidFill>
            <a:srgbClr val="B7C9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686800" y="2990088"/>
            <a:ext cx="237744" cy="237744"/>
          </a:xfrm>
          <a:prstGeom prst="ellipse">
            <a:avLst/>
          </a:prstGeom>
          <a:solidFill>
            <a:srgbClr val="7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98280" y="2935224"/>
            <a:ext cx="2651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D1D21"/>
                </a:solidFill>
                <a:latin typeface="Arial"/>
              </a:rPr>
              <a:t>Vorrat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796528" y="3264408"/>
            <a:ext cx="18288" cy="548640"/>
          </a:xfrm>
          <a:prstGeom prst="rect">
            <a:avLst/>
          </a:prstGeom>
          <a:solidFill>
            <a:srgbClr val="B7C9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686800" y="3831336"/>
            <a:ext cx="237744" cy="237744"/>
          </a:xfrm>
          <a:prstGeom prst="ellipse">
            <a:avLst/>
          </a:prstGeom>
          <a:solidFill>
            <a:srgbClr val="7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98280" y="3776472"/>
            <a:ext cx="2651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D1D21"/>
                </a:solidFill>
                <a:latin typeface="Arial"/>
              </a:rPr>
              <a:t>Abhaken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796528" y="4105656"/>
            <a:ext cx="18288" cy="548640"/>
          </a:xfrm>
          <a:prstGeom prst="rect">
            <a:avLst/>
          </a:prstGeom>
          <a:solidFill>
            <a:srgbClr val="B7C9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686800" y="4672584"/>
            <a:ext cx="237744" cy="237744"/>
          </a:xfrm>
          <a:prstGeom prst="ellipse">
            <a:avLst/>
          </a:prstGeom>
          <a:solidFill>
            <a:srgbClr val="7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98280" y="4617720"/>
            <a:ext cx="2651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D1D21"/>
                </a:solidFill>
                <a:latin typeface="Arial"/>
              </a:rPr>
              <a:t>Insights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5F7B4F"/>
                </a:solidFill>
                <a:latin typeface="Arial"/>
              </a:rPr>
              <a:t>DAS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41248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900" b="1" i="0">
                <a:solidFill>
                  <a:srgbClr val="1D1D21"/>
                </a:solidFill>
                <a:latin typeface="Arial"/>
              </a:rPr>
              <a:t>Gesund essen sollte keine Tabelle erfordern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481328"/>
            <a:ext cx="1371600" cy="41148"/>
          </a:xfrm>
          <a:prstGeom prst="rect">
            <a:avLst/>
          </a:prstGeom>
          <a:solidFill>
            <a:srgbClr val="7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557784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0" i="0">
                <a:solidFill>
                  <a:srgbClr val="1D1D21"/>
                </a:solidFill>
                <a:latin typeface="Arial"/>
              </a:rPr>
              <a:t>Gesundheitsbewusste Erwachsene (25–45) wollen besser essen — aber jedes Tool verlangt, </a:t>
            </a:r>
            <a:r>
              <a:rPr sz="1550" b="1" i="0">
                <a:solidFill>
                  <a:srgbClr val="1D1D21"/>
                </a:solidFill>
                <a:latin typeface="Arial"/>
              </a:rPr>
              <a:t>jede Mahlzeit von Hand zu erfassen.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700" b="0" i="0">
                <a:solidFill>
                  <a:srgbClr val="1D1D21"/>
                </a:solidFill>
                <a:latin typeface="Arial"/>
              </a:rPr>
              <a:t/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0" i="0">
                <a:solidFill>
                  <a:srgbClr val="1D1D21"/>
                </a:solidFill>
                <a:latin typeface="Arial"/>
              </a:rPr>
              <a:t>Diese Gewohnheit stirbt in Wochen. Man gibt auf — oder rät.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700" b="0" i="0">
                <a:solidFill>
                  <a:srgbClr val="1D1D21"/>
                </a:solidFill>
                <a:latin typeface="Arial"/>
              </a:rPr>
              <a:t/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0" i="0">
                <a:solidFill>
                  <a:srgbClr val="1D1D21"/>
                </a:solidFill>
                <a:latin typeface="Arial"/>
              </a:rPr>
              <a:t>Dabei existiert der eine ehrliche Beleg dessen, was wirklich gegessen wird, längst — </a:t>
            </a:r>
            <a:r>
              <a:rPr sz="1550" b="1" i="0">
                <a:solidFill>
                  <a:srgbClr val="5F7B4F"/>
                </a:solidFill>
                <a:latin typeface="Arial"/>
              </a:rPr>
              <a:t>der Kassenbon.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66560" y="1783080"/>
            <a:ext cx="4617720" cy="3520440"/>
          </a:xfrm>
          <a:prstGeom prst="roundRect">
            <a:avLst>
              <a:gd name="adj" fmla="val 5000"/>
            </a:avLst>
          </a:prstGeom>
          <a:solidFill>
            <a:srgbClr val="EE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86600" y="2011680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5F7B4F"/>
                </a:solidFill>
                <a:latin typeface="Arial"/>
              </a:rPr>
              <a:t>WARUM ES ZÄHLT</a:t>
            </a:r>
          </a:p>
        </p:txBody>
      </p:sp>
      <p:sp>
        <p:nvSpPr>
          <p:cNvPr id="8" name="Oval 7"/>
          <p:cNvSpPr/>
          <p:nvPr/>
        </p:nvSpPr>
        <p:spPr>
          <a:xfrm>
            <a:off x="7086600" y="2478024"/>
            <a:ext cx="310896" cy="310896"/>
          </a:xfrm>
          <a:prstGeom prst="ellipse">
            <a:avLst/>
          </a:prstGeom>
          <a:solidFill>
            <a:srgbClr val="7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86600" y="2441448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43800" y="2404872"/>
            <a:ext cx="3566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1D1D21"/>
                </a:solidFill>
                <a:latin typeface="Arial"/>
              </a:rPr>
              <a:t>Manuelles Erfassen ist Grund #1, warum Ernährungs-Apps abgebrochen werden</a:t>
            </a:r>
          </a:p>
        </p:txBody>
      </p:sp>
      <p:sp>
        <p:nvSpPr>
          <p:cNvPr id="11" name="Oval 10"/>
          <p:cNvSpPr/>
          <p:nvPr/>
        </p:nvSpPr>
        <p:spPr>
          <a:xfrm>
            <a:off x="7086600" y="3392424"/>
            <a:ext cx="310896" cy="310896"/>
          </a:xfrm>
          <a:prstGeom prst="ellipse">
            <a:avLst/>
          </a:prstGeom>
          <a:solidFill>
            <a:srgbClr val="7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86600" y="3355848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43800" y="3319272"/>
            <a:ext cx="3566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1D1D21"/>
                </a:solidFill>
                <a:latin typeface="Arial"/>
              </a:rPr>
              <a:t>Kassenbons sind passiv — null Zusatzaufwand für den User</a:t>
            </a:r>
          </a:p>
        </p:txBody>
      </p:sp>
      <p:sp>
        <p:nvSpPr>
          <p:cNvPr id="14" name="Oval 13"/>
          <p:cNvSpPr/>
          <p:nvPr/>
        </p:nvSpPr>
        <p:spPr>
          <a:xfrm>
            <a:off x="7086600" y="4306824"/>
            <a:ext cx="310896" cy="310896"/>
          </a:xfrm>
          <a:prstGeom prst="ellipse">
            <a:avLst/>
          </a:prstGeom>
          <a:solidFill>
            <a:srgbClr val="7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86600" y="4270248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43800" y="4233672"/>
            <a:ext cx="3566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1D1D21"/>
                </a:solidFill>
                <a:latin typeface="Arial"/>
              </a:rPr>
              <a:t>Eine klare „nächster Einkauf“-Entscheidung schlägt ein weiteres Dashboard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2823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E6F74"/>
                </a:solidFill>
                <a:latin typeface="Arial"/>
              </a:rPr>
              <a:t>NutriWise</a:t>
            </a:r>
            <a:r>
              <a:rPr sz="900" b="0" i="0">
                <a:solidFill>
                  <a:srgbClr val="6E6F74"/>
                </a:solidFill>
                <a:latin typeface="Arial"/>
              </a:rPr>
              <a:t>  ·  V1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75520" y="6428232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E6F74"/>
                </a:solidFill>
                <a:latin typeface="Arial"/>
              </a:rPr>
              <a:t>02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5F7B4F"/>
                </a:solidFill>
                <a:latin typeface="Arial"/>
              </a:rPr>
              <a:t>DIE LÖSUNG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41248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900" b="1" i="0">
                <a:solidFill>
                  <a:srgbClr val="1D1D21"/>
                </a:solidFill>
                <a:latin typeface="Arial"/>
              </a:rPr>
              <a:t>Ein Bon rein → ein Vorrat, der für dich arbeitet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481328"/>
            <a:ext cx="1371600" cy="41148"/>
          </a:xfrm>
          <a:prstGeom prst="rect">
            <a:avLst/>
          </a:prstGeom>
          <a:solidFill>
            <a:srgbClr val="7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920240"/>
            <a:ext cx="2615184" cy="2971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4E0"/>
            </a:solidFill>
          </a:ln>
          <a:effectLst/>
          <a:effectLst>
            <a:outerShdw blurRad="80000" dist="30000" dir="5400000" rotWithShape="0">
              <a:srgbClr val="1D1D21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 Same Side Corner Rectangle 5"/>
          <p:cNvSpPr/>
          <p:nvPr/>
        </p:nvSpPr>
        <p:spPr>
          <a:xfrm>
            <a:off x="822960" y="1920240"/>
            <a:ext cx="2615184" cy="658368"/>
          </a:xfrm>
          <a:prstGeom prst="round2SameRect">
            <a:avLst>
              <a:gd name="adj1" fmla="val 8000"/>
              <a:gd name="adj2" fmla="val 0"/>
            </a:avLst>
          </a:prstGeom>
          <a:solidFill>
            <a:srgbClr val="7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93392"/>
            <a:ext cx="2615184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SCHRITT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761488"/>
            <a:ext cx="21579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D1D21"/>
                </a:solidFill>
                <a:latin typeface="Arial"/>
              </a:rPr>
              <a:t>Upload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310128"/>
            <a:ext cx="2157984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6E6F74"/>
                </a:solidFill>
                <a:latin typeface="Arial"/>
              </a:rPr>
              <a:t>Bon fotografieren/einfügen — On-Device-OCR baut deinen Vorrat. Privat, keine API, offline.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19856" y="3017520"/>
            <a:ext cx="3108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7C9A6A"/>
                </a:solidFill>
                <a:latin typeface="Arial"/>
              </a:rPr>
              <a:t>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599" y="1920240"/>
            <a:ext cx="2615184" cy="2971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4E0"/>
            </a:solidFill>
          </a:ln>
          <a:effectLst/>
          <a:effectLst>
            <a:outerShdw blurRad="80000" dist="30000" dir="5400000" rotWithShape="0">
              <a:srgbClr val="1D1D21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 Same Side Corner Rectangle 11"/>
          <p:cNvSpPr/>
          <p:nvPr/>
        </p:nvSpPr>
        <p:spPr>
          <a:xfrm>
            <a:off x="3657599" y="1920240"/>
            <a:ext cx="2615184" cy="658368"/>
          </a:xfrm>
          <a:prstGeom prst="round2SameRect">
            <a:avLst>
              <a:gd name="adj1" fmla="val 8000"/>
              <a:gd name="adj2" fmla="val 0"/>
            </a:avLst>
          </a:prstGeom>
          <a:solidFill>
            <a:srgbClr val="7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599" y="1993392"/>
            <a:ext cx="2615184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SCHRITT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86200" y="2761488"/>
            <a:ext cx="21579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D1D21"/>
                </a:solidFill>
                <a:latin typeface="Arial"/>
              </a:rPr>
              <a:t>Dein Vorrat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86200" y="3310128"/>
            <a:ext cx="2157984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6E6F74"/>
                </a:solidFill>
                <a:latin typeface="Arial"/>
              </a:rPr>
              <a:t>Was im Haus ist, nach Frische sortiert — kein manuelles Erfassen.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54496" y="3017520"/>
            <a:ext cx="3108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7C9A6A"/>
                </a:solidFill>
                <a:latin typeface="Arial"/>
              </a:rPr>
              <a:t>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92240" y="1920240"/>
            <a:ext cx="2615184" cy="2971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4E0"/>
            </a:solidFill>
          </a:ln>
          <a:effectLst/>
          <a:effectLst>
            <a:outerShdw blurRad="80000" dist="30000" dir="5400000" rotWithShape="0">
              <a:srgbClr val="1D1D21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 Same Side Corner Rectangle 17"/>
          <p:cNvSpPr/>
          <p:nvPr/>
        </p:nvSpPr>
        <p:spPr>
          <a:xfrm>
            <a:off x="6492240" y="1920240"/>
            <a:ext cx="2615184" cy="658368"/>
          </a:xfrm>
          <a:prstGeom prst="round2SameRect">
            <a:avLst>
              <a:gd name="adj1" fmla="val 8000"/>
              <a:gd name="adj2" fmla="val 0"/>
            </a:avLst>
          </a:prstGeom>
          <a:solidFill>
            <a:srgbClr val="7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1993392"/>
            <a:ext cx="2615184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SCHRITT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0840" y="2761488"/>
            <a:ext cx="21579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D1D21"/>
                </a:solidFill>
                <a:latin typeface="Arial"/>
              </a:rPr>
              <a:t>Abhaken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20840" y="3310128"/>
            <a:ext cx="2157984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6E6F74"/>
                </a:solidFill>
                <a:latin typeface="Arial"/>
              </a:rPr>
              <a:t>Ein Tap erfasst, was du wirklich gegessen hast — dein echtes Ist-Signal.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89136" y="3017520"/>
            <a:ext cx="3108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7C9A6A"/>
                </a:solidFill>
                <a:latin typeface="Arial"/>
              </a:rPr>
              <a:t>›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326880" y="1920240"/>
            <a:ext cx="2615184" cy="2971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4E0"/>
            </a:solidFill>
          </a:ln>
          <a:effectLst/>
          <a:effectLst>
            <a:outerShdw blurRad="80000" dist="30000" dir="5400000" rotWithShape="0">
              <a:srgbClr val="1D1D21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 Same Side Corner Rectangle 23"/>
          <p:cNvSpPr/>
          <p:nvPr/>
        </p:nvSpPr>
        <p:spPr>
          <a:xfrm>
            <a:off x="9326880" y="1920240"/>
            <a:ext cx="2615184" cy="658368"/>
          </a:xfrm>
          <a:prstGeom prst="round2SameRect">
            <a:avLst>
              <a:gd name="adj1" fmla="val 8000"/>
              <a:gd name="adj2" fmla="val 0"/>
            </a:avLst>
          </a:prstGeom>
          <a:solidFill>
            <a:srgbClr val="5F7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26880" y="1993392"/>
            <a:ext cx="2615184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SCHRITT 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55480" y="2761488"/>
            <a:ext cx="21579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D1D21"/>
                </a:solidFill>
                <a:latin typeface="Arial"/>
              </a:rPr>
              <a:t>Lücken + Tipp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55480" y="3310128"/>
            <a:ext cx="2157984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6E6F74"/>
                </a:solidFill>
                <a:latin typeface="Arial"/>
              </a:rPr>
              <a:t>Wochen-Lücken → „nutze, was du hast“ + ein Next-Cart-Kauf, je mit klarer Begründung.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516636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1">
                <a:solidFill>
                  <a:srgbClr val="1D1D21"/>
                </a:solidFill>
                <a:latin typeface="Arial"/>
              </a:rPr>
              <a:t>Alles ist gekennzeichnet als </a:t>
            </a:r>
            <a:r>
              <a:rPr sz="1350" b="1" i="1">
                <a:solidFill>
                  <a:srgbClr val="5F7B4F"/>
                </a:solidFill>
                <a:latin typeface="Arial"/>
              </a:rPr>
              <a:t>„Schätzung aus Einkauf + deinen Taps.“</a:t>
            </a:r>
            <a:r>
              <a:rPr sz="1350" b="0" i="1">
                <a:solidFill>
                  <a:srgbClr val="1D1D21"/>
                </a:solidFill>
                <a:latin typeface="Arial"/>
              </a:rPr>
              <a:t>  Keine medizinische Beratung.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42823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E6F74"/>
                </a:solidFill>
                <a:latin typeface="Arial"/>
              </a:rPr>
              <a:t>NutriWise</a:t>
            </a:r>
            <a:r>
              <a:rPr sz="900" b="0" i="0">
                <a:solidFill>
                  <a:srgbClr val="6E6F74"/>
                </a:solidFill>
                <a:latin typeface="Arial"/>
              </a:rPr>
              <a:t>  ·  V1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75520" y="6428232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E6F74"/>
                </a:solidFill>
                <a:latin typeface="Arial"/>
              </a:rPr>
              <a:t>03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5F7B4F"/>
                </a:solidFill>
                <a:latin typeface="Arial"/>
              </a:rPr>
              <a:t>DAS PRODUKT HEUTE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41248"/>
            <a:ext cx="106984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1D1D21"/>
                </a:solidFill>
                <a:latin typeface="Arial"/>
              </a:rPr>
              <a:t>Vom Bon zur täglichen Gewohnheit — die User-Journey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481328"/>
            <a:ext cx="1371600" cy="41148"/>
          </a:xfrm>
          <a:prstGeom prst="rect">
            <a:avLst/>
          </a:prstGeom>
          <a:solidFill>
            <a:srgbClr val="7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18688" y="3246120"/>
            <a:ext cx="365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7C9A6A"/>
                </a:solidFill>
                <a:latin typeface="Arial"/>
              </a:rPr>
              <a:t>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34455" y="3246120"/>
            <a:ext cx="365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7C9A6A"/>
                </a:solidFill>
                <a:latin typeface="Arial"/>
              </a:rPr>
              <a:t>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50224" y="3246120"/>
            <a:ext cx="365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7C9A6A"/>
                </a:solidFill>
                <a:latin typeface="Arial"/>
              </a:rPr>
              <a:t>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5230368"/>
            <a:ext cx="2331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1" i="0">
                <a:solidFill>
                  <a:srgbClr val="1D1D21"/>
                </a:solidFill>
                <a:latin typeface="Arial"/>
              </a:rPr>
              <a:t>1 · Onboarding-Chat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6E6F74"/>
                </a:solidFill>
                <a:latin typeface="Arial"/>
              </a:rPr>
              <a:t>dialogbasiertes Profil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84448" y="5230368"/>
            <a:ext cx="2331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1" i="0">
                <a:solidFill>
                  <a:srgbClr val="1D1D21"/>
                </a:solidFill>
                <a:latin typeface="Arial"/>
              </a:rPr>
              <a:t>2 · Dein Vorrat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6E6F74"/>
                </a:solidFill>
                <a:latin typeface="Arial"/>
              </a:rPr>
              <a:t>Home · Ablauf-bewusst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0216" y="5230368"/>
            <a:ext cx="2331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1" i="0">
                <a:solidFill>
                  <a:srgbClr val="1D1D21"/>
                </a:solidFill>
                <a:latin typeface="Arial"/>
              </a:rPr>
              <a:t>3 · Tages-Log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6E6F74"/>
                </a:solidFill>
                <a:latin typeface="Arial"/>
              </a:rPr>
              <a:t>1 Tap = 1 Portion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15984" y="5230368"/>
            <a:ext cx="2331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1" i="0">
                <a:solidFill>
                  <a:srgbClr val="1D1D21"/>
                </a:solidFill>
                <a:latin typeface="Arial"/>
              </a:rPr>
              <a:t>4 · Insights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6E6F74"/>
                </a:solidFill>
                <a:latin typeface="Arial"/>
              </a:rPr>
              <a:t>Wochen-Lücken + Tipps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1920240"/>
            <a:ext cx="2331720" cy="3200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5E4E0"/>
            </a:solidFill>
          </a:ln>
          <a:effectLst/>
          <a:effectLst>
            <a:outerShdw blurRad="80000" dist="30000" dir="5400000" rotWithShape="0">
              <a:srgbClr val="1D1D21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 Same Side Corner Rectangle 12"/>
          <p:cNvSpPr/>
          <p:nvPr/>
        </p:nvSpPr>
        <p:spPr>
          <a:xfrm>
            <a:off x="868680" y="1920240"/>
            <a:ext cx="2331720" cy="457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7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1965960"/>
            <a:ext cx="20574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NutriWise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51560" y="2578608"/>
            <a:ext cx="1417320" cy="365760"/>
          </a:xfrm>
          <a:prstGeom prst="roundRect">
            <a:avLst>
              <a:gd name="adj" fmla="val 45000"/>
            </a:avLst>
          </a:prstGeom>
          <a:solidFill>
            <a:srgbClr val="EE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70432" y="2596896"/>
            <a:ext cx="12801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1D1D21"/>
                </a:solidFill>
                <a:latin typeface="Arial"/>
              </a:rPr>
              <a:t>Dein Ziel?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600200" y="3054096"/>
            <a:ext cx="1417320" cy="365760"/>
          </a:xfrm>
          <a:prstGeom prst="roundRect">
            <a:avLst>
              <a:gd name="adj" fmla="val 45000"/>
            </a:avLst>
          </a:prstGeom>
          <a:solidFill>
            <a:srgbClr val="7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719072" y="3072384"/>
            <a:ext cx="12801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750" b="0" i="0">
                <a:solidFill>
                  <a:srgbClr val="FFFFFF"/>
                </a:solidFill>
                <a:latin typeface="Arial"/>
              </a:rPr>
              <a:t>Gesünder essen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51560" y="3675887"/>
            <a:ext cx="603504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7C9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1560" y="3694176"/>
            <a:ext cx="603504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700" b="1" i="0">
                <a:solidFill>
                  <a:srgbClr val="5F7B4F"/>
                </a:solidFill>
                <a:latin typeface="Arial"/>
              </a:rPr>
              <a:t>Wenig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709928" y="3675887"/>
            <a:ext cx="603504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7C9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709928" y="3694176"/>
            <a:ext cx="603504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700" b="1" i="0">
                <a:solidFill>
                  <a:srgbClr val="5F7B4F"/>
                </a:solidFill>
                <a:latin typeface="Arial"/>
              </a:rPr>
              <a:t>Mittel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368296" y="3675887"/>
            <a:ext cx="603504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7C9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368296" y="3694176"/>
            <a:ext cx="603504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700" b="1" i="0">
                <a:solidFill>
                  <a:srgbClr val="5F7B4F"/>
                </a:solidFill>
                <a:latin typeface="Arial"/>
              </a:rPr>
              <a:t>Hoch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51560" y="4297680"/>
            <a:ext cx="128016" cy="45720"/>
          </a:xfrm>
          <a:prstGeom prst="rect">
            <a:avLst/>
          </a:prstGeom>
          <a:solidFill>
            <a:srgbClr val="7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234439" y="4297680"/>
            <a:ext cx="128016" cy="45720"/>
          </a:xfrm>
          <a:prstGeom prst="rect">
            <a:avLst/>
          </a:prstGeom>
          <a:solidFill>
            <a:srgbClr val="E5E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417319" y="4297680"/>
            <a:ext cx="128016" cy="45720"/>
          </a:xfrm>
          <a:prstGeom prst="rect">
            <a:avLst/>
          </a:prstGeom>
          <a:solidFill>
            <a:srgbClr val="E5E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600200" y="4297680"/>
            <a:ext cx="128016" cy="45720"/>
          </a:xfrm>
          <a:prstGeom prst="rect">
            <a:avLst/>
          </a:prstGeom>
          <a:solidFill>
            <a:srgbClr val="E5E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3584448" y="1920240"/>
            <a:ext cx="2331720" cy="3200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5E4E0"/>
            </a:solidFill>
          </a:ln>
          <a:effectLst/>
          <a:effectLst>
            <a:outerShdw blurRad="80000" dist="30000" dir="5400000" rotWithShape="0">
              <a:srgbClr val="1D1D21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 Same Side Corner Rectangle 29"/>
          <p:cNvSpPr/>
          <p:nvPr/>
        </p:nvSpPr>
        <p:spPr>
          <a:xfrm>
            <a:off x="3584448" y="1920240"/>
            <a:ext cx="2331720" cy="457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7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767328" y="1965960"/>
            <a:ext cx="20574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Dein Vorrat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767328" y="2542032"/>
            <a:ext cx="1965960" cy="502920"/>
          </a:xfrm>
          <a:prstGeom prst="roundRect">
            <a:avLst>
              <a:gd name="adj" fmla="val 20000"/>
            </a:avLst>
          </a:prstGeom>
          <a:solidFill>
            <a:srgbClr val="EE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886200" y="2578608"/>
            <a:ext cx="1783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00" b="1" i="0">
                <a:solidFill>
                  <a:srgbClr val="5F7B4F"/>
                </a:solidFill>
                <a:latin typeface="Arial"/>
              </a:rPr>
              <a:t>EMPFOHLEN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 i="0">
                <a:solidFill>
                  <a:srgbClr val="1D1D21"/>
                </a:solidFill>
                <a:latin typeface="Arial"/>
              </a:rPr>
              <a:t>🥛 Trink deine Buttermilch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767328" y="3218688"/>
            <a:ext cx="196596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7620">
            <a:solidFill>
              <a:srgbClr val="E5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886200" y="3218688"/>
            <a:ext cx="1371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1D1D21"/>
                </a:solidFill>
                <a:latin typeface="Arial"/>
              </a:rPr>
              <a:t>🍗 Hähnchenbrust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38928" y="3218688"/>
            <a:ext cx="548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700" b="1" i="0">
                <a:solidFill>
                  <a:srgbClr val="B36A4A"/>
                </a:solidFill>
                <a:latin typeface="Arial"/>
              </a:rPr>
              <a:t>1 Tag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767328" y="3767328"/>
            <a:ext cx="196596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7620">
            <a:solidFill>
              <a:srgbClr val="E5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886200" y="3767328"/>
            <a:ext cx="1371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1D1D21"/>
                </a:solidFill>
                <a:latin typeface="Arial"/>
              </a:rPr>
              <a:t>🥛 Buttermilch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38928" y="3767328"/>
            <a:ext cx="548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700" b="1" i="0">
                <a:solidFill>
                  <a:srgbClr val="B36A4A"/>
                </a:solidFill>
                <a:latin typeface="Arial"/>
              </a:rPr>
              <a:t>2 Tage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767328" y="4315968"/>
            <a:ext cx="196596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7620">
            <a:solidFill>
              <a:srgbClr val="E5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886200" y="4315968"/>
            <a:ext cx="1371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1D1D21"/>
                </a:solidFill>
                <a:latin typeface="Arial"/>
              </a:rPr>
              <a:t>🥦 Brokkoli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138928" y="4315968"/>
            <a:ext cx="548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700" b="1" i="0">
                <a:solidFill>
                  <a:srgbClr val="5F7B4F"/>
                </a:solidFill>
                <a:latin typeface="Arial"/>
              </a:rPr>
              <a:t>frisch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300216" y="1920240"/>
            <a:ext cx="2331720" cy="3200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5E4E0"/>
            </a:solidFill>
          </a:ln>
          <a:effectLst/>
          <a:effectLst>
            <a:outerShdw blurRad="80000" dist="30000" dir="5400000" rotWithShape="0">
              <a:srgbClr val="1D1D21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 Same Side Corner Rectangle 43"/>
          <p:cNvSpPr/>
          <p:nvPr/>
        </p:nvSpPr>
        <p:spPr>
          <a:xfrm>
            <a:off x="6300216" y="1920240"/>
            <a:ext cx="2331720" cy="457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7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83096" y="1965960"/>
            <a:ext cx="20574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Tages-Log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83096" y="2670048"/>
            <a:ext cx="19659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750" b="1" i="0">
                <a:solidFill>
                  <a:srgbClr val="1D1D21"/>
                </a:solidFill>
                <a:latin typeface="Arial"/>
              </a:rPr>
              <a:t>Protein</a:t>
            </a:r>
            <a:r>
              <a:rPr sz="700" b="0" i="0">
                <a:solidFill>
                  <a:srgbClr val="6E6F74"/>
                </a:solidFill>
                <a:latin typeface="Arial"/>
              </a:rPr>
              <a:t>   62 / 120 g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483096" y="2944368"/>
            <a:ext cx="1965960" cy="128016"/>
          </a:xfrm>
          <a:prstGeom prst="roundRect">
            <a:avLst>
              <a:gd name="adj" fmla="val 50000"/>
            </a:avLst>
          </a:prstGeom>
          <a:solidFill>
            <a:srgbClr val="E5E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6483096" y="2944368"/>
            <a:ext cx="1022299" cy="128016"/>
          </a:xfrm>
          <a:prstGeom prst="roundRect">
            <a:avLst>
              <a:gd name="adj" fmla="val 50000"/>
            </a:avLst>
          </a:prstGeom>
          <a:solidFill>
            <a:srgbClr val="B36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83096" y="3383280"/>
            <a:ext cx="19659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750" b="1" i="0">
                <a:solidFill>
                  <a:srgbClr val="1D1D21"/>
                </a:solidFill>
                <a:latin typeface="Arial"/>
              </a:rPr>
              <a:t>Ballaststoffe</a:t>
            </a:r>
            <a:r>
              <a:rPr sz="700" b="0" i="0">
                <a:solidFill>
                  <a:srgbClr val="6E6F74"/>
                </a:solidFill>
                <a:latin typeface="Arial"/>
              </a:rPr>
              <a:t>   11 / 30 g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483096" y="3657600"/>
            <a:ext cx="1965960" cy="128016"/>
          </a:xfrm>
          <a:prstGeom prst="roundRect">
            <a:avLst>
              <a:gd name="adj" fmla="val 50000"/>
            </a:avLst>
          </a:prstGeom>
          <a:solidFill>
            <a:srgbClr val="E5E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6483096" y="3657600"/>
            <a:ext cx="727405" cy="128016"/>
          </a:xfrm>
          <a:prstGeom prst="roundRect">
            <a:avLst>
              <a:gd name="adj" fmla="val 50000"/>
            </a:avLst>
          </a:prstGeom>
          <a:solidFill>
            <a:srgbClr val="B36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83096" y="4096512"/>
            <a:ext cx="19659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750" b="1" i="0">
                <a:solidFill>
                  <a:srgbClr val="1D1D21"/>
                </a:solidFill>
                <a:latin typeface="Arial"/>
              </a:rPr>
              <a:t>Kalorien</a:t>
            </a:r>
            <a:r>
              <a:rPr sz="700" b="0" i="0">
                <a:solidFill>
                  <a:srgbClr val="6E6F74"/>
                </a:solidFill>
                <a:latin typeface="Arial"/>
              </a:rPr>
              <a:t>   1.340 / 2.100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483096" y="4370832"/>
            <a:ext cx="1965960" cy="128016"/>
          </a:xfrm>
          <a:prstGeom prst="roundRect">
            <a:avLst>
              <a:gd name="adj" fmla="val 50000"/>
            </a:avLst>
          </a:prstGeom>
          <a:solidFill>
            <a:srgbClr val="E5E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6483096" y="4370832"/>
            <a:ext cx="1258214" cy="128016"/>
          </a:xfrm>
          <a:prstGeom prst="roundRect">
            <a:avLst>
              <a:gd name="adj" fmla="val 50000"/>
            </a:avLst>
          </a:prstGeom>
          <a:solidFill>
            <a:srgbClr val="7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9015984" y="1920240"/>
            <a:ext cx="2331720" cy="3200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5E4E0"/>
            </a:solidFill>
          </a:ln>
          <a:effectLst/>
          <a:effectLst>
            <a:outerShdw blurRad="80000" dist="30000" dir="5400000" rotWithShape="0">
              <a:srgbClr val="1D1D21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 Same Side Corner Rectangle 55"/>
          <p:cNvSpPr/>
          <p:nvPr/>
        </p:nvSpPr>
        <p:spPr>
          <a:xfrm>
            <a:off x="9015984" y="1920240"/>
            <a:ext cx="2331720" cy="457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7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198863" y="1965960"/>
            <a:ext cx="20574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Insights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198863" y="2523744"/>
            <a:ext cx="196596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5F7B4F"/>
                </a:solidFill>
                <a:latin typeface="Arial"/>
              </a:rPr>
              <a:t>72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198863" y="3127248"/>
            <a:ext cx="1965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6E6F74"/>
                </a:solidFill>
                <a:latin typeface="Arial"/>
              </a:rPr>
              <a:t>Wochen-Score · Gut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9198863" y="3493008"/>
            <a:ext cx="932688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7620">
            <a:solidFill>
              <a:srgbClr val="E5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299447" y="3493008"/>
            <a:ext cx="7772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1D1D21"/>
                </a:solidFill>
                <a:latin typeface="Arial"/>
              </a:rPr>
              <a:t>Protein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B36A4A"/>
                </a:solidFill>
                <a:latin typeface="Arial"/>
              </a:rPr>
              <a:t>niedrig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10204703" y="3493008"/>
            <a:ext cx="932688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7620">
            <a:solidFill>
              <a:srgbClr val="E5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305287" y="3493008"/>
            <a:ext cx="7772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1D1D21"/>
                </a:solidFill>
                <a:latin typeface="Arial"/>
              </a:rPr>
              <a:t>Ballastst.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B36A4A"/>
                </a:solidFill>
                <a:latin typeface="Arial"/>
              </a:rPr>
              <a:t>niedrig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9198863" y="4059936"/>
            <a:ext cx="932688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7620">
            <a:solidFill>
              <a:srgbClr val="E5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299447" y="4059936"/>
            <a:ext cx="7772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1D1D21"/>
                </a:solidFill>
                <a:latin typeface="Arial"/>
              </a:rPr>
              <a:t>Zucker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5F7B4F"/>
                </a:solidFill>
                <a:latin typeface="Arial"/>
              </a:rPr>
              <a:t>ok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10204703" y="4059936"/>
            <a:ext cx="932688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7620">
            <a:solidFill>
              <a:srgbClr val="E5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0305287" y="4059936"/>
            <a:ext cx="7772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1D1D21"/>
                </a:solidFill>
                <a:latin typeface="Arial"/>
              </a:rPr>
              <a:t>Kalorien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5F7B4F"/>
                </a:solidFill>
                <a:latin typeface="Arial"/>
              </a:rPr>
              <a:t>ok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22960" y="6291072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1">
                <a:solidFill>
                  <a:srgbClr val="6E6F74"/>
                </a:solidFill>
                <a:latin typeface="Arial"/>
              </a:rPr>
              <a:t>Voll klickbarer Prototyp — Salbeigrün-Corporate-Design, hell &amp; dunkel.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48640" y="642823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E6F74"/>
                </a:solidFill>
                <a:latin typeface="Arial"/>
              </a:rPr>
              <a:t>NutriWise</a:t>
            </a:r>
            <a:r>
              <a:rPr sz="900" b="0" i="0">
                <a:solidFill>
                  <a:srgbClr val="6E6F74"/>
                </a:solidFill>
                <a:latin typeface="Arial"/>
              </a:rPr>
              <a:t>  ·  V1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875520" y="6428232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E6F74"/>
                </a:solidFill>
                <a:latin typeface="Arial"/>
              </a:rPr>
              <a:t>04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5F7B4F"/>
                </a:solidFill>
                <a:latin typeface="Arial"/>
              </a:rPr>
              <a:t>ERFOLGSKRITERIEN &amp; KPIS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41248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900" b="1" i="0">
                <a:solidFill>
                  <a:srgbClr val="1D1D21"/>
                </a:solidFill>
                <a:latin typeface="Arial"/>
              </a:rPr>
              <a:t>Woran wir Erfolg messen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481328"/>
            <a:ext cx="1371600" cy="41148"/>
          </a:xfrm>
          <a:prstGeom prst="rect">
            <a:avLst/>
          </a:prstGeom>
          <a:solidFill>
            <a:srgbClr val="7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6E6F74"/>
                </a:solidFill>
                <a:latin typeface="Arial"/>
              </a:rPr>
              <a:t>Kernhypothese: </a:t>
            </a:r>
            <a:r>
              <a:rPr sz="1400" b="1" i="0">
                <a:solidFill>
                  <a:srgbClr val="1D1D21"/>
                </a:solidFill>
                <a:latin typeface="Arial"/>
              </a:rPr>
              <a:t>Vertrauen Nutzer einer aus dem Bon abgeleiteten Empfehlung genug, um zu handeln — und klebt das Abhaken?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240280"/>
            <a:ext cx="2615184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5E4E0"/>
            </a:solidFill>
          </a:ln>
          <a:effectLst/>
          <a:effectLst>
            <a:outerShdw blurRad="80000" dist="30000" dir="5400000" rotWithShape="0">
              <a:srgbClr val="1D1D21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368296"/>
            <a:ext cx="73152" cy="1572768"/>
          </a:xfrm>
          <a:prstGeom prst="rect">
            <a:avLst/>
          </a:prstGeom>
          <a:solidFill>
            <a:srgbClr val="5F7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68296"/>
            <a:ext cx="2231136" cy="15910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2900" b="1" i="0">
                <a:solidFill>
                  <a:srgbClr val="5F7B4F"/>
                </a:solidFill>
                <a:latin typeface="Arial"/>
              </a:rPr>
              <a:t>Woche 1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1D1D21"/>
                </a:solidFill>
                <a:latin typeface="Arial"/>
              </a:rPr>
              <a:t>Abhaken klebt?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6E6F74"/>
                </a:solidFill>
                <a:latin typeface="Arial"/>
              </a:rPr>
              <a:t>Make-or-Break — überlebt das Tippen die Neuheit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599" y="2240280"/>
            <a:ext cx="2615184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5E4E0"/>
            </a:solidFill>
          </a:ln>
          <a:effectLst/>
          <a:effectLst>
            <a:outerShdw blurRad="80000" dist="30000" dir="5400000" rotWithShape="0">
              <a:srgbClr val="1D1D21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599" y="2368296"/>
            <a:ext cx="73152" cy="1572768"/>
          </a:xfrm>
          <a:prstGeom prst="rect">
            <a:avLst/>
          </a:prstGeom>
          <a:solidFill>
            <a:srgbClr val="7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31920" y="2368296"/>
            <a:ext cx="2231136" cy="15910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2900" b="1" i="0">
                <a:solidFill>
                  <a:srgbClr val="7C9A6A"/>
                </a:solidFill>
                <a:latin typeface="Arial"/>
              </a:rPr>
              <a:t>30%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1D1D21"/>
                </a:solidFill>
                <a:latin typeface="Arial"/>
              </a:rPr>
              <a:t>Verhalten ändert sich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6E6F74"/>
                </a:solidFill>
                <a:latin typeface="Arial"/>
              </a:rPr>
              <a:t>passen den nächsten Einkauf an unseren Tipp an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92240" y="2240280"/>
            <a:ext cx="2615184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5E4E0"/>
            </a:solidFill>
          </a:ln>
          <a:effectLst/>
          <a:effectLst>
            <a:outerShdw blurRad="80000" dist="30000" dir="5400000" rotWithShape="0">
              <a:srgbClr val="1D1D21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92240" y="2368296"/>
            <a:ext cx="73152" cy="1572768"/>
          </a:xfrm>
          <a:prstGeom prst="rect">
            <a:avLst/>
          </a:prstGeom>
          <a:solidFill>
            <a:srgbClr val="7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59" y="2368296"/>
            <a:ext cx="2231136" cy="15910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2900" b="1" i="0">
                <a:solidFill>
                  <a:srgbClr val="7C9A6A"/>
                </a:solidFill>
                <a:latin typeface="Arial"/>
              </a:rPr>
              <a:t>&gt;20%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1D1D21"/>
                </a:solidFill>
                <a:latin typeface="Arial"/>
              </a:rPr>
              <a:t>Empfehlung befolgt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6E6F74"/>
                </a:solidFill>
                <a:latin typeface="Arial"/>
              </a:rPr>
              <a:t>als „erledigt“ markiert, nicht ungelesen verworfen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326880" y="2240280"/>
            <a:ext cx="2615184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5E4E0"/>
            </a:solidFill>
          </a:ln>
          <a:effectLst/>
          <a:effectLst>
            <a:outerShdw blurRad="80000" dist="30000" dir="5400000" rotWithShape="0">
              <a:srgbClr val="1D1D21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326880" y="2368296"/>
            <a:ext cx="73152" cy="1572768"/>
          </a:xfrm>
          <a:prstGeom prst="rect">
            <a:avLst/>
          </a:prstGeom>
          <a:solidFill>
            <a:srgbClr val="7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0" y="2368296"/>
            <a:ext cx="2231136" cy="15910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2900" b="1" i="0">
                <a:solidFill>
                  <a:srgbClr val="7C9A6A"/>
                </a:solidFill>
                <a:latin typeface="Arial"/>
              </a:rPr>
              <a:t>&lt;2 Min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1D1D21"/>
                </a:solidFill>
                <a:latin typeface="Arial"/>
              </a:rPr>
              <a:t>Zeit bis Nutzen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6E6F74"/>
                </a:solidFill>
                <a:latin typeface="Arial"/>
              </a:rPr>
              <a:t>vom Upload zum ersten personalisierten Ergebnis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4434840"/>
            <a:ext cx="10543032" cy="1234440"/>
          </a:xfrm>
          <a:prstGeom prst="roundRect">
            <a:avLst>
              <a:gd name="adj" fmla="val 6000"/>
            </a:avLst>
          </a:prstGeom>
          <a:solidFill>
            <a:srgbClr val="EE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4590288"/>
            <a:ext cx="1005840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5F7B4F"/>
                </a:solidFill>
                <a:latin typeface="Arial"/>
              </a:rPr>
              <a:t>Das Abhaken entscheidet über alles.  </a:t>
            </a:r>
            <a:r>
              <a:rPr sz="1350" b="0" i="0">
                <a:solidFill>
                  <a:srgbClr val="1D1D21"/>
                </a:solidFill>
                <a:latin typeface="Arial"/>
              </a:rPr>
              <a:t>Überlebt das Tippen Woche 1 nicht, veralten Vorrat und Empfehlungen — also beweisen wir zuerst diesen Loop und legen dann den vollen 10-KPI-Funnel über Verhalten, Business und Zufriedenheit.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2823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E6F74"/>
                </a:solidFill>
                <a:latin typeface="Arial"/>
              </a:rPr>
              <a:t>NutriWise</a:t>
            </a:r>
            <a:r>
              <a:rPr sz="900" b="0" i="0">
                <a:solidFill>
                  <a:srgbClr val="6E6F74"/>
                </a:solidFill>
                <a:latin typeface="Arial"/>
              </a:rPr>
              <a:t>  ·  V1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75520" y="6428232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E6F74"/>
                </a:solidFill>
                <a:latin typeface="Arial"/>
              </a:rPr>
              <a:t>05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5F7B4F"/>
                </a:solidFill>
                <a:latin typeface="Arial"/>
              </a:rPr>
              <a:t>ROADMAP &amp; MEILENSTEINE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41248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900" b="1" i="0">
                <a:solidFill>
                  <a:srgbClr val="1D1D21"/>
                </a:solidFill>
                <a:latin typeface="Arial"/>
              </a:rPr>
              <a:t>Wo wir stehen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481328"/>
            <a:ext cx="1371600" cy="41148"/>
          </a:xfrm>
          <a:prstGeom prst="rect">
            <a:avLst/>
          </a:prstGeom>
          <a:solidFill>
            <a:srgbClr val="7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05840" y="3044952"/>
            <a:ext cx="10241280" cy="45720"/>
          </a:xfrm>
          <a:prstGeom prst="rect">
            <a:avLst/>
          </a:prstGeom>
          <a:solidFill>
            <a:srgbClr val="E5E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546604" y="2935224"/>
            <a:ext cx="274320" cy="274320"/>
          </a:xfrm>
          <a:prstGeom prst="ellipse">
            <a:avLst/>
          </a:prstGeom>
          <a:solidFill>
            <a:srgbClr val="5F7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05840" y="2103120"/>
            <a:ext cx="1825599" cy="402336"/>
          </a:xfrm>
          <a:prstGeom prst="roundRect">
            <a:avLst>
              <a:gd name="adj" fmla="val 50000"/>
            </a:avLst>
          </a:prstGeom>
          <a:solidFill>
            <a:srgbClr val="5F7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121408"/>
            <a:ext cx="1825599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FERTIG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31017" y="2130552"/>
            <a:ext cx="16596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6E6F74"/>
                </a:solidFill>
                <a:latin typeface="Arial"/>
              </a:rPr>
              <a:t>Woche 1–2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5840" y="3520440"/>
            <a:ext cx="3319272" cy="2788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4E0"/>
            </a:solidFill>
          </a:ln>
          <a:effectLst/>
          <a:effectLst>
            <a:outerShdw blurRad="80000" dist="30000" dir="5400000" rotWithShape="0">
              <a:srgbClr val="1D1D21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80160" y="3758184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5F7B4F"/>
                </a:solidFill>
                <a:latin typeface="Arial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3739896"/>
            <a:ext cx="245059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D1D21"/>
                </a:solidFill>
                <a:latin typeface="Arial"/>
              </a:rPr>
              <a:t>On-Device-OCR → Vorrat → Lücken → Empfehlung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4242816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5F7B4F"/>
                </a:solidFill>
                <a:latin typeface="Arial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4224528"/>
            <a:ext cx="245059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D1D21"/>
                </a:solidFill>
                <a:latin typeface="Arial"/>
              </a:rPr>
              <a:t>Tages-Log (Abhaken) + Ablauf-bewusster Vorrat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4727448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5F7B4F"/>
                </a:solidFill>
                <a:latin typeface="Arial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4709160"/>
            <a:ext cx="245059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D1D21"/>
                </a:solidFill>
                <a:latin typeface="Arial"/>
              </a:rPr>
              <a:t>Rezepte, Easy Swaps, Progress-Tracking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5212080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5F7B4F"/>
                </a:solidFill>
                <a:latin typeface="Arial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5193792"/>
            <a:ext cx="245059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D1D21"/>
                </a:solidFill>
                <a:latin typeface="Arial"/>
              </a:rPr>
              <a:t>Nutri-Coach + transparente Leerzustände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5696712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5F7B4F"/>
                </a:solidFill>
                <a:latin typeface="Arial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5678424"/>
            <a:ext cx="245059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D1D21"/>
                </a:solidFill>
                <a:latin typeface="Arial"/>
              </a:rPr>
              <a:t>DSGVO-Export/Löschung · Engagement-Banner · DE/EN</a:t>
            </a:r>
          </a:p>
        </p:txBody>
      </p:sp>
      <p:sp>
        <p:nvSpPr>
          <p:cNvPr id="21" name="Oval 20"/>
          <p:cNvSpPr/>
          <p:nvPr/>
        </p:nvSpPr>
        <p:spPr>
          <a:xfrm>
            <a:off x="6085332" y="2935224"/>
            <a:ext cx="274320" cy="274320"/>
          </a:xfrm>
          <a:prstGeom prst="ellipse">
            <a:avLst/>
          </a:prstGeom>
          <a:solidFill>
            <a:srgbClr val="7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544568" y="2103120"/>
            <a:ext cx="1825599" cy="402336"/>
          </a:xfrm>
          <a:prstGeom prst="roundRect">
            <a:avLst>
              <a:gd name="adj" fmla="val 50000"/>
            </a:avLst>
          </a:prstGeom>
          <a:solidFill>
            <a:srgbClr val="7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44568" y="2121408"/>
            <a:ext cx="1825599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IN ARBEIT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69745" y="2130552"/>
            <a:ext cx="16596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6E6F74"/>
                </a:solidFill>
                <a:latin typeface="Arial"/>
              </a:rPr>
              <a:t>Jetzt — Woche 3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44568" y="3520440"/>
            <a:ext cx="3319272" cy="2788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4E0"/>
            </a:solidFill>
          </a:ln>
          <a:effectLst/>
          <a:effectLst>
            <a:outerShdw blurRad="80000" dist="30000" dir="5400000" rotWithShape="0">
              <a:srgbClr val="1D1D21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18888" y="3758184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7C9A6A"/>
                </a:solidFill>
                <a:latin typeface="Arial"/>
              </a:rPr>
              <a:t>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84648" y="3739896"/>
            <a:ext cx="245059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D1D21"/>
                </a:solidFill>
                <a:latin typeface="Arial"/>
              </a:rPr>
              <a:t>1-Tap-Portion — Reibung senken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18888" y="4242816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7C9A6A"/>
                </a:solidFill>
                <a:latin typeface="Arial"/>
              </a:rPr>
              <a:t>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84648" y="4224528"/>
            <a:ext cx="245059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D1D21"/>
                </a:solidFill>
                <a:latin typeface="Arial"/>
              </a:rPr>
              <a:t>Besseres Matching (gelernter Tier-0 + Normalisierung)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18888" y="4727448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7C9A6A"/>
                </a:solidFill>
                <a:latin typeface="Arial"/>
              </a:rPr>
              <a:t>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84648" y="4709160"/>
            <a:ext cx="245059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D1D21"/>
                </a:solidFill>
                <a:latin typeface="Arial"/>
              </a:rPr>
              <a:t>A/B-Test: wann nach „was gegessen?“ fragen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18888" y="5212080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7C9A6A"/>
                </a:solidFill>
                <a:latin typeface="Arial"/>
              </a:rPr>
              <a:t>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84648" y="5193792"/>
            <a:ext cx="245059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D1D21"/>
                </a:solidFill>
                <a:latin typeface="Arial"/>
              </a:rPr>
              <a:t>Live-User-Tests + Abhak-Retention</a:t>
            </a:r>
          </a:p>
        </p:txBody>
      </p:sp>
      <p:sp>
        <p:nvSpPr>
          <p:cNvPr id="34" name="Oval 33"/>
          <p:cNvSpPr/>
          <p:nvPr/>
        </p:nvSpPr>
        <p:spPr>
          <a:xfrm>
            <a:off x="9624059" y="2935224"/>
            <a:ext cx="274320" cy="274320"/>
          </a:xfrm>
          <a:prstGeom prst="ellipse">
            <a:avLst/>
          </a:prstGeom>
          <a:solidFill>
            <a:srgbClr val="6E6F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083296" y="2103120"/>
            <a:ext cx="1825599" cy="402336"/>
          </a:xfrm>
          <a:prstGeom prst="roundRect">
            <a:avLst>
              <a:gd name="adj" fmla="val 50000"/>
            </a:avLst>
          </a:prstGeom>
          <a:solidFill>
            <a:srgbClr val="6E6F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83296" y="2121408"/>
            <a:ext cx="1825599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NÄCHSTES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08473" y="2130552"/>
            <a:ext cx="16596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6E6F74"/>
                </a:solidFill>
                <a:latin typeface="Arial"/>
              </a:rPr>
              <a:t>Nach Midterm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083296" y="3520440"/>
            <a:ext cx="3319272" cy="2788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4E0"/>
            </a:solidFill>
          </a:ln>
          <a:effectLst/>
          <a:effectLst>
            <a:outerShdw blurRad="80000" dist="30000" dir="5400000" rotWithShape="0">
              <a:srgbClr val="1D1D21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357616" y="3758184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6E6F74"/>
                </a:solidFill>
                <a:latin typeface="Arial"/>
              </a:rPr>
              <a:t>•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23376" y="3739896"/>
            <a:ext cx="245059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D1D21"/>
                </a:solidFill>
                <a:latin typeface="Arial"/>
              </a:rPr>
              <a:t>Advanced-Matching (Embeddings) über 70 %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57616" y="4242816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6E6F74"/>
                </a:solidFill>
                <a:latin typeface="Arial"/>
              </a:rPr>
              <a:t>•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723376" y="4224528"/>
            <a:ext cx="245059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D1D21"/>
                </a:solidFill>
                <a:latin typeface="Arial"/>
              </a:rPr>
              <a:t>10-KPI-Funnel instrumentieren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57616" y="4727448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6E6F74"/>
                </a:solidFill>
                <a:latin typeface="Arial"/>
              </a:rPr>
              <a:t>•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23376" y="4709160"/>
            <a:ext cx="245059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D1D21"/>
                </a:solidFill>
                <a:latin typeface="Arial"/>
              </a:rPr>
              <a:t>Wochen-/Monats-Trends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642823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E6F74"/>
                </a:solidFill>
                <a:latin typeface="Arial"/>
              </a:rPr>
              <a:t>NutriWise</a:t>
            </a:r>
            <a:r>
              <a:rPr sz="900" b="0" i="0">
                <a:solidFill>
                  <a:srgbClr val="6E6F74"/>
                </a:solidFill>
                <a:latin typeface="Arial"/>
              </a:rPr>
              <a:t>  ·  V1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875520" y="6428232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E6F74"/>
                </a:solidFill>
                <a:latin typeface="Arial"/>
              </a:rPr>
              <a:t>06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5F7B4F"/>
                </a:solidFill>
                <a:latin typeface="Arial"/>
              </a:rPr>
              <a:t>LIVE-DEMO — DER AKTUELLE STAND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41248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900" b="1" i="0">
                <a:solidFill>
                  <a:srgbClr val="1D1D21"/>
                </a:solidFill>
                <a:latin typeface="Arial"/>
              </a:rPr>
              <a:t>Einmal komplett durch — an einem echten Bon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481328"/>
            <a:ext cx="1371600" cy="41148"/>
          </a:xfrm>
          <a:prstGeom prst="rect">
            <a:avLst/>
          </a:prstGeom>
          <a:solidFill>
            <a:srgbClr val="7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22960" y="1874519"/>
            <a:ext cx="457200" cy="457200"/>
          </a:xfrm>
          <a:prstGeom prst="ellipse">
            <a:avLst/>
          </a:prstGeom>
          <a:solidFill>
            <a:srgbClr val="7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56231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837943"/>
            <a:ext cx="52120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D1D21"/>
                </a:solidFill>
                <a:latin typeface="Arial"/>
              </a:rPr>
              <a:t>Onboarding-Chat</a:t>
            </a:r>
            <a:r>
              <a:rPr sz="1150" b="0" i="0">
                <a:solidFill>
                  <a:srgbClr val="6E6F74"/>
                </a:solidFill>
                <a:latin typeface="Arial"/>
              </a:rPr>
              <a:t>   —  dialogbasiertes Profil — Ziel, Bedarf, Ausschlüsse</a:t>
            </a:r>
          </a:p>
        </p:txBody>
      </p:sp>
      <p:sp>
        <p:nvSpPr>
          <p:cNvPr id="8" name="Rectangle 7"/>
          <p:cNvSpPr/>
          <p:nvPr/>
        </p:nvSpPr>
        <p:spPr>
          <a:xfrm>
            <a:off x="1033272" y="2331720"/>
            <a:ext cx="27432" cy="210312"/>
          </a:xfrm>
          <a:prstGeom prst="rect">
            <a:avLst/>
          </a:prstGeom>
          <a:solidFill>
            <a:srgbClr val="B7C9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22960" y="2542032"/>
            <a:ext cx="457200" cy="457200"/>
          </a:xfrm>
          <a:prstGeom prst="ellipse">
            <a:avLst/>
          </a:prstGeom>
          <a:solidFill>
            <a:srgbClr val="7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523744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505456"/>
            <a:ext cx="52120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D1D21"/>
                </a:solidFill>
                <a:latin typeface="Arial"/>
              </a:rPr>
              <a:t>Bon hochladen</a:t>
            </a:r>
            <a:r>
              <a:rPr sz="1150" b="0" i="0">
                <a:solidFill>
                  <a:srgbClr val="6E6F74"/>
                </a:solidFill>
                <a:latin typeface="Arial"/>
              </a:rPr>
              <a:t>   —  On-Device-OCR — privat, keine Quota, offline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33272" y="2999232"/>
            <a:ext cx="27432" cy="210312"/>
          </a:xfrm>
          <a:prstGeom prst="rect">
            <a:avLst/>
          </a:prstGeom>
          <a:solidFill>
            <a:srgbClr val="B7C9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22960" y="3209544"/>
            <a:ext cx="457200" cy="457200"/>
          </a:xfrm>
          <a:prstGeom prst="ellipse">
            <a:avLst/>
          </a:prstGeom>
          <a:solidFill>
            <a:srgbClr val="7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191256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172968"/>
            <a:ext cx="52120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D1D21"/>
                </a:solidFill>
                <a:latin typeface="Arial"/>
              </a:rPr>
              <a:t>Dein Vorrat</a:t>
            </a:r>
            <a:r>
              <a:rPr sz="1150" b="0" i="0">
                <a:solidFill>
                  <a:srgbClr val="6E6F74"/>
                </a:solidFill>
                <a:latin typeface="Arial"/>
              </a:rPr>
              <a:t>   —  was im Haus ist, Ablauf-bewusst — der Startbildschirm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33272" y="3666744"/>
            <a:ext cx="27432" cy="210312"/>
          </a:xfrm>
          <a:prstGeom prst="rect">
            <a:avLst/>
          </a:prstGeom>
          <a:solidFill>
            <a:srgbClr val="B7C9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22960" y="3877056"/>
            <a:ext cx="457200" cy="457200"/>
          </a:xfrm>
          <a:prstGeom prst="ellipse">
            <a:avLst/>
          </a:prstGeom>
          <a:solidFill>
            <a:srgbClr val="7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858768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3840480"/>
            <a:ext cx="52120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D1D21"/>
                </a:solidFill>
                <a:latin typeface="Arial"/>
              </a:rPr>
              <a:t>Tages-Log</a:t>
            </a:r>
            <a:r>
              <a:rPr sz="1150" b="0" i="0">
                <a:solidFill>
                  <a:srgbClr val="6E6F74"/>
                </a:solidFill>
                <a:latin typeface="Arial"/>
              </a:rPr>
              <a:t>   —  ein Tap, um Gegessenes abzuhaken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33272" y="4334256"/>
            <a:ext cx="27432" cy="210312"/>
          </a:xfrm>
          <a:prstGeom prst="rect">
            <a:avLst/>
          </a:prstGeom>
          <a:solidFill>
            <a:srgbClr val="B7C9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22960" y="4544568"/>
            <a:ext cx="457200" cy="457200"/>
          </a:xfrm>
          <a:prstGeom prst="ellipse">
            <a:avLst/>
          </a:prstGeom>
          <a:solidFill>
            <a:srgbClr val="7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452628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4507992"/>
            <a:ext cx="52120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D1D21"/>
                </a:solidFill>
                <a:latin typeface="Arial"/>
              </a:rPr>
              <a:t>Insights</a:t>
            </a:r>
            <a:r>
              <a:rPr sz="1150" b="0" i="0">
                <a:solidFill>
                  <a:srgbClr val="6E6F74"/>
                </a:solidFill>
                <a:latin typeface="Arial"/>
              </a:rPr>
              <a:t>   —  Wochen-Lücken + „nutze, was du hast“ + Next Cart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33272" y="5001768"/>
            <a:ext cx="27432" cy="210312"/>
          </a:xfrm>
          <a:prstGeom prst="rect">
            <a:avLst/>
          </a:prstGeom>
          <a:solidFill>
            <a:srgbClr val="B7C9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22960" y="5212079"/>
            <a:ext cx="457200" cy="457200"/>
          </a:xfrm>
          <a:prstGeom prst="ellipse">
            <a:avLst/>
          </a:prstGeom>
          <a:solidFill>
            <a:srgbClr val="7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519379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63040" y="5175503"/>
            <a:ext cx="52120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D1D21"/>
                </a:solidFill>
                <a:latin typeface="Arial"/>
              </a:rPr>
              <a:t>Nutri-Coach + Löschen</a:t>
            </a:r>
            <a:r>
              <a:rPr sz="1150" b="0" i="0">
                <a:solidFill>
                  <a:srgbClr val="6E6F74"/>
                </a:solidFill>
                <a:latin typeface="Arial"/>
              </a:rPr>
              <a:t>   —  Begründung in Klartext · DSGVO-Löschung jederzeit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629400" y="1783080"/>
            <a:ext cx="4754880" cy="41605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4E0"/>
            </a:solidFill>
          </a:ln>
          <a:effectLst/>
          <a:effectLst>
            <a:outerShdw blurRad="80000" dist="30000" dir="5400000" rotWithShape="0">
              <a:srgbClr val="1D1D21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 Same Side Corner Rectangle 28"/>
          <p:cNvSpPr/>
          <p:nvPr/>
        </p:nvSpPr>
        <p:spPr>
          <a:xfrm>
            <a:off x="6629400" y="1783080"/>
            <a:ext cx="4754880" cy="603504"/>
          </a:xfrm>
          <a:prstGeom prst="round2SameRect">
            <a:avLst>
              <a:gd name="adj1" fmla="val 5000"/>
              <a:gd name="adj2" fmla="val 0"/>
            </a:avLst>
          </a:prstGeom>
          <a:solidFill>
            <a:srgbClr val="7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03720" y="1819656"/>
            <a:ext cx="42062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NutriWise  ·  Deine Ergebnisse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03720" y="2542032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1">
                <a:solidFill>
                  <a:srgbClr val="6E6F74"/>
                </a:solidFill>
                <a:latin typeface="Arial"/>
              </a:rPr>
              <a:t>Schätzung aus Einkauf + Tages-Log — keine medizinische Beratung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903720" y="2971800"/>
            <a:ext cx="4206240" cy="1371600"/>
          </a:xfrm>
          <a:prstGeom prst="roundRect">
            <a:avLst>
              <a:gd name="adj" fmla="val 8000"/>
            </a:avLst>
          </a:prstGeom>
          <a:solidFill>
            <a:srgbClr val="EE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132320" y="3108960"/>
            <a:ext cx="37490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5F7B4F"/>
                </a:solidFill>
                <a:latin typeface="Arial"/>
              </a:rPr>
              <a:t>DEIN NEXT CART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0" y="3429000"/>
            <a:ext cx="37490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D1D21"/>
                </a:solidFill>
                <a:latin typeface="Arial"/>
              </a:rPr>
              <a:t>+ Rote Linsen (getrocknet)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32320" y="3840480"/>
            <a:ext cx="37490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6E6F74"/>
                </a:solidFill>
                <a:latin typeface="Arial"/>
              </a:rPr>
              <a:t>Schließt deine Ballaststoff- &amp; Pflanzenprotein-Lücke — und ist erdnussfrei.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903720" y="4526280"/>
            <a:ext cx="1280160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5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903720" y="4617720"/>
            <a:ext cx="1280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6E6F74"/>
                </a:solidFill>
                <a:latin typeface="Arial"/>
              </a:rPr>
              <a:t>Ballastst.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03720" y="4892040"/>
            <a:ext cx="1280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B36A4A"/>
                </a:solidFill>
                <a:latin typeface="Arial"/>
              </a:rPr>
              <a:t>niedrig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321040" y="4526280"/>
            <a:ext cx="1280160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5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321040" y="4617720"/>
            <a:ext cx="1280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6E6F74"/>
                </a:solidFill>
                <a:latin typeface="Arial"/>
              </a:rPr>
              <a:t>Protein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21040" y="4892040"/>
            <a:ext cx="1280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5F7B4F"/>
                </a:solidFill>
                <a:latin typeface="Arial"/>
              </a:rPr>
              <a:t>ok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738360" y="4526280"/>
            <a:ext cx="1280160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5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738360" y="4617720"/>
            <a:ext cx="1280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6E6F74"/>
                </a:solidFill>
                <a:latin typeface="Arial"/>
              </a:rPr>
              <a:t>Zucker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738360" y="4892040"/>
            <a:ext cx="1280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5F7B4F"/>
                </a:solidFill>
                <a:latin typeface="Arial"/>
              </a:rPr>
              <a:t>ok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29400" y="553212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1">
                <a:solidFill>
                  <a:srgbClr val="6E6F74"/>
                </a:solidFill>
                <a:latin typeface="Arial"/>
              </a:rPr>
              <a:t>illustrativ — live in der Demo gezeigt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" y="642823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E6F74"/>
                </a:solidFill>
                <a:latin typeface="Arial"/>
              </a:rPr>
              <a:t>NutriWise</a:t>
            </a:r>
            <a:r>
              <a:rPr sz="900" b="0" i="0">
                <a:solidFill>
                  <a:srgbClr val="6E6F74"/>
                </a:solidFill>
                <a:latin typeface="Arial"/>
              </a:rPr>
              <a:t>  ·  V1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875520" y="6428232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E6F74"/>
                </a:solidFill>
                <a:latin typeface="Arial"/>
              </a:rPr>
              <a:t>07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5F7B4F"/>
                </a:solidFill>
                <a:latin typeface="Arial"/>
              </a:rPr>
              <a:t>EVALUATIONS-METRIK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41248"/>
            <a:ext cx="106984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1D1D21"/>
                </a:solidFill>
                <a:latin typeface="Arial"/>
              </a:rPr>
              <a:t>Das Schwierige: kryptischen Bon-Text zu echtem Lebensmittel machen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481328"/>
            <a:ext cx="1371600" cy="41148"/>
          </a:xfrm>
          <a:prstGeom prst="rect">
            <a:avLst/>
          </a:prstGeom>
          <a:solidFill>
            <a:srgbClr val="7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783080"/>
            <a:ext cx="566928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B36A4A"/>
                </a:solidFill>
                <a:latin typeface="Arial"/>
              </a:rPr>
              <a:t>„AB Bud 6x0,3l MW“</a:t>
            </a:r>
            <a:r>
              <a:rPr sz="1700" b="1" i="0">
                <a:solidFill>
                  <a:srgbClr val="1D1D21"/>
                </a:solidFill>
                <a:latin typeface="Arial"/>
              </a:rPr>
              <a:t>   →   ?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600" b="0" i="0">
                <a:solidFill>
                  <a:srgbClr val="1D1D21"/>
                </a:solidFill>
                <a:latin typeface="Arial"/>
              </a:rPr>
              <a:t/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1D1D21"/>
                </a:solidFill>
                <a:latin typeface="Arial"/>
              </a:rPr>
              <a:t>Jede Bon-Zeile muss ein echtes Lebensmittel mit echten Nährwerten werden. Es gibt </a:t>
            </a:r>
            <a:r>
              <a:rPr sz="1450" b="1" i="0">
                <a:solidFill>
                  <a:srgbClr val="1D1D21"/>
                </a:solidFill>
                <a:latin typeface="Arial"/>
              </a:rPr>
              <a:t>kein Ground-Truth-Label</a:t>
            </a:r>
            <a:r>
              <a:rPr sz="1450" b="0" i="0">
                <a:solidFill>
                  <a:srgbClr val="1D1D21"/>
                </a:solidFill>
                <a:latin typeface="Arial"/>
              </a:rPr>
              <a:t> für „welches Lebensmittel ist das wirklich?“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500" b="0" i="0">
                <a:solidFill>
                  <a:srgbClr val="1D1D21"/>
                </a:solidFill>
                <a:latin typeface="Arial"/>
              </a:rPr>
              <a:t/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1D1D21"/>
                </a:solidFill>
                <a:latin typeface="Arial"/>
              </a:rPr>
              <a:t>Das ist regelbasiert / LLM-Hybrid, </a:t>
            </a:r>
            <a:r>
              <a:rPr sz="1450" b="1" i="0">
                <a:solidFill>
                  <a:srgbClr val="5F7B4F"/>
                </a:solidFill>
                <a:latin typeface="Arial"/>
              </a:rPr>
              <a:t>kein trainiertes ML-Modell</a:t>
            </a:r>
            <a:r>
              <a:rPr sz="1450" b="0" i="0">
                <a:solidFill>
                  <a:srgbClr val="1D1D21"/>
                </a:solidFill>
                <a:latin typeface="Arial"/>
              </a:rPr>
              <a:t> — also bauten wir eine eigene Evaluation: ein </a:t>
            </a:r>
            <a:r>
              <a:rPr sz="1450" b="1" i="0">
                <a:solidFill>
                  <a:srgbClr val="5F7B4F"/>
                </a:solidFill>
                <a:latin typeface="Arial"/>
              </a:rPr>
              <a:t>LLM-Judge-Panel.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1D1D21"/>
                </a:solidFill>
                <a:latin typeface="Arial"/>
              </a:rPr>
              <a:t>3 unabhängige Judges bewerten jeden Match — </a:t>
            </a:r>
            <a:r>
              <a:rPr sz="1450" b="1" i="0">
                <a:solidFill>
                  <a:srgbClr val="1D1D21"/>
                </a:solidFill>
                <a:latin typeface="Arial"/>
              </a:rPr>
              <a:t>korrekt / teilweise / falsch / kein Treffer</a:t>
            </a:r>
            <a:r>
              <a:rPr sz="1450" b="0" i="0">
                <a:solidFill>
                  <a:srgbClr val="1D1D21"/>
                </a:solidFill>
                <a:latin typeface="Arial"/>
              </a:rPr>
              <a:t> — die Mehrheit gewinnt.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0" y="1783080"/>
            <a:ext cx="4526280" cy="3520440"/>
          </a:xfrm>
          <a:prstGeom prst="roundRect">
            <a:avLst>
              <a:gd name="adj" fmla="val 5000"/>
            </a:avLst>
          </a:prstGeom>
          <a:solidFill>
            <a:srgbClr val="EE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78040" y="1984248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5F7B4F"/>
                </a:solidFill>
                <a:latin typeface="Arial"/>
              </a:rPr>
              <a:t>WAS WIR MESSEN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0" y="2395728"/>
            <a:ext cx="3977639" cy="12070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5E4E0"/>
            </a:solidFill>
          </a:ln>
          <a:effectLst/>
          <a:effectLst>
            <a:outerShdw blurRad="80000" dist="30000" dir="5400000" rotWithShape="0">
              <a:srgbClr val="1D1D21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32320" y="2523744"/>
            <a:ext cx="73152" cy="950976"/>
          </a:xfrm>
          <a:prstGeom prst="rect">
            <a:avLst/>
          </a:prstGeom>
          <a:solidFill>
            <a:srgbClr val="7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0" y="2523744"/>
            <a:ext cx="3593591" cy="9692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2900" b="1" i="0">
                <a:solidFill>
                  <a:srgbClr val="7C9A6A"/>
                </a:solidFill>
                <a:latin typeface="Arial"/>
              </a:rPr>
              <a:t>Precision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1D1D21"/>
                </a:solidFill>
                <a:latin typeface="Arial"/>
              </a:rPr>
              <a:t>Match-Qualität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6E6F74"/>
                </a:solidFill>
                <a:latin typeface="Arial"/>
              </a:rPr>
              <a:t>% als korrekt bewertet — oder nutzbar (korrekt + teilw.)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0" y="3749039"/>
            <a:ext cx="3977639" cy="12070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5E4E0"/>
            </a:solidFill>
          </a:ln>
          <a:effectLst/>
          <a:effectLst>
            <a:outerShdw blurRad="80000" dist="30000" dir="5400000" rotWithShape="0">
              <a:srgbClr val="1D1D21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132320" y="3877055"/>
            <a:ext cx="73152" cy="950976"/>
          </a:xfrm>
          <a:prstGeom prst="rect">
            <a:avLst/>
          </a:prstGeom>
          <a:solidFill>
            <a:srgbClr val="5F7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3877055"/>
            <a:ext cx="3593591" cy="9692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2900" b="1" i="0">
                <a:solidFill>
                  <a:srgbClr val="5F7B4F"/>
                </a:solidFill>
                <a:latin typeface="Arial"/>
              </a:rPr>
              <a:t>Konsens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1D1D21"/>
                </a:solidFill>
                <a:latin typeface="Arial"/>
              </a:rPr>
              <a:t>Verlässlichkeit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6E6F74"/>
                </a:solidFill>
                <a:latin typeface="Arial"/>
              </a:rPr>
              <a:t>% der Items, bei denen alle 3 Judges übereinstimmen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2823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E6F74"/>
                </a:solidFill>
                <a:latin typeface="Arial"/>
              </a:rPr>
              <a:t>NutriWise</a:t>
            </a:r>
            <a:r>
              <a:rPr sz="900" b="0" i="0">
                <a:solidFill>
                  <a:srgbClr val="6E6F74"/>
                </a:solidFill>
                <a:latin typeface="Arial"/>
              </a:rPr>
              <a:t>  ·  V1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0" y="6428232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E6F74"/>
                </a:solidFill>
                <a:latin typeface="Arial"/>
              </a:rPr>
              <a:t>08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5F7B4F"/>
                </a:solidFill>
                <a:latin typeface="Arial"/>
              </a:rPr>
              <a:t>DATEN — QUELLEN, FORM &amp; CHALLENGES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41248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900" b="1" i="0">
                <a:solidFill>
                  <a:srgbClr val="1D1D21"/>
                </a:solidFill>
                <a:latin typeface="Arial"/>
              </a:rPr>
              <a:t>Drei Datenwelten, zusammengefügt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481328"/>
            <a:ext cx="1371600" cy="41148"/>
          </a:xfrm>
          <a:prstGeom prst="rect">
            <a:avLst/>
          </a:prstGeom>
          <a:solidFill>
            <a:srgbClr val="7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783080"/>
            <a:ext cx="3319272" cy="1737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4E0"/>
            </a:solidFill>
          </a:ln>
          <a:effectLst/>
          <a:effectLst>
            <a:outerShdw blurRad="80000" dist="30000" dir="5400000" rotWithShape="0">
              <a:srgbClr val="1D1D21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911095"/>
            <a:ext cx="73152" cy="1481328"/>
          </a:xfrm>
          <a:prstGeom prst="rect">
            <a:avLst/>
          </a:prstGeom>
          <a:solidFill>
            <a:srgbClr val="7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" y="1965960"/>
            <a:ext cx="28620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D1D21"/>
                </a:solidFill>
                <a:latin typeface="Arial"/>
              </a:rPr>
              <a:t>Kassenbons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2441448"/>
            <a:ext cx="281635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6E6F74"/>
                </a:solidFill>
                <a:latin typeface="Arial"/>
              </a:rPr>
              <a:t>Echte deutsche Bons (Lidl / Netto / Edeka) → On-Device-OCR (Tesseract) → Items. Privat: keine Bondaten verlassen das Gerät.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61688" y="1783080"/>
            <a:ext cx="3319272" cy="1737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4E0"/>
            </a:solidFill>
          </a:ln>
          <a:effectLst/>
          <a:effectLst>
            <a:outerShdw blurRad="80000" dist="30000" dir="5400000" rotWithShape="0">
              <a:srgbClr val="1D1D21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61688" y="1911095"/>
            <a:ext cx="73152" cy="1481328"/>
          </a:xfrm>
          <a:prstGeom prst="rect">
            <a:avLst/>
          </a:prstGeom>
          <a:solidFill>
            <a:srgbClr val="7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54296" y="1965960"/>
            <a:ext cx="28620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D1D21"/>
                </a:solidFill>
                <a:latin typeface="Arial"/>
              </a:rPr>
              <a:t>Open Food Facts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54296" y="2441448"/>
            <a:ext cx="281635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6E6F74"/>
                </a:solidFill>
                <a:latin typeface="Arial"/>
              </a:rPr>
              <a:t>Crowdsourced-Marken-API + lokaler Cache. Erste Identitäts-Zuordnung; pro Feld lückenhaft.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00416" y="1783080"/>
            <a:ext cx="3319272" cy="1737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4E0"/>
            </a:solidFill>
          </a:ln>
          <a:effectLst/>
          <a:effectLst>
            <a:outerShdw blurRad="80000" dist="30000" dir="5400000" rotWithShape="0">
              <a:srgbClr val="1D1D21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00416" y="1911095"/>
            <a:ext cx="73152" cy="1481328"/>
          </a:xfrm>
          <a:prstGeom prst="rect">
            <a:avLst/>
          </a:prstGeom>
          <a:solidFill>
            <a:srgbClr val="5F7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93024" y="1965960"/>
            <a:ext cx="28620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D1D21"/>
                </a:solidFill>
                <a:latin typeface="Arial"/>
              </a:rPr>
              <a:t>BLS-4.0-Tabelle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93024" y="2441448"/>
            <a:ext cx="281635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6E6F74"/>
                </a:solidFill>
                <a:latin typeface="Arial"/>
              </a:rPr>
              <a:t>Deutsche Bundes-Nährwert-DB. ~7.140 Zeilen × 418 Spalten — 7 Makros + 11 Mikros extrahiert.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749039"/>
            <a:ext cx="5074920" cy="1554480"/>
          </a:xfrm>
          <a:prstGeom prst="roundRect">
            <a:avLst>
              <a:gd name="adj" fmla="val 6000"/>
            </a:avLst>
          </a:prstGeom>
          <a:solidFill>
            <a:srgbClr val="EE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388620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5F7B4F"/>
                </a:solidFill>
                <a:latin typeface="Arial"/>
              </a:rPr>
              <a:t>EVALUATIONS-SET (Form)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270248"/>
            <a:ext cx="47091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>
                <a:solidFill>
                  <a:srgbClr val="5F7B4F"/>
                </a:solidFill>
                <a:latin typeface="Arial"/>
              </a:rPr>
              <a:t>76</a:t>
            </a:r>
            <a:r>
              <a:rPr sz="1250" b="0" i="0">
                <a:solidFill>
                  <a:srgbClr val="1D1D21"/>
                </a:solidFill>
                <a:latin typeface="Arial"/>
              </a:rPr>
              <a:t> einzigartige Items   ·   </a:t>
            </a:r>
            <a:r>
              <a:rPr sz="2000" b="1" i="0">
                <a:solidFill>
                  <a:srgbClr val="5F7B4F"/>
                </a:solidFill>
                <a:latin typeface="Arial"/>
              </a:rPr>
              <a:t>227</a:t>
            </a:r>
            <a:r>
              <a:rPr sz="1250" b="0" i="0">
                <a:solidFill>
                  <a:srgbClr val="1D1D21"/>
                </a:solidFill>
                <a:latin typeface="Arial"/>
              </a:rPr>
              <a:t> Zeilen-Vorkommen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6E6F74"/>
                </a:solidFill>
                <a:latin typeface="Arial"/>
              </a:rPr>
              <a:t>13 Spalten: Rohname &amp; normalisiert, Kategorie, Vorkommen,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6E6F74"/>
                </a:solidFill>
                <a:latin typeface="Arial"/>
              </a:rPr>
              <a:t>off/bls Match-Name · Verdikt · Konsens · n_judges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26480" y="3749039"/>
            <a:ext cx="5239512" cy="1554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388620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B36A4A"/>
                </a:solidFill>
                <a:latin typeface="Arial"/>
              </a:rPr>
              <a:t>EHRLICHE DATEN-CHALLENGES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4224528"/>
            <a:ext cx="4892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36A4A"/>
                </a:solidFill>
                <a:latin typeface="Arial"/>
              </a:rPr>
              <a:t>•  </a:t>
            </a:r>
            <a:r>
              <a:rPr sz="1150" b="0" i="0">
                <a:solidFill>
                  <a:srgbClr val="1D1D21"/>
                </a:solidFill>
                <a:latin typeface="Arial"/>
              </a:rPr>
              <a:t>Kryptische OCR / Marke-vs-generisch („Budweiser“ → „Pilsner Bier“)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4562856"/>
            <a:ext cx="4892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36A4A"/>
                </a:solidFill>
                <a:latin typeface="Arial"/>
              </a:rPr>
              <a:t>•  </a:t>
            </a:r>
            <a:r>
              <a:rPr sz="1150" b="0" i="0">
                <a:solidFill>
                  <a:srgbClr val="1D1D21"/>
                </a:solidFill>
                <a:latin typeface="Arial"/>
              </a:rPr>
              <a:t>OFF-Zucker = Gesamt-, nicht freier Zucker; BLS ohne NOVA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901184"/>
            <a:ext cx="4892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36A4A"/>
                </a:solidFill>
                <a:latin typeface="Arial"/>
              </a:rPr>
              <a:t>•  </a:t>
            </a:r>
            <a:r>
              <a:rPr sz="1150" b="0" i="0">
                <a:solidFill>
                  <a:srgbClr val="1D1D21"/>
                </a:solidFill>
                <a:latin typeface="Arial"/>
              </a:rPr>
              <a:t>Dünne Nährstoff-Coverage → wenige Nährstoffe gut, nicht viele halbgar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2823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E6F74"/>
                </a:solidFill>
                <a:latin typeface="Arial"/>
              </a:rPr>
              <a:t>NutriWise</a:t>
            </a:r>
            <a:r>
              <a:rPr sz="900" b="0" i="0">
                <a:solidFill>
                  <a:srgbClr val="6E6F74"/>
                </a:solidFill>
                <a:latin typeface="Arial"/>
              </a:rPr>
              <a:t>  ·  V1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75520" y="6428232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E6F74"/>
                </a:solidFill>
                <a:latin typeface="Arial"/>
              </a:rPr>
              <a:t>09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5F7B4F"/>
                </a:solidFill>
                <a:latin typeface="Arial"/>
              </a:rPr>
              <a:t>EXPLORATIVE DATENANALYSE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41248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900" b="1" i="0">
                <a:solidFill>
                  <a:srgbClr val="1D1D21"/>
                </a:solidFill>
                <a:latin typeface="Arial"/>
              </a:rPr>
              <a:t>Wie echte Warenkörbe wirklich aussehen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481328"/>
            <a:ext cx="1371600" cy="41148"/>
          </a:xfrm>
          <a:prstGeom prst="rect">
            <a:avLst/>
          </a:prstGeom>
          <a:solidFill>
            <a:srgbClr val="7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783080"/>
            <a:ext cx="5257800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4E0"/>
            </a:solidFill>
          </a:ln>
          <a:effectLst/>
          <a:effectLst>
            <a:outerShdw blurRad="80000" dist="30000" dir="5400000" rotWithShape="0">
              <a:srgbClr val="1D1D21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eda_categories_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938528"/>
            <a:ext cx="6467517" cy="35661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263640" y="1783080"/>
            <a:ext cx="5102352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4E0"/>
            </a:solidFill>
          </a:ln>
          <a:effectLst/>
          <a:effectLst>
            <a:outerShdw blurRad="80000" dist="30000" dir="5400000" rotWithShape="0">
              <a:srgbClr val="1D1D21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eda_tail_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938528"/>
            <a:ext cx="5591387" cy="3566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22960" y="5779008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5F7B4F"/>
                </a:solidFill>
                <a:latin typeface="Arial"/>
              </a:rPr>
              <a:t>Erkenntnis:  </a:t>
            </a:r>
            <a:r>
              <a:rPr sz="1250" b="0" i="0">
                <a:solidFill>
                  <a:srgbClr val="1D1D21"/>
                </a:solidFill>
                <a:latin typeface="Arial"/>
              </a:rPr>
              <a:t>Warenkörbe sind obst-/gemüse- und milchlastig, aber der Long-Tail ist brutal — die Hälfte der Items erscheint nur einmal, der Matcher muss also generalisieren, nicht auswendig lernen.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2823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E6F74"/>
                </a:solidFill>
                <a:latin typeface="Arial"/>
              </a:rPr>
              <a:t>NutriWise</a:t>
            </a:r>
            <a:r>
              <a:rPr sz="900" b="0" i="0">
                <a:solidFill>
                  <a:srgbClr val="6E6F74"/>
                </a:solidFill>
                <a:latin typeface="Arial"/>
              </a:rPr>
              <a:t>  ·  V1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0" y="6428232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E6F74"/>
                </a:solidFill>
                <a:latin typeface="Arial"/>
              </a:rPr>
              <a:t>10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5F7B4F"/>
                </a:solidFill>
                <a:latin typeface="Arial"/>
              </a:rPr>
              <a:t>ML-WORKFLOW / DATEN-PIPELINE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41248"/>
            <a:ext cx="106984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900" b="1" i="0">
                <a:solidFill>
                  <a:srgbClr val="1D1D21"/>
                </a:solidFill>
                <a:latin typeface="Arial"/>
              </a:rPr>
              <a:t>Ein gestufter Resolver — günstig &amp; sicher zuerst, Fallback zuletzt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481328"/>
            <a:ext cx="1371600" cy="41148"/>
          </a:xfrm>
          <a:prstGeom prst="rect">
            <a:avLst/>
          </a:prstGeom>
          <a:solidFill>
            <a:srgbClr val="7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874519"/>
            <a:ext cx="2331720" cy="914400"/>
          </a:xfrm>
          <a:prstGeom prst="roundRect">
            <a:avLst>
              <a:gd name="adj" fmla="val 8000"/>
            </a:avLst>
          </a:prstGeom>
          <a:solidFill>
            <a:srgbClr val="1D1D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039112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Bon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423160"/>
            <a:ext cx="2331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B7C9A9"/>
                </a:solidFill>
                <a:latin typeface="Arial"/>
              </a:rPr>
              <a:t>Bild / 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91256" y="2057400"/>
            <a:ext cx="457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7C9A6A"/>
                </a:solidFill>
                <a:latin typeface="Arial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599" y="1874519"/>
            <a:ext cx="2331720" cy="914400"/>
          </a:xfrm>
          <a:prstGeom prst="roundRect">
            <a:avLst>
              <a:gd name="adj" fmla="val 8000"/>
            </a:avLst>
          </a:prstGeom>
          <a:solidFill>
            <a:srgbClr val="1D1D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599" y="2039112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Extraktion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599" y="2423160"/>
            <a:ext cx="2331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B7C9A9"/>
                </a:solidFill>
                <a:latin typeface="Arial"/>
              </a:rPr>
              <a:t>On-Device-OCR → Items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25895" y="2057400"/>
            <a:ext cx="457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7C9A6A"/>
                </a:solidFill>
                <a:latin typeface="Arial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92240" y="1874519"/>
            <a:ext cx="2331720" cy="914400"/>
          </a:xfrm>
          <a:prstGeom prst="roundRect">
            <a:avLst>
              <a:gd name="adj" fmla="val 8000"/>
            </a:avLst>
          </a:prstGeom>
          <a:solidFill>
            <a:srgbClr val="1D1D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2039112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Normalisieren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423160"/>
            <a:ext cx="2331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B7C9A9"/>
                </a:solidFill>
                <a:latin typeface="Arial"/>
              </a:rPr>
              <a:t>Menge · Preis · Non-Food raus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06840" y="2057400"/>
            <a:ext cx="1280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7C9A6A"/>
                </a:solidFill>
                <a:latin typeface="Arial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063240"/>
            <a:ext cx="768096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5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2960" y="3063240"/>
            <a:ext cx="1417320" cy="566928"/>
          </a:xfrm>
          <a:prstGeom prst="roundRect">
            <a:avLst>
              <a:gd name="adj" fmla="val 12000"/>
            </a:avLst>
          </a:prstGeom>
          <a:solidFill>
            <a:srgbClr val="5F7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3063240"/>
            <a:ext cx="14173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Tier 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23160" y="3063240"/>
            <a:ext cx="32918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1D1D21"/>
                </a:solidFill>
                <a:latin typeface="Arial"/>
              </a:rPr>
              <a:t>Gelernte verifizierte Matches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3063240"/>
            <a:ext cx="29260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1">
                <a:solidFill>
                  <a:srgbClr val="6E6F74"/>
                </a:solidFill>
                <a:latin typeface="Arial"/>
              </a:rPr>
              <a:t>menschlich bestätigt · Konf. 1.0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3721608"/>
            <a:ext cx="768096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5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22960" y="3721608"/>
            <a:ext cx="1417320" cy="566928"/>
          </a:xfrm>
          <a:prstGeom prst="roundRect">
            <a:avLst>
              <a:gd name="adj" fmla="val 12000"/>
            </a:avLst>
          </a:prstGeom>
          <a:solidFill>
            <a:srgbClr val="7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3721608"/>
            <a:ext cx="14173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Tier 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23160" y="3721608"/>
            <a:ext cx="32918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1D1D21"/>
                </a:solidFill>
                <a:latin typeface="Arial"/>
              </a:rPr>
              <a:t>OpenFoodFacts + Fuzzy-Match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0" y="3721608"/>
            <a:ext cx="29260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1">
                <a:solidFill>
                  <a:srgbClr val="6E6F74"/>
                </a:solidFill>
                <a:latin typeface="Arial"/>
              </a:rPr>
              <a:t>→ BLS-Bridge für DE-Nährwerte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60" y="4379976"/>
            <a:ext cx="768096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5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22960" y="4379976"/>
            <a:ext cx="1417320" cy="566928"/>
          </a:xfrm>
          <a:prstGeom prst="roundRect">
            <a:avLst>
              <a:gd name="adj" fmla="val 12000"/>
            </a:avLst>
          </a:prstGeom>
          <a:solidFill>
            <a:srgbClr val="B7C9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4379976"/>
            <a:ext cx="14173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D1D21"/>
                </a:solidFill>
                <a:latin typeface="Arial"/>
              </a:rPr>
              <a:t>Tier 1b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423160" y="4379976"/>
            <a:ext cx="32918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1D1D21"/>
                </a:solidFill>
                <a:latin typeface="Arial"/>
              </a:rPr>
              <a:t>BLS-Grundlebensmittel (Rohware)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0" y="4379976"/>
            <a:ext cx="29260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1">
                <a:solidFill>
                  <a:srgbClr val="6E6F74"/>
                </a:solidFill>
                <a:latin typeface="Arial"/>
              </a:rPr>
              <a:t>per Typ-Übereinstimmung abgesichert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2960" y="5038344"/>
            <a:ext cx="768096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5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22960" y="5038344"/>
            <a:ext cx="1417320" cy="566928"/>
          </a:xfrm>
          <a:prstGeom prst="roundRect">
            <a:avLst>
              <a:gd name="adj" fmla="val 12000"/>
            </a:avLst>
          </a:prstGeom>
          <a:solidFill>
            <a:srgbClr val="CFC9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2960" y="5038344"/>
            <a:ext cx="14173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D1D21"/>
                </a:solidFill>
                <a:latin typeface="Arial"/>
              </a:rPr>
              <a:t>Tier 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423160" y="5038344"/>
            <a:ext cx="32918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1D1D21"/>
                </a:solidFill>
                <a:latin typeface="Arial"/>
              </a:rPr>
              <a:t>Kategorie-Fallback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0" y="5038344"/>
            <a:ext cx="29260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1">
                <a:solidFill>
                  <a:srgbClr val="6E6F74"/>
                </a:solidFill>
                <a:latin typeface="Arial"/>
              </a:rPr>
              <a:t>niedrige Konfidenz · „unbekannt“ markiert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823960" y="3063240"/>
            <a:ext cx="2542032" cy="2542032"/>
          </a:xfrm>
          <a:prstGeom prst="roundRect">
            <a:avLst>
              <a:gd name="adj" fmla="val 6000"/>
            </a:avLst>
          </a:prstGeom>
          <a:solidFill>
            <a:srgbClr val="EE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06840" y="3246120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5F7B4F"/>
                </a:solidFill>
                <a:latin typeface="Arial"/>
              </a:rPr>
              <a:t>AUSGABE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06840" y="3657600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7C9A6A"/>
                </a:solidFill>
                <a:latin typeface="Arial"/>
              </a:rPr>
              <a:t>• </a:t>
            </a:r>
            <a:r>
              <a:rPr sz="1200" b="0" i="0">
                <a:solidFill>
                  <a:srgbClr val="1D1D21"/>
                </a:solidFill>
                <a:latin typeface="Arial"/>
              </a:rPr>
              <a:t>Nährwerte (Makros + Mikros)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06840" y="4142232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7C9A6A"/>
                </a:solidFill>
                <a:latin typeface="Arial"/>
              </a:rPr>
              <a:t>• </a:t>
            </a:r>
            <a:r>
              <a:rPr sz="1200" b="0" i="0">
                <a:solidFill>
                  <a:srgbClr val="1D1D21"/>
                </a:solidFill>
                <a:latin typeface="Arial"/>
              </a:rPr>
              <a:t>Konfidenz-Label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06840" y="4626864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7C9A6A"/>
                </a:solidFill>
                <a:latin typeface="Arial"/>
              </a:rPr>
              <a:t>• </a:t>
            </a:r>
            <a:r>
              <a:rPr sz="1200" b="0" i="0">
                <a:solidFill>
                  <a:srgbClr val="1D1D21"/>
                </a:solidFill>
                <a:latin typeface="Arial"/>
              </a:rPr>
              <a:t>Quellenangabe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06840" y="5111496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7C9A6A"/>
                </a:solidFill>
                <a:latin typeface="Arial"/>
              </a:rPr>
              <a:t>• </a:t>
            </a:r>
            <a:r>
              <a:rPr sz="1200" b="0" i="0">
                <a:solidFill>
                  <a:srgbClr val="1D1D21"/>
                </a:solidFill>
                <a:latin typeface="Arial"/>
              </a:rPr>
              <a:t>→ Lücken + Next Cart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2960" y="5806440"/>
            <a:ext cx="7680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1">
                <a:solidFill>
                  <a:srgbClr val="6E6F74"/>
                </a:solidFill>
                <a:latin typeface="Arial"/>
              </a:rPr>
              <a:t>Bewusst regelbasiert — kein gefittetes Modell — damit die Logik transparent &amp; vertrauenswürdig bleibt.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" y="642823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E6F74"/>
                </a:solidFill>
                <a:latin typeface="Arial"/>
              </a:rPr>
              <a:t>NutriWise</a:t>
            </a:r>
            <a:r>
              <a:rPr sz="900" b="0" i="0">
                <a:solidFill>
                  <a:srgbClr val="6E6F74"/>
                </a:solidFill>
                <a:latin typeface="Arial"/>
              </a:rPr>
              <a:t>  ·  V1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875520" y="6428232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E6F74"/>
                </a:solidFill>
                <a:latin typeface="Arial"/>
              </a:rPr>
              <a:t>11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5F7B4F"/>
                </a:solidFill>
                <a:latin typeface="Arial"/>
              </a:rPr>
              <a:t>BASELINE-MODELL &amp;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41248"/>
            <a:ext cx="106984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900" b="1" i="0">
                <a:solidFill>
                  <a:srgbClr val="1D1D21"/>
                </a:solidFill>
                <a:latin typeface="Arial"/>
              </a:rPr>
              <a:t>Zwei Matching-Strategien, direkt verglichen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481328"/>
            <a:ext cx="1371600" cy="41148"/>
          </a:xfrm>
          <a:prstGeom prst="rect">
            <a:avLst/>
          </a:prstGeom>
          <a:solidFill>
            <a:srgbClr val="7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6903720" cy="3246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4E0"/>
            </a:solidFill>
          </a:ln>
          <a:effectLst/>
          <a:effectLst>
            <a:outerShdw blurRad="80000" dist="30000" dir="5400000" rotWithShape="0">
              <a:srgbClr val="1D1D21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baseline_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920240"/>
            <a:ext cx="6629400" cy="2393847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001000" y="1737360"/>
            <a:ext cx="3364992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5E4E0"/>
            </a:solidFill>
          </a:ln>
          <a:effectLst/>
          <a:effectLst>
            <a:outerShdw blurRad="80000" dist="30000" dir="5400000" rotWithShape="0">
              <a:srgbClr val="1D1D21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01000" y="1865376"/>
            <a:ext cx="73152" cy="749808"/>
          </a:xfrm>
          <a:prstGeom prst="rect">
            <a:avLst/>
          </a:prstGeom>
          <a:solidFill>
            <a:srgbClr val="7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75320" y="1865376"/>
            <a:ext cx="2980944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2900" b="1" i="0">
                <a:solidFill>
                  <a:srgbClr val="7C9A6A"/>
                </a:solidFill>
                <a:latin typeface="Arial"/>
              </a:rPr>
              <a:t>66%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1D1D21"/>
                </a:solidFill>
                <a:latin typeface="Arial"/>
              </a:rPr>
              <a:t>OFF nutzbar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6E6F74"/>
                </a:solidFill>
                <a:latin typeface="Arial"/>
              </a:rPr>
              <a:t>korrekt + teilweise — unsere Baseline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01000" y="2852928"/>
            <a:ext cx="3364992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5E4E0"/>
            </a:solidFill>
          </a:ln>
          <a:effectLst/>
          <a:effectLst>
            <a:outerShdw blurRad="80000" dist="30000" dir="5400000" rotWithShape="0">
              <a:srgbClr val="1D1D21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1000" y="2980944"/>
            <a:ext cx="73152" cy="749808"/>
          </a:xfrm>
          <a:prstGeom prst="rect">
            <a:avLst/>
          </a:prstGeom>
          <a:solidFill>
            <a:srgbClr val="5F7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20" y="2980944"/>
            <a:ext cx="2980944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2900" b="1" i="0">
                <a:solidFill>
                  <a:srgbClr val="5F7B4F"/>
                </a:solidFill>
                <a:latin typeface="Arial"/>
              </a:rPr>
              <a:t>2×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1D1D21"/>
                </a:solidFill>
                <a:latin typeface="Arial"/>
              </a:rPr>
              <a:t>OFF schlägt BLS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6E6F74"/>
                </a:solidFill>
                <a:latin typeface="Arial"/>
              </a:rPr>
              <a:t>54% vs 32% korrekt bei Identität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01000" y="3968496"/>
            <a:ext cx="3364992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5E4E0"/>
            </a:solidFill>
          </a:ln>
          <a:effectLst/>
          <a:effectLst>
            <a:outerShdw blurRad="80000" dist="30000" dir="5400000" rotWithShape="0">
              <a:srgbClr val="1D1D21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01000" y="4096511"/>
            <a:ext cx="73152" cy="749808"/>
          </a:xfrm>
          <a:prstGeom prst="rect">
            <a:avLst/>
          </a:prstGeom>
          <a:solidFill>
            <a:srgbClr val="7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20" y="4096511"/>
            <a:ext cx="2980944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2900" b="1" i="0">
                <a:solidFill>
                  <a:srgbClr val="7C9A6A"/>
                </a:solidFill>
                <a:latin typeface="Arial"/>
              </a:rPr>
              <a:t>96%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1D1D21"/>
                </a:solidFill>
                <a:latin typeface="Arial"/>
              </a:rPr>
              <a:t>Judge-Konsens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6E6F74"/>
                </a:solidFill>
                <a:latin typeface="Arial"/>
              </a:rPr>
              <a:t>3/3 einstimmig — Metrik ist verlässlich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5138928"/>
            <a:ext cx="10543032" cy="822960"/>
          </a:xfrm>
          <a:prstGeom prst="roundRect">
            <a:avLst>
              <a:gd name="adj" fmla="val 6000"/>
            </a:avLst>
          </a:prstGeom>
          <a:solidFill>
            <a:srgbClr val="EE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5230368"/>
            <a:ext cx="100584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5F7B4F"/>
                </a:solidFill>
                <a:latin typeface="Arial"/>
              </a:rPr>
              <a:t>Warum die Architektur:  </a:t>
            </a:r>
            <a:r>
              <a:rPr sz="1300" b="0" i="0">
                <a:solidFill>
                  <a:srgbClr val="1D1D21"/>
                </a:solidFill>
                <a:latin typeface="Arial"/>
              </a:rPr>
              <a:t>OFF gewinnt bei der Identität und führt. BLS matcht schlechter (~⅓ falsches Lebensmittel), daher werden seine Nährwerte nur unter Guard geliehen — nie als primärer Matcher. 66% nutzbar liegt knapp unter der 70%-Marke.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2823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E6F74"/>
                </a:solidFill>
                <a:latin typeface="Arial"/>
              </a:rPr>
              <a:t>NutriWise</a:t>
            </a:r>
            <a:r>
              <a:rPr sz="900" b="0" i="0">
                <a:solidFill>
                  <a:srgbClr val="6E6F74"/>
                </a:solidFill>
                <a:latin typeface="Arial"/>
              </a:rPr>
              <a:t>  ·  V1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75520" y="6428232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E6F74"/>
                </a:solidFill>
                <a:latin typeface="Arial"/>
              </a:rPr>
              <a:t>12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5F7B4F"/>
                </a:solidFill>
                <a:latin typeface="Arial"/>
              </a:rPr>
              <a:t>NÄCHSTE WOCHE &amp; DARÜBER HINAUS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41248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900" b="1" i="0">
                <a:solidFill>
                  <a:srgbClr val="1D1D21"/>
                </a:solidFill>
                <a:latin typeface="Arial"/>
              </a:rPr>
              <a:t>Von der Baseline zur Vertrauenswürdigkeit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481328"/>
            <a:ext cx="1371600" cy="41148"/>
          </a:xfrm>
          <a:prstGeom prst="rect">
            <a:avLst/>
          </a:prstGeom>
          <a:solidFill>
            <a:srgbClr val="7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874519"/>
            <a:ext cx="5257800" cy="3429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4E0"/>
            </a:solidFill>
          </a:ln>
          <a:effectLst/>
          <a:effectLst>
            <a:outerShdw blurRad="80000" dist="30000" dir="5400000" rotWithShape="0">
              <a:srgbClr val="1D1D21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 Same Side Corner Rectangle 5"/>
          <p:cNvSpPr/>
          <p:nvPr/>
        </p:nvSpPr>
        <p:spPr>
          <a:xfrm>
            <a:off x="822960" y="1874519"/>
            <a:ext cx="5257800" cy="658368"/>
          </a:xfrm>
          <a:prstGeom prst="round2SameRect">
            <a:avLst>
              <a:gd name="adj1" fmla="val 6000"/>
              <a:gd name="adj2" fmla="val 0"/>
            </a:avLst>
          </a:prstGeom>
          <a:solidFill>
            <a:srgbClr val="7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947672"/>
            <a:ext cx="48006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Arial"/>
              </a:rPr>
              <a:t>Besseres Matching</a:t>
            </a:r>
          </a:p>
        </p:txBody>
      </p:sp>
      <p:sp>
        <p:nvSpPr>
          <p:cNvPr id="8" name="Oval 7"/>
          <p:cNvSpPr/>
          <p:nvPr/>
        </p:nvSpPr>
        <p:spPr>
          <a:xfrm>
            <a:off x="1143000" y="2862071"/>
            <a:ext cx="274320" cy="274320"/>
          </a:xfrm>
          <a:prstGeom prst="ellipse">
            <a:avLst/>
          </a:prstGeom>
          <a:solidFill>
            <a:srgbClr val="7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834639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2788920"/>
            <a:ext cx="4160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1D1D21"/>
                </a:solidFill>
                <a:latin typeface="Arial"/>
              </a:rPr>
              <a:t>Fuzzy-Baseline 66% → Embedding-Re-Ranker, Ziel &gt;70% nutzbar</a:t>
            </a:r>
          </a:p>
        </p:txBody>
      </p:sp>
      <p:sp>
        <p:nvSpPr>
          <p:cNvPr id="11" name="Oval 10"/>
          <p:cNvSpPr/>
          <p:nvPr/>
        </p:nvSpPr>
        <p:spPr>
          <a:xfrm>
            <a:off x="1143000" y="3703320"/>
            <a:ext cx="274320" cy="274320"/>
          </a:xfrm>
          <a:prstGeom prst="ellipse">
            <a:avLst/>
          </a:prstGeom>
          <a:solidFill>
            <a:srgbClr val="7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675887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3630168"/>
            <a:ext cx="4160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1D1D21"/>
                </a:solidFill>
                <a:latin typeface="Arial"/>
              </a:rPr>
              <a:t>Gelernter Tier-0-Store wird mit jeder Korrektur besser</a:t>
            </a:r>
          </a:p>
        </p:txBody>
      </p:sp>
      <p:sp>
        <p:nvSpPr>
          <p:cNvPr id="14" name="Oval 13"/>
          <p:cNvSpPr/>
          <p:nvPr/>
        </p:nvSpPr>
        <p:spPr>
          <a:xfrm>
            <a:off x="1143000" y="4544568"/>
            <a:ext cx="274320" cy="274320"/>
          </a:xfrm>
          <a:prstGeom prst="ellipse">
            <a:avLst/>
          </a:prstGeom>
          <a:solidFill>
            <a:srgbClr val="7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4517136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4471416"/>
            <a:ext cx="4160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1D1D21"/>
                </a:solidFill>
                <a:latin typeface="Arial"/>
              </a:rPr>
              <a:t>Personalisierte Portions- &amp; Verbrauchsschätzung (ML)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9632" y="1874519"/>
            <a:ext cx="5257800" cy="3429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4E0"/>
            </a:solidFill>
          </a:ln>
          <a:effectLst/>
          <a:effectLst>
            <a:outerShdw blurRad="80000" dist="30000" dir="5400000" rotWithShape="0">
              <a:srgbClr val="1D1D21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 Same Side Corner Rectangle 17"/>
          <p:cNvSpPr/>
          <p:nvPr/>
        </p:nvSpPr>
        <p:spPr>
          <a:xfrm>
            <a:off x="6199632" y="1874519"/>
            <a:ext cx="5257800" cy="658368"/>
          </a:xfrm>
          <a:prstGeom prst="round2SameRect">
            <a:avLst>
              <a:gd name="adj1" fmla="val 6000"/>
              <a:gd name="adj2" fmla="val 0"/>
            </a:avLst>
          </a:prstGeom>
          <a:solidFill>
            <a:srgbClr val="5F7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2" y="1947672"/>
            <a:ext cx="48006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Arial"/>
              </a:rPr>
              <a:t>Validieren &amp; wachsen</a:t>
            </a:r>
          </a:p>
        </p:txBody>
      </p:sp>
      <p:sp>
        <p:nvSpPr>
          <p:cNvPr id="20" name="Oval 19"/>
          <p:cNvSpPr/>
          <p:nvPr/>
        </p:nvSpPr>
        <p:spPr>
          <a:xfrm>
            <a:off x="6519672" y="2862071"/>
            <a:ext cx="274320" cy="274320"/>
          </a:xfrm>
          <a:prstGeom prst="ellipse">
            <a:avLst/>
          </a:prstGeom>
          <a:solidFill>
            <a:srgbClr val="5F7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19672" y="2834639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76872" y="2788920"/>
            <a:ext cx="4160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1D1D21"/>
                </a:solidFill>
                <a:latin typeface="Arial"/>
              </a:rPr>
              <a:t>Live-User-Tests — klebt die Abhak-Gewohnheit?</a:t>
            </a:r>
          </a:p>
        </p:txBody>
      </p:sp>
      <p:sp>
        <p:nvSpPr>
          <p:cNvPr id="23" name="Oval 22"/>
          <p:cNvSpPr/>
          <p:nvPr/>
        </p:nvSpPr>
        <p:spPr>
          <a:xfrm>
            <a:off x="6519672" y="3703320"/>
            <a:ext cx="274320" cy="274320"/>
          </a:xfrm>
          <a:prstGeom prst="ellipse">
            <a:avLst/>
          </a:prstGeom>
          <a:solidFill>
            <a:srgbClr val="5F7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19672" y="3675887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76872" y="3630168"/>
            <a:ext cx="4160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1D1D21"/>
                </a:solidFill>
                <a:latin typeface="Arial"/>
              </a:rPr>
              <a:t>A/B-Test: bester Moment für „was gegessen?“</a:t>
            </a:r>
          </a:p>
        </p:txBody>
      </p:sp>
      <p:sp>
        <p:nvSpPr>
          <p:cNvPr id="26" name="Oval 25"/>
          <p:cNvSpPr/>
          <p:nvPr/>
        </p:nvSpPr>
        <p:spPr>
          <a:xfrm>
            <a:off x="6519672" y="4544568"/>
            <a:ext cx="274320" cy="274320"/>
          </a:xfrm>
          <a:prstGeom prst="ellipse">
            <a:avLst/>
          </a:prstGeom>
          <a:solidFill>
            <a:srgbClr val="5F7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19672" y="4517136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76872" y="4471416"/>
            <a:ext cx="4160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1D1D21"/>
                </a:solidFill>
                <a:latin typeface="Arial"/>
              </a:rPr>
              <a:t>10-KPI-Funnel instrumentieren (Upload → Insight → Retention)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562356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5F7B4F"/>
                </a:solidFill>
                <a:latin typeface="Arial"/>
              </a:rPr>
              <a:t>Prinzip:  </a:t>
            </a:r>
            <a:r>
              <a:rPr sz="1200" b="0" i="1">
                <a:solidFill>
                  <a:srgbClr val="6E6F74"/>
                </a:solidFill>
                <a:latin typeface="Arial"/>
              </a:rPr>
              <a:t>ML dort, wo Regeln nicht generalisieren (Matching, Portionen) — Lücken &amp; Empfehlungen bleiben regelbasiert und transparent.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2823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E6F74"/>
                </a:solidFill>
                <a:latin typeface="Arial"/>
              </a:rPr>
              <a:t>NutriWise</a:t>
            </a:r>
            <a:r>
              <a:rPr sz="900" b="0" i="0">
                <a:solidFill>
                  <a:srgbClr val="6E6F74"/>
                </a:solidFill>
                <a:latin typeface="Arial"/>
              </a:rPr>
              <a:t>  ·  V1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75520" y="6428232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E6F74"/>
                </a:solidFill>
                <a:latin typeface="Arial"/>
              </a:rPr>
              <a:t>13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7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7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822960"/>
            <a:ext cx="310896" cy="310896"/>
          </a:xfrm>
          <a:prstGeom prst="roundRect">
            <a:avLst>
              <a:gd name="adj" fmla="val 30000"/>
            </a:avLst>
          </a:prstGeom>
          <a:solidFill>
            <a:srgbClr val="7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43584" y="795528"/>
            <a:ext cx="36576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D1D21"/>
                </a:solidFill>
                <a:latin typeface="Arial"/>
              </a:rPr>
              <a:t>NUTRIWISE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5000" b="1" i="0">
                <a:solidFill>
                  <a:srgbClr val="1D1D21"/>
                </a:solidFill>
                <a:latin typeface="Arial"/>
              </a:rPr>
              <a:t>Danke.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3383280"/>
            <a:ext cx="3108960" cy="41148"/>
          </a:xfrm>
          <a:prstGeom prst="rect">
            <a:avLst/>
          </a:prstGeom>
          <a:solidFill>
            <a:srgbClr val="7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361188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1">
                <a:solidFill>
                  <a:srgbClr val="5F7B4F"/>
                </a:solidFill>
                <a:latin typeface="Arial"/>
              </a:rPr>
              <a:t>Lade deinen Kassenbon hoch. Bekomm eine klügere Sache für den nächsten Einkauf.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52628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1D1D21"/>
                </a:solidFill>
                <a:latin typeface="Arial"/>
              </a:rPr>
              <a:t>Jennifer Rake</a:t>
            </a:r>
            <a:r>
              <a:rPr sz="1500" b="0" i="0">
                <a:solidFill>
                  <a:srgbClr val="6E6F74"/>
                </a:solidFill>
                <a:latin typeface="Arial"/>
              </a:rPr>
              <a:t>   &amp;   </a:t>
            </a:r>
            <a:r>
              <a:rPr sz="1500" b="1" i="0">
                <a:solidFill>
                  <a:srgbClr val="1D1D21"/>
                </a:solidFill>
                <a:latin typeface="Arial"/>
              </a:rPr>
              <a:t>Stuart Kasemeier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0" i="0">
                <a:solidFill>
                  <a:srgbClr val="6E6F74"/>
                </a:solidFill>
                <a:latin typeface="Arial"/>
              </a:rPr>
              <a:t>NutriWise  ·  AI PM Capstone  ·  Midterm V1  —  Fragen &amp; Feedback willkommen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