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[Beide — Sprecher 1 beginnt]</a:t>
            </a:r>
          </a:p>
          <a:p>
            <a:r>
              <a:t>Sprecher 1 (Stuart) eröffnet mit dem Einzeiler und stellt beide vor. Erwartung setzen: ~10–12 Min., high-level, plus kurze Live-Demo. Das ist V1 unserer finalen Präsentation. Sprecher 2 (Jennifer) übernimmt nach der Demo den Daten-/Modell-Teil.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1]</a:t>
            </a:r>
          </a:p>
          <a:p>
            <a:r>
              <a:t>Den Schmerz rahmen: Menschen wollen besser essen, aber manuelles Loggen (à la MyFitnessPal) ist anstrengend und wird abgebrochen. Zielgruppe = gesundheitsbewusst, 25–45. Kern-Insight: der Bon ist ein passiver, ehrlicher Proxy für das tatsächlich Gekaufte — kein Loggen nötig. Das ist unser Wedge.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1]</a:t>
            </a:r>
          </a:p>
          <a:p>
            <a:r>
              <a:t>Den echten Loop zeigen: Upload baut den Vorrat → du tappst, was du gegessen hast → Wochen-Lücken → zwei Empfehlungen („nutze, was du hast“ + ein Next-Cart-Kauf). Die Produktwette: ein lebendiger Vorrat plus eine klare Entscheidung schlägt ein Ernährungstagebuch. Trust-Framing: Schätzung aus Einkauf + deinen Taps, keine medizinische Beratung.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1 oder 2]</a:t>
            </a:r>
          </a:p>
          <a:p>
            <a:r>
              <a:t>Die echte Produktform auf einen Blick: dialogbasiertes Onboarding setzt die Zielwerte; der Vorrat ist der Startbildschirm, zu dem man zurückkehrt (nach Ablauf sortiert); ein Tap im Tages-Log erfasst Gegessenes; Insights macht aus einer Woche Taps Lücken und zwei Empfehlungen. Ein voll klickbarer Prototyp existiert, falls das Publikum es live sehen will.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1]</a:t>
            </a:r>
          </a:p>
          <a:p>
            <a:r>
              <a:t>Der Make-or-Break-Frühindikator ist die Abhak-Retention — überlebt der tägliche Tap die Neuheit? Wenn nicht, stirbt das gesamte Vorratsmodell, also beweisen wir das zuerst. North-Star: ≥30% ändern ihren nächsten Einkauf ohne manuelles Loggen. Ergänzend: Aktionsrate &gt;20%, Zeit bis Nutzen &lt;2 Min. Dahinter das volle 10-KPI-Framework.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1]</a:t>
            </a:r>
          </a:p>
          <a:p>
            <a:r>
              <a:t>Drei-Wochen-Sprint. FERTIG: der ganze Kern-Loop läuft end-to-end. IN ARBEIT: besseres Matching + erste 5 User-Tests + 1-Tap-Portion. NÄCHSTES: Genauigkeit über 70%, KPI-Instrumentierung. Und statt es nur zu erzählen — ich zeige euch den aktuellen 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1 → übergibt an Sprecher 2]</a:t>
            </a:r>
          </a:p>
          <a:p>
            <a:r>
              <a:t>LIVE-DEMO (~2 Min). Zuerst den Positioning-Satz, dann: Onboarding-Chat (Profil) → Bon hochladen (On-Device-OCR — betonen: privat, keine API-Quota, offline) → auf dem Vorrat landen (das Home) → Gegessenes per Tap loggen → Insights: Wochen-Lücken + „nutze, was du hast“ + Next Cart → Nutri-Coach-Formulierung + DSGVO-Löschung. HINWEIS: Bons hängen nicht mehr an Gemini, dort kein Quota-Risiko. Nur der Nutri-Coach nutzt Gemini (nur Formulierung) — bei erschöpftem Tageslimit funktionieren Zahlen &amp; Empfehlung weiter, nur der Text degradiert. Dann Übergabe an Sprecher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2]</a:t>
            </a:r>
          </a:p>
          <a:p>
            <a:r>
              <a:t>Sprecher 2 (Jennifer) übernimmt. Klar sagen: das ist KEIN klassisches Supervised-ML-Projekt — es ist regelbasiert / LLM-Hybrid. Kernaufgabe: kryptischen Bon-Text wie „AB Bud 6x0,3l MW“ auf ein echtes Lebensmittel matchen. Es gibt keine Ground Truth, also ist unsere Evaluation ein LLM-Judge-Panel: 3 unabhängige Judges, Mehrheitsentscheid. Zwei Zahlen: Precision (korrekt/nutzbar) und Judge-Konsens (vertrauen wir der Metrik selbst). Produktziel: ≥70% der Items nutzbar.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2]</a:t>
            </a:r>
          </a:p>
          <a:p>
            <a:r>
              <a:t>Drei Datenwelten: (1) echte deutsche Bons → On-Device-OCR (Tesseract) → Items — privat, keine API, keine Quota, (2) Open Food Facts als erste Identitäts-Zuordnung, (3) die deutsche Bundes-BLS-4.0-Tabelle (7.140 Zeilen, wir ziehen 7 Makros + 11 Mikros) für die Nährwerte. Eval-Set: 76 Items aus 227 echten Vorkommen, 13 Spalten. Die Challenges SIND die Story — kryptische OCR, Marke-vs-generisch, OFF-Zucker ist Gesamt- statt freier Zucker, BLS ohne Processing-Rating, dünne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2]</a:t>
            </a:r>
          </a:p>
          <a:p>
            <a:r>
              <a:t>Ehrlich anmerken: diese Plots gab es im Repo nicht — wir haben sie für dieses Deck aus den Evaluationsdaten gebaut. Zwei Befunde: links Käufe stark bei Obst/Gemüse &amp; Milch (die Basics); rechts ein Long-Tail — 50% der Items erscheinen nur einmal. Wir können also nicht auswendig lernen; der Matcher muss auf einmalige, kryptisch abgekürzte Produkte generalisieren. Das prägte die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2]</a:t>
            </a:r>
          </a:p>
          <a:p>
            <a:r>
              <a:t>Wegen des Long-Tails nutzen wir kein einzelnes Modell — sondern einen gestuften Resolver. Bon → On-Device-OCR (Tesseract, ersetzt Gemini — privat, keine Quota) → Normalisierung. Dann vier Tiers, günstigste/sicherste zuerst: Tier 0 menschlich verifiziert, Tier 1 OFF-Fuzzy-Match mit Bridge zu deutschen BLS-Nährwerten, Tier 1b Rohware, Tier 3 ehrlicher Low-Confidence-Kategorie-Fallback. Jede Ausgabe trägt Nährwerte + Konfidenz + Quelle. Klar sagen: bewusst regelbasiert — Regeln sind transparenter und vertrauenswürdiger als eine Blackbox für ein Gesundheits-MVP. Kein gefittetes Modell im Matching-Pfad; die einzige LLM (Gemini) ist der Nutri-Coach, der nur formuliert.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2]</a:t>
            </a:r>
          </a:p>
          <a:p>
            <a:r>
              <a:t>Wichtige Klarstellung: das sind zwei UNABHÄNGIGE Matching-Strategien im direkten Vergleich, KEINE kumulative Verbesserung. Vom Panel bewertet: OpenFoodFacts-Identitäts-Match = 54% korrekt / 66% nutzbar; die BLS-Tabelle allein = nur 32% korrekt, 36% falsch. Judge-Konsens 96% einstimmig, also vertrauen wir der Zahl. Genau dieser Vergleich ist der Grund, warum die Architektur OFF für die Identität nutzt und BLS-Nährwerte nur unter Typ-Übereinstimmungs-Guard leiht — eine lose Bridge würde BLS' ~33%-Falschlebensmittel-Problem zurückbringen. 66% nutzbar liegt knapp unter der 70%-Marke — genau diese Lücke schließt der gelernte Tier-0-Store.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[Sprecher 2]</a:t>
            </a:r>
          </a:p>
          <a:p>
            <a:r>
              <a:t>Zwei Tracks nächste Woche. Matching: den Resolver zum lernenden System machen — jede Nutzerkorrektur füttert den Tier-0-Store — plus bessere Normalisierung, um über 70% nutzbar zu kommen. Produkt: Live-User-Tests starten und den KPI-Funnel instrumentieren, damit wir die Trust-Hypothese mit echtem Verhalten validieren, nicht nur mit einer steigenden Genauigkeitszahl.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[Beide]</a:t>
            </a:r>
          </a:p>
          <a:p>
            <a:r>
              <a:t>Mit dem Einzeiler schließen und Fragen einladen. Bei Nachfragen zur Genauigkeit: ehrliche Baseline (OFF 66% nutzbar), klarer Plan (gelernter Tier-0) zum Schließen der Lücke — und die schwierigere Validierungsfrage ist Vertrauen/Verhalten, die als Nächstes die Live-User-Tests beantworten.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53535" cy="6729984"/>
          </a:xfrm>
          <a:prstGeom prst="rect">
            <a:avLst/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3584" y="749808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1D21"/>
                </a:solidFill>
                <a:latin typeface="Arial"/>
              </a:rPr>
              <a:t>NUTRIWISE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7315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1D1D21"/>
                </a:solidFill>
                <a:latin typeface="Arial"/>
              </a:rPr>
              <a:t>Lade deinen Kassenbon hoch.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5F7B4F"/>
                </a:solidFill>
                <a:latin typeface="Arial"/>
              </a:rPr>
              <a:t>Bekomm eine klügere Sache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5F7B4F"/>
                </a:solidFill>
                <a:latin typeface="Arial"/>
              </a:rPr>
              <a:t>für den nächsten Einkauf.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160520"/>
            <a:ext cx="310896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389120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6E6F74"/>
                </a:solidFill>
                <a:latin typeface="Arial"/>
              </a:rPr>
              <a:t>Ein Kassenbon-basierter Ernährungsassistent — dein Vorrat arbeitet für dich: abhaken statt tippen.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7132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Jennifer Rake</a:t>
            </a:r>
            <a:r>
              <a:rPr sz="1300" b="1" i="0">
                <a:solidFill>
                  <a:srgbClr val="5F7B4F"/>
                </a:solidFill>
                <a:latin typeface="Arial"/>
              </a:rPr>
              <a:t>  · Sprecher 2      </a:t>
            </a:r>
            <a:r>
              <a:rPr sz="1500" b="1" i="0">
                <a:solidFill>
                  <a:srgbClr val="1D1D21"/>
                </a:solidFill>
                <a:latin typeface="Arial"/>
              </a:rPr>
              <a:t>Stuart Kasemeier</a:t>
            </a:r>
            <a:r>
              <a:rPr sz="1300" b="1" i="0">
                <a:solidFill>
                  <a:srgbClr val="6E6F74"/>
                </a:solidFill>
                <a:latin typeface="Arial"/>
              </a:rPr>
              <a:t>  · Sprecher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AI Product Management Capstone  ·  Midterm-Präsentation  ·  Version 1</a:t>
            </a:r>
          </a:p>
        </p:txBody>
      </p:sp>
      <p:sp>
        <p:nvSpPr>
          <p:cNvPr id="10" name="Oval 9"/>
          <p:cNvSpPr/>
          <p:nvPr/>
        </p:nvSpPr>
        <p:spPr>
          <a:xfrm>
            <a:off x="8686800" y="2148840"/>
            <a:ext cx="237744" cy="237744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2093976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D1D21"/>
                </a:solidFill>
                <a:latin typeface="Arial"/>
              </a:rPr>
              <a:t>Onboarding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96528" y="2423160"/>
            <a:ext cx="18288" cy="548640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0" y="2990088"/>
            <a:ext cx="237744" cy="237744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2935224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D1D21"/>
                </a:solidFill>
                <a:latin typeface="Arial"/>
              </a:rPr>
              <a:t>Vorrat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96528" y="3264408"/>
            <a:ext cx="18288" cy="548640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0" y="3831336"/>
            <a:ext cx="237744" cy="237744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3776472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D1D21"/>
                </a:solidFill>
                <a:latin typeface="Arial"/>
              </a:rPr>
              <a:t>Abhaken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96528" y="4105656"/>
            <a:ext cx="18288" cy="548640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0" y="4672584"/>
            <a:ext cx="237744" cy="237744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4617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D1D21"/>
                </a:solidFill>
                <a:latin typeface="Arial"/>
              </a:rPr>
              <a:t>Insights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DAS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Gesund essen sollte keine Tabelle erfordern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5778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D1D21"/>
                </a:solidFill>
                <a:latin typeface="Arial"/>
              </a:rPr>
              <a:t>Gesundheitsbewusste Erwachsene (25–45) wollen besser essen — aber jedes Tool verlangt, </a:t>
            </a:r>
            <a:r>
              <a:rPr sz="1550" b="1" i="0">
                <a:solidFill>
                  <a:srgbClr val="1D1D21"/>
                </a:solidFill>
                <a:latin typeface="Arial"/>
              </a:rPr>
              <a:t>jede Mahlzeit von Hand zu erfassen.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D1D21"/>
                </a:solidFill>
                <a:latin typeface="Arial"/>
              </a:rPr>
              <a:t>Diese Gewohnheit stirbt in Wochen. Man gibt auf — oder rät.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/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D1D21"/>
                </a:solidFill>
                <a:latin typeface="Arial"/>
              </a:rPr>
              <a:t>Dabei existiert der eine ehrliche Beleg dessen, was wirklich gegessen wird, längst — </a:t>
            </a:r>
            <a:r>
              <a:rPr sz="1550" b="1" i="0">
                <a:solidFill>
                  <a:srgbClr val="5F7B4F"/>
                </a:solidFill>
                <a:latin typeface="Arial"/>
              </a:rPr>
              <a:t>der Kassenbon.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83080"/>
            <a:ext cx="4617720" cy="3520440"/>
          </a:xfrm>
          <a:prstGeom prst="roundRect">
            <a:avLst>
              <a:gd name="adj" fmla="val 5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86600" y="201168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F7B4F"/>
                </a:solidFill>
                <a:latin typeface="Arial"/>
              </a:rPr>
              <a:t>WARUM ES ZÄHLT</a:t>
            </a:r>
          </a:p>
        </p:txBody>
      </p:sp>
      <p:sp>
        <p:nvSpPr>
          <p:cNvPr id="8" name="Oval 7"/>
          <p:cNvSpPr/>
          <p:nvPr/>
        </p:nvSpPr>
        <p:spPr>
          <a:xfrm>
            <a:off x="7086600" y="2478024"/>
            <a:ext cx="310896" cy="310896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404872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Manuelles Erfassen ist Grund #1, warum Ernährungs-Apps abgebrochen werden</a:t>
            </a:r>
          </a:p>
        </p:txBody>
      </p:sp>
      <p:sp>
        <p:nvSpPr>
          <p:cNvPr id="11" name="Oval 10"/>
          <p:cNvSpPr/>
          <p:nvPr/>
        </p:nvSpPr>
        <p:spPr>
          <a:xfrm>
            <a:off x="7086600" y="3392424"/>
            <a:ext cx="310896" cy="310896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319272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Kassenbons sind passiv — null Zusatzaufwand für den User</a:t>
            </a:r>
          </a:p>
        </p:txBody>
      </p:sp>
      <p:sp>
        <p:nvSpPr>
          <p:cNvPr id="14" name="Oval 13"/>
          <p:cNvSpPr/>
          <p:nvPr/>
        </p:nvSpPr>
        <p:spPr>
          <a:xfrm>
            <a:off x="7086600" y="4306824"/>
            <a:ext cx="310896" cy="310896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42702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4233672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Eine klare „nächster Einkauf“-Entscheidung schlägt ein weiteres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DIE LÖSUNG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Ein Bon rein → ein Vorrat, der für dich arbeitet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2615184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 Same Side Corner Rectangle 5"/>
          <p:cNvSpPr/>
          <p:nvPr/>
        </p:nvSpPr>
        <p:spPr>
          <a:xfrm>
            <a:off x="822960" y="1920240"/>
            <a:ext cx="2615184" cy="65836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93392"/>
            <a:ext cx="26151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SCHRITT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61488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1D21"/>
                </a:solidFill>
                <a:latin typeface="Arial"/>
              </a:rPr>
              <a:t>Upload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10128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Bon fotografieren/einfügen — On-Device-OCR baut deinen Vorrat. Privat, keine API, offline.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9856" y="3017520"/>
            <a:ext cx="310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599" y="1920240"/>
            <a:ext cx="2615184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3657599" y="1920240"/>
            <a:ext cx="2615184" cy="65836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599" y="1993392"/>
            <a:ext cx="26151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SCHRITT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761488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1D21"/>
                </a:solidFill>
                <a:latin typeface="Arial"/>
              </a:rPr>
              <a:t>Dein Vorrat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3310128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Was im Haus ist, nach Frische sortiert — kein manuelles Erfassen.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3017520"/>
            <a:ext cx="310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1920240"/>
            <a:ext cx="2615184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492240" y="1920240"/>
            <a:ext cx="2615184" cy="65836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993392"/>
            <a:ext cx="26151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SCHRITT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761488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1D21"/>
                </a:solidFill>
                <a:latin typeface="Arial"/>
              </a:rPr>
              <a:t>Abhaken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310128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Ein Tap erfasst, was du wirklich gegessen hast — dein echtes Ist-Signal.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9136" y="3017520"/>
            <a:ext cx="3108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1920240"/>
            <a:ext cx="2615184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9326880" y="1920240"/>
            <a:ext cx="2615184" cy="65836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993392"/>
            <a:ext cx="261518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SCHRITT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2761488"/>
            <a:ext cx="21579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1D21"/>
                </a:solidFill>
                <a:latin typeface="Arial"/>
              </a:rPr>
              <a:t>Lücken + Tipp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3310128"/>
            <a:ext cx="215798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Wochen-Lücken → „nutze, was du hast“ + ein Next-Cart-Kauf, je mit klarer Begründung.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1663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1D1D21"/>
                </a:solidFill>
                <a:latin typeface="Arial"/>
              </a:rPr>
              <a:t>Alles ist gekennzeichnet als </a:t>
            </a:r>
            <a:r>
              <a:rPr sz="1350" b="1" i="1">
                <a:solidFill>
                  <a:srgbClr val="5F7B4F"/>
                </a:solidFill>
                <a:latin typeface="Arial"/>
              </a:rPr>
              <a:t>„Schätzung aus Einkauf + deinen Taps.“</a:t>
            </a:r>
            <a:r>
              <a:rPr sz="1350" b="0" i="1">
                <a:solidFill>
                  <a:srgbClr val="1D1D21"/>
                </a:solidFill>
                <a:latin typeface="Arial"/>
              </a:rPr>
              <a:t>  Keine medizinische Beratung.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DAS PRODUKT HEUTE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D1D21"/>
                </a:solidFill>
                <a:latin typeface="Arial"/>
              </a:rPr>
              <a:t>Vom Bon zur täglichen Gewohnheit — die User-Journey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18688" y="3246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34455" y="3246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0224" y="3246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7C9A6A"/>
                </a:solidFill>
                <a:latin typeface="Arial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D1D21"/>
                </a:solidFill>
                <a:latin typeface="Arial"/>
              </a:rPr>
              <a:t>1 · Onboarding-Chat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F74"/>
                </a:solidFill>
                <a:latin typeface="Arial"/>
              </a:rPr>
              <a:t>dialogbasiertes Profil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84448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D1D21"/>
                </a:solidFill>
                <a:latin typeface="Arial"/>
              </a:rPr>
              <a:t>2 · Dein Vorrat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F74"/>
                </a:solidFill>
                <a:latin typeface="Arial"/>
              </a:rPr>
              <a:t>Home · Ablauf-bewusst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216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D1D21"/>
                </a:solidFill>
                <a:latin typeface="Arial"/>
              </a:rPr>
              <a:t>3 · Tages-Log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F74"/>
                </a:solidFill>
                <a:latin typeface="Arial"/>
              </a:rPr>
              <a:t>1 Tap = 1 Portion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15984" y="5230368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D1D21"/>
                </a:solidFill>
                <a:latin typeface="Arial"/>
              </a:rPr>
              <a:t>4 · Insights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F74"/>
                </a:solidFill>
                <a:latin typeface="Arial"/>
              </a:rPr>
              <a:t>Wochen-Lücken + Tipps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20240"/>
            <a:ext cx="233172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868680" y="1920240"/>
            <a:ext cx="2331720" cy="457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965960"/>
            <a:ext cx="2057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NutriWise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2578608"/>
            <a:ext cx="1417320" cy="365760"/>
          </a:xfrm>
          <a:prstGeom prst="roundRect">
            <a:avLst>
              <a:gd name="adj" fmla="val 45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2596896"/>
            <a:ext cx="12801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1D1D21"/>
                </a:solidFill>
                <a:latin typeface="Arial"/>
              </a:rPr>
              <a:t>Dein Ziel?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00200" y="3054096"/>
            <a:ext cx="1417320" cy="365760"/>
          </a:xfrm>
          <a:prstGeom prst="roundRect">
            <a:avLst>
              <a:gd name="adj" fmla="val 45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19072" y="3072384"/>
            <a:ext cx="12801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 i="0">
                <a:solidFill>
                  <a:srgbClr val="FFFFFF"/>
                </a:solidFill>
                <a:latin typeface="Arial"/>
              </a:rPr>
              <a:t>Gesünder essen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3675887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9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694176"/>
            <a:ext cx="60350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5F7B4F"/>
                </a:solidFill>
                <a:latin typeface="Arial"/>
              </a:rPr>
              <a:t>Wenig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09928" y="3675887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9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09928" y="3694176"/>
            <a:ext cx="60350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5F7B4F"/>
                </a:solidFill>
                <a:latin typeface="Arial"/>
              </a:rPr>
              <a:t>Mittel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68296" y="3675887"/>
            <a:ext cx="60350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C9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8296" y="3694176"/>
            <a:ext cx="60350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5F7B4F"/>
                </a:solidFill>
                <a:latin typeface="Arial"/>
              </a:rPr>
              <a:t>Hoch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60" y="4297680"/>
            <a:ext cx="128016" cy="45720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34439" y="4297680"/>
            <a:ext cx="128016" cy="45720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17319" y="4297680"/>
            <a:ext cx="128016" cy="45720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00200" y="4297680"/>
            <a:ext cx="128016" cy="45720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584448" y="1920240"/>
            <a:ext cx="233172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3584448" y="1920240"/>
            <a:ext cx="2331720" cy="457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67328" y="1965960"/>
            <a:ext cx="2057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Dein Vorrat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67328" y="2542032"/>
            <a:ext cx="1965960" cy="502920"/>
          </a:xfrm>
          <a:prstGeom prst="roundRect">
            <a:avLst>
              <a:gd name="adj" fmla="val 20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2578608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00" b="1" i="0">
                <a:solidFill>
                  <a:srgbClr val="5F7B4F"/>
                </a:solidFill>
                <a:latin typeface="Arial"/>
              </a:rPr>
              <a:t>EMPFOHLEN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D1D21"/>
                </a:solidFill>
                <a:latin typeface="Arial"/>
              </a:rPr>
              <a:t>🥛 Trink deine Buttermilch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67328" y="3218688"/>
            <a:ext cx="19659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321868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1D1D21"/>
                </a:solidFill>
                <a:latin typeface="Arial"/>
              </a:rPr>
              <a:t>🍗 Hähnchenbrust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38928" y="321868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B36A4A"/>
                </a:solidFill>
                <a:latin typeface="Arial"/>
              </a:rPr>
              <a:t>1 Tag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67328" y="3767328"/>
            <a:ext cx="19659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86200" y="37673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1D1D21"/>
                </a:solidFill>
                <a:latin typeface="Arial"/>
              </a:rPr>
              <a:t>🥛 Buttermilch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38928" y="376732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B36A4A"/>
                </a:solidFill>
                <a:latin typeface="Arial"/>
              </a:rPr>
              <a:t>2 Tage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67328" y="4315968"/>
            <a:ext cx="19659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431596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1D1D21"/>
                </a:solidFill>
                <a:latin typeface="Arial"/>
              </a:rPr>
              <a:t>🥦 Brokkoli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38928" y="431596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 i="0">
                <a:solidFill>
                  <a:srgbClr val="5F7B4F"/>
                </a:solidFill>
                <a:latin typeface="Arial"/>
              </a:rPr>
              <a:t>frisch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00216" y="1920240"/>
            <a:ext cx="233172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6300216" y="1920240"/>
            <a:ext cx="2331720" cy="457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83096" y="1965960"/>
            <a:ext cx="2057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Tages-Log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83096" y="2670048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1D1D21"/>
                </a:solidFill>
                <a:latin typeface="Arial"/>
              </a:rPr>
              <a:t>Protein</a:t>
            </a:r>
            <a:r>
              <a:rPr sz="700" b="0" i="0">
                <a:solidFill>
                  <a:srgbClr val="6E6F74"/>
                </a:solidFill>
                <a:latin typeface="Arial"/>
              </a:rPr>
              <a:t>   62 / 120 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83096" y="2944368"/>
            <a:ext cx="1965960" cy="128016"/>
          </a:xfrm>
          <a:prstGeom prst="roundRect">
            <a:avLst>
              <a:gd name="adj" fmla="val 50000"/>
            </a:avLst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83096" y="2944368"/>
            <a:ext cx="1022299" cy="128016"/>
          </a:xfrm>
          <a:prstGeom prst="roundRect">
            <a:avLst>
              <a:gd name="adj" fmla="val 50000"/>
            </a:avLst>
          </a:prstGeom>
          <a:solidFill>
            <a:srgbClr val="B3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83096" y="338328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1D1D21"/>
                </a:solidFill>
                <a:latin typeface="Arial"/>
              </a:rPr>
              <a:t>Ballaststoffe</a:t>
            </a:r>
            <a:r>
              <a:rPr sz="700" b="0" i="0">
                <a:solidFill>
                  <a:srgbClr val="6E6F74"/>
                </a:solidFill>
                <a:latin typeface="Arial"/>
              </a:rPr>
              <a:t>   11 / 30 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83096" y="3657600"/>
            <a:ext cx="1965960" cy="128016"/>
          </a:xfrm>
          <a:prstGeom prst="roundRect">
            <a:avLst>
              <a:gd name="adj" fmla="val 50000"/>
            </a:avLst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483096" y="3657600"/>
            <a:ext cx="727405" cy="128016"/>
          </a:xfrm>
          <a:prstGeom prst="roundRect">
            <a:avLst>
              <a:gd name="adj" fmla="val 50000"/>
            </a:avLst>
          </a:prstGeom>
          <a:solidFill>
            <a:srgbClr val="B36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83096" y="4096512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1" i="0">
                <a:solidFill>
                  <a:srgbClr val="1D1D21"/>
                </a:solidFill>
                <a:latin typeface="Arial"/>
              </a:rPr>
              <a:t>Kalorien</a:t>
            </a:r>
            <a:r>
              <a:rPr sz="700" b="0" i="0">
                <a:solidFill>
                  <a:srgbClr val="6E6F74"/>
                </a:solidFill>
                <a:latin typeface="Arial"/>
              </a:rPr>
              <a:t>   1.340 / 2.100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83096" y="4370832"/>
            <a:ext cx="1965960" cy="128016"/>
          </a:xfrm>
          <a:prstGeom prst="roundRect">
            <a:avLst>
              <a:gd name="adj" fmla="val 50000"/>
            </a:avLst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83096" y="4370832"/>
            <a:ext cx="1258214" cy="128016"/>
          </a:xfrm>
          <a:prstGeom prst="roundRect">
            <a:avLst>
              <a:gd name="adj" fmla="val 50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015984" y="1920240"/>
            <a:ext cx="233172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9015984" y="1920240"/>
            <a:ext cx="2331720" cy="457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98863" y="1965960"/>
            <a:ext cx="2057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Insights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98863" y="2523744"/>
            <a:ext cx="1965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5F7B4F"/>
                </a:solidFill>
                <a:latin typeface="Arial"/>
              </a:rPr>
              <a:t>72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98863" y="312724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E6F74"/>
                </a:solidFill>
                <a:latin typeface="Arial"/>
              </a:rPr>
              <a:t>Wochen-Score · Gut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98863" y="3493008"/>
            <a:ext cx="9326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99447" y="3493008"/>
            <a:ext cx="777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>Protein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36A4A"/>
                </a:solidFill>
                <a:latin typeface="Arial"/>
              </a:rPr>
              <a:t>niedrig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04703" y="3493008"/>
            <a:ext cx="9326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305287" y="3493008"/>
            <a:ext cx="777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>Ballastst.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36A4A"/>
                </a:solidFill>
                <a:latin typeface="Arial"/>
              </a:rPr>
              <a:t>niedrig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8863" y="4059936"/>
            <a:ext cx="9326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299447" y="4059936"/>
            <a:ext cx="777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>Zucker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5F7B4F"/>
                </a:solidFill>
                <a:latin typeface="Arial"/>
              </a:rPr>
              <a:t>ok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204703" y="4059936"/>
            <a:ext cx="93268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7620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305287" y="4059936"/>
            <a:ext cx="777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1D1D21"/>
                </a:solidFill>
                <a:latin typeface="Arial"/>
              </a:rPr>
              <a:t>Kalorien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5F7B4F"/>
                </a:solidFill>
                <a:latin typeface="Arial"/>
              </a:rPr>
              <a:t>ok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629107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E6F74"/>
                </a:solidFill>
                <a:latin typeface="Arial"/>
              </a:rPr>
              <a:t>Voll klickbarer Prototyp — Salbeigrün-Corporate-Design, hell &amp; dunkel.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ERFOLGSKRITERIEN &amp; KPIS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Woran wir Erfolg messen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E6F74"/>
                </a:solidFill>
                <a:latin typeface="Arial"/>
              </a:rPr>
              <a:t>Kernhypothese: </a:t>
            </a:r>
            <a:r>
              <a:rPr sz="1400" b="1" i="0">
                <a:solidFill>
                  <a:srgbClr val="1D1D21"/>
                </a:solidFill>
                <a:latin typeface="Arial"/>
              </a:rPr>
              <a:t>Vertrauen Nutzer einer aus dem Bon abgeleiteten Empfehlung genug, um zu handeln — und klebt das Abhaken?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261518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68296"/>
            <a:ext cx="73152" cy="1572768"/>
          </a:xfrm>
          <a:prstGeom prst="rect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68296"/>
            <a:ext cx="2231136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5F7B4F"/>
                </a:solidFill>
                <a:latin typeface="Arial"/>
              </a:rPr>
              <a:t>Woche 1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Abhaken klebt?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Make-or-Break — überlebt das Tippen die Neuheit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599" y="2240280"/>
            <a:ext cx="261518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9" y="2368296"/>
            <a:ext cx="73152" cy="157276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2368296"/>
            <a:ext cx="2231136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30%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Verhalten ändert sich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passen den nächsten Einkauf an unseren Tipp 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240280"/>
            <a:ext cx="261518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368296"/>
            <a:ext cx="73152" cy="157276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2368296"/>
            <a:ext cx="2231136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&gt;20%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Empfehlung befolgt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als „erledigt“ markiert, nicht ungelesen verworfen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2240280"/>
            <a:ext cx="261518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26880" y="2368296"/>
            <a:ext cx="73152" cy="157276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2368296"/>
            <a:ext cx="2231136" cy="1591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&lt;2 Min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Zeit bis Nutzen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vom Upload zum ersten personalisierten Ergebnis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34840"/>
            <a:ext cx="10543032" cy="1234440"/>
          </a:xfrm>
          <a:prstGeom prst="roundRect">
            <a:avLst>
              <a:gd name="adj" fmla="val 6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590288"/>
            <a:ext cx="100584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F7B4F"/>
                </a:solidFill>
                <a:latin typeface="Arial"/>
              </a:rPr>
              <a:t>Das Abhaken entscheidet über alles.  </a:t>
            </a:r>
            <a:r>
              <a:rPr sz="1350" b="0" i="0">
                <a:solidFill>
                  <a:srgbClr val="1D1D21"/>
                </a:solidFill>
                <a:latin typeface="Arial"/>
              </a:rPr>
              <a:t>Überlebt das Tippen Woche 1 nicht, veralten Vorrat und Empfehlungen — also beweisen wir zuerst diesen Loop und legen dann den vollen 10-KPI-Funnel über Verhalten, Business und Zufriedenheit.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ROADMAP &amp; MEILENSTEINE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Wo wir stehen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3044952"/>
            <a:ext cx="10241280" cy="45720"/>
          </a:xfrm>
          <a:prstGeom prst="rect">
            <a:avLst/>
          </a:prstGeom>
          <a:solidFill>
            <a:srgbClr val="E5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46604" y="2935224"/>
            <a:ext cx="274320" cy="274320"/>
          </a:xfrm>
          <a:prstGeom prst="ellipse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103120"/>
            <a:ext cx="1825599" cy="402336"/>
          </a:xfrm>
          <a:prstGeom prst="roundRect">
            <a:avLst>
              <a:gd name="adj" fmla="val 50000"/>
            </a:avLst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21408"/>
            <a:ext cx="18255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FERTIG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1017" y="2130552"/>
            <a:ext cx="16596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E6F74"/>
                </a:solidFill>
                <a:latin typeface="Arial"/>
              </a:rPr>
              <a:t>Woche 1–2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520440"/>
            <a:ext cx="331927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581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739896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On-Device-OCR → Vorrat → Lücken → Empfehlung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2428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224528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Tages-Log (Abhaken) + Ablauf-bewusster Vorrat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274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709160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Rezepte, Easy Swaps, Progress-Tracking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2120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193792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Nutri-Coach + transparente Leerzustände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696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678424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DSGVO-Export/Löschung · Engagement-Banner · DE/EN</a:t>
            </a:r>
          </a:p>
        </p:txBody>
      </p:sp>
      <p:sp>
        <p:nvSpPr>
          <p:cNvPr id="21" name="Oval 20"/>
          <p:cNvSpPr/>
          <p:nvPr/>
        </p:nvSpPr>
        <p:spPr>
          <a:xfrm>
            <a:off x="6085332" y="2935224"/>
            <a:ext cx="274320" cy="27432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44568" y="2103120"/>
            <a:ext cx="1825599" cy="402336"/>
          </a:xfrm>
          <a:prstGeom prst="roundRect">
            <a:avLst>
              <a:gd name="adj" fmla="val 50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2121408"/>
            <a:ext cx="18255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IN ARBEIT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9745" y="2130552"/>
            <a:ext cx="16596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E6F74"/>
                </a:solidFill>
                <a:latin typeface="Arial"/>
              </a:rPr>
              <a:t>Jetzt — Woche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3520440"/>
            <a:ext cx="331927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18888" y="37581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9A6A"/>
                </a:solidFill>
                <a:latin typeface="Arial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4648" y="3739896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1-Tap-Portion — Reibung senken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8888" y="42428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9A6A"/>
                </a:solidFill>
                <a:latin typeface="Arial"/>
              </a:rPr>
              <a:t>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4648" y="4224528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Besseres Matching (gelernter Tier-0 + Normalisierung)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47274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9A6A"/>
                </a:solidFill>
                <a:latin typeface="Arial"/>
              </a:rPr>
              <a:t>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4648" y="4709160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A/B-Test: wann nach „was gegessen?“ fragen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18888" y="521208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C9A6A"/>
                </a:solidFill>
                <a:latin typeface="Arial"/>
              </a:rPr>
              <a:t>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4648" y="5193792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Live-User-Tests + Abhak-Retention</a:t>
            </a:r>
          </a:p>
        </p:txBody>
      </p:sp>
      <p:sp>
        <p:nvSpPr>
          <p:cNvPr id="34" name="Oval 33"/>
          <p:cNvSpPr/>
          <p:nvPr/>
        </p:nvSpPr>
        <p:spPr>
          <a:xfrm>
            <a:off x="9624059" y="2935224"/>
            <a:ext cx="274320" cy="274320"/>
          </a:xfrm>
          <a:prstGeom prst="ellipse">
            <a:avLst/>
          </a:prstGeom>
          <a:solidFill>
            <a:srgbClr val="6E6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83296" y="2103120"/>
            <a:ext cx="1825599" cy="402336"/>
          </a:xfrm>
          <a:prstGeom prst="roundRect">
            <a:avLst>
              <a:gd name="adj" fmla="val 50000"/>
            </a:avLst>
          </a:prstGeom>
          <a:solidFill>
            <a:srgbClr val="6E6F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83296" y="2121408"/>
            <a:ext cx="18255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NÄCHSTES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08473" y="2130552"/>
            <a:ext cx="16596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6E6F74"/>
                </a:solidFill>
                <a:latin typeface="Arial"/>
              </a:rPr>
              <a:t>Nach Midterm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520440"/>
            <a:ext cx="3319272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7616" y="37581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E6F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23376" y="3739896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Advanced-Matching (Embeddings) über 70 %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57616" y="42428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E6F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4224528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10-KPI-Funnel instrumentieren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57616" y="47274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E6F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23376" y="4709160"/>
            <a:ext cx="245059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D1D21"/>
                </a:solidFill>
                <a:latin typeface="Arial"/>
              </a:rPr>
              <a:t>Wochen-/Monats-Trends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LIVE-DEMO — DER AKTUELLE 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Einmal komplett durch — an einem echten Bon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874519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5623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37943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Onboarding-Chat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dialogbasiertes Profil — Ziel, Bedarf, Ausschlüsse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3272" y="2331720"/>
            <a:ext cx="27432" cy="210312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60" y="2542032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505456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Bon hochladen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On-Device-OCR — privat, keine Quota, offline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" y="2999232"/>
            <a:ext cx="27432" cy="210312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3209544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1912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72968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Dein Vorrat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was im Haus ist, Ablauf-bewusst — der Startbildschirm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3272" y="3666744"/>
            <a:ext cx="27432" cy="210312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" y="3877056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8587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840480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Tages-Log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ein Tap, um Gegessenes abzuhaken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3272" y="4334256"/>
            <a:ext cx="27432" cy="210312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2960" y="4544568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526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507992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Insights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Wochen-Lücken + „nutze, was du hast“ + Next Cart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2" y="5001768"/>
            <a:ext cx="27432" cy="210312"/>
          </a:xfrm>
          <a:prstGeom prst="rect">
            <a:avLst/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60" y="5212079"/>
            <a:ext cx="457200" cy="45720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937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175503"/>
            <a:ext cx="5212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Nutri-Coach + Löschen</a:t>
            </a:r>
            <a:r>
              <a:rPr sz="1150" b="0" i="0">
                <a:solidFill>
                  <a:srgbClr val="6E6F74"/>
                </a:solidFill>
                <a:latin typeface="Arial"/>
              </a:rPr>
              <a:t>   —  Begründung in Klartext · DSGVO-Löschung jederzeit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1783080"/>
            <a:ext cx="475488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629400" y="1783080"/>
            <a:ext cx="4754880" cy="603504"/>
          </a:xfrm>
          <a:prstGeom prst="round2SameRect">
            <a:avLst>
              <a:gd name="adj1" fmla="val 5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1819656"/>
            <a:ext cx="4206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NutriWise  ·  Deine Ergebnisse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54203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E6F74"/>
                </a:solidFill>
                <a:latin typeface="Arial"/>
              </a:rPr>
              <a:t>Schätzung aus Einkauf + Tages-Log — keine medizinische Beratung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2971800"/>
            <a:ext cx="4206240" cy="1371600"/>
          </a:xfrm>
          <a:prstGeom prst="roundRect">
            <a:avLst>
              <a:gd name="adj" fmla="val 8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0" y="3108960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F7B4F"/>
                </a:solidFill>
                <a:latin typeface="Arial"/>
              </a:rPr>
              <a:t>DEIN NEXT CART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42900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1D21"/>
                </a:solidFill>
                <a:latin typeface="Arial"/>
              </a:rPr>
              <a:t>+ Rote Linsen (getrocknet)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384048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E6F74"/>
                </a:solidFill>
                <a:latin typeface="Arial"/>
              </a:rPr>
              <a:t>Schließt deine Ballaststoff- &amp; Pflanzenprotein-Lücke — und ist erdnussfrei.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3720" y="4526280"/>
            <a:ext cx="12801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03720" y="46177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E6F74"/>
                </a:solidFill>
                <a:latin typeface="Arial"/>
              </a:rPr>
              <a:t>Ballastst.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892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36A4A"/>
                </a:solidFill>
                <a:latin typeface="Arial"/>
              </a:rPr>
              <a:t>niedrig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4526280"/>
            <a:ext cx="12801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46177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E6F74"/>
                </a:solidFill>
                <a:latin typeface="Arial"/>
              </a:rPr>
              <a:t>Protein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892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F7B4F"/>
                </a:solidFill>
                <a:latin typeface="Arial"/>
              </a:rPr>
              <a:t>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38360" y="4526280"/>
            <a:ext cx="12801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38360" y="46177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E6F74"/>
                </a:solidFill>
                <a:latin typeface="Arial"/>
              </a:rPr>
              <a:t>Zucker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4892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F7B4F"/>
                </a:solidFill>
                <a:latin typeface="Arial"/>
              </a:rPr>
              <a:t>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5532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6E6F74"/>
                </a:solidFill>
                <a:latin typeface="Arial"/>
              </a:rPr>
              <a:t>illustrativ — live in der Demo gezeigt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EVALUATIONS-METRIK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D1D21"/>
                </a:solidFill>
                <a:latin typeface="Arial"/>
              </a:rPr>
              <a:t>Das Schwierige: kryptischen Bon-Text zu echtem Lebensmittel machen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56692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B36A4A"/>
                </a:solidFill>
                <a:latin typeface="Arial"/>
              </a:rPr>
              <a:t>„AB Bud 6x0,3l MW“</a:t>
            </a:r>
            <a:r>
              <a:rPr sz="1700" b="1" i="0">
                <a:solidFill>
                  <a:srgbClr val="1D1D21"/>
                </a:solidFill>
                <a:latin typeface="Arial"/>
              </a:rPr>
              <a:t>   →   ?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1D1D21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D1D21"/>
                </a:solidFill>
                <a:latin typeface="Arial"/>
              </a:rPr>
              <a:t>Jede Bon-Zeile muss ein echtes Lebensmittel mit echten Nährwerten werden. Es gibt </a:t>
            </a:r>
            <a:r>
              <a:rPr sz="1450" b="1" i="0">
                <a:solidFill>
                  <a:srgbClr val="1D1D21"/>
                </a:solidFill>
                <a:latin typeface="Arial"/>
              </a:rPr>
              <a:t>kein Ground-Truth-Label</a:t>
            </a:r>
            <a:r>
              <a:rPr sz="1450" b="0" i="0">
                <a:solidFill>
                  <a:srgbClr val="1D1D21"/>
                </a:solidFill>
                <a:latin typeface="Arial"/>
              </a:rPr>
              <a:t> für „welches Lebensmittel ist das wirklich?“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500" b="0" i="0">
                <a:solidFill>
                  <a:srgbClr val="1D1D21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D1D21"/>
                </a:solidFill>
                <a:latin typeface="Arial"/>
              </a:rPr>
              <a:t>Das ist regelbasiert / LLM-Hybrid, </a:t>
            </a:r>
            <a:r>
              <a:rPr sz="1450" b="1" i="0">
                <a:solidFill>
                  <a:srgbClr val="5F7B4F"/>
                </a:solidFill>
                <a:latin typeface="Arial"/>
              </a:rPr>
              <a:t>kein trainiertes ML-Modell</a:t>
            </a:r>
            <a:r>
              <a:rPr sz="1450" b="0" i="0">
                <a:solidFill>
                  <a:srgbClr val="1D1D21"/>
                </a:solidFill>
                <a:latin typeface="Arial"/>
              </a:rPr>
              <a:t> — also bauten wir eine eigene Evaluation: ein </a:t>
            </a:r>
            <a:r>
              <a:rPr sz="1450" b="1" i="0">
                <a:solidFill>
                  <a:srgbClr val="5F7B4F"/>
                </a:solidFill>
                <a:latin typeface="Arial"/>
              </a:rPr>
              <a:t>LLM-Judge-Panel.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D1D21"/>
                </a:solidFill>
                <a:latin typeface="Arial"/>
              </a:rPr>
              <a:t>3 unabhängige Judges bewerten jeden Match — </a:t>
            </a:r>
            <a:r>
              <a:rPr sz="1450" b="1" i="0">
                <a:solidFill>
                  <a:srgbClr val="1D1D21"/>
                </a:solidFill>
                <a:latin typeface="Arial"/>
              </a:rPr>
              <a:t>korrekt / teilweise / falsch / kein Treffer</a:t>
            </a:r>
            <a:r>
              <a:rPr sz="1450" b="0" i="0">
                <a:solidFill>
                  <a:srgbClr val="1D1D21"/>
                </a:solidFill>
                <a:latin typeface="Arial"/>
              </a:rPr>
              <a:t> — die Mehrheit gewinnt.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83080"/>
            <a:ext cx="4526280" cy="3520440"/>
          </a:xfrm>
          <a:prstGeom prst="roundRect">
            <a:avLst>
              <a:gd name="adj" fmla="val 5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198424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F7B4F"/>
                </a:solidFill>
                <a:latin typeface="Arial"/>
              </a:rPr>
              <a:t>WAS WIR MESSEN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395728"/>
            <a:ext cx="397763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0" y="2523744"/>
            <a:ext cx="73152" cy="950976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2523744"/>
            <a:ext cx="3593591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Precision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Match-Qualität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% als korrekt bewertet — oder nutzbar (korrekt + teilw.)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749039"/>
            <a:ext cx="397763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0" y="3877055"/>
            <a:ext cx="73152" cy="950976"/>
          </a:xfrm>
          <a:prstGeom prst="rect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3877055"/>
            <a:ext cx="3593591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5F7B4F"/>
                </a:solidFill>
                <a:latin typeface="Arial"/>
              </a:rPr>
              <a:t>Konsens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Verlässlichkeit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% der Items, bei denen alle 3 Judges übereinstimmen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DATEN — QUELLEN, FORM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Drei Datenwelten, zusammengefügt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3319272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911095"/>
            <a:ext cx="73152" cy="148132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965960"/>
            <a:ext cx="2862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Kassenbons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441448"/>
            <a:ext cx="28163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E6F74"/>
                </a:solidFill>
                <a:latin typeface="Arial"/>
              </a:rPr>
              <a:t>Echte deutsche Bons (Lidl / Netto / Edeka) → On-Device-OCR (Tesseract) → Items. Privat: keine Bondaten verlassen das Gerät.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783080"/>
            <a:ext cx="3319272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1911095"/>
            <a:ext cx="73152" cy="148132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1965960"/>
            <a:ext cx="2862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Open Food Facts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441448"/>
            <a:ext cx="28163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E6F74"/>
                </a:solidFill>
                <a:latin typeface="Arial"/>
              </a:rPr>
              <a:t>Crowdsourced-Marken-API + lokaler Cache. Erste Identitäts-Zuordnung; pro Feld lückenhaft.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0416" y="1783080"/>
            <a:ext cx="3319272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00416" y="1911095"/>
            <a:ext cx="73152" cy="1481328"/>
          </a:xfrm>
          <a:prstGeom prst="rect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4" y="1965960"/>
            <a:ext cx="28620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BLS-4.0-Tabelle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2441448"/>
            <a:ext cx="281635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E6F74"/>
                </a:solidFill>
                <a:latin typeface="Arial"/>
              </a:rPr>
              <a:t>Deutsche Bundes-Nährwert-DB. ~7.140 Zeilen × 418 Spalten — 7 Makros + 11 Mikros extrahiert.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49039"/>
            <a:ext cx="5074920" cy="1554480"/>
          </a:xfrm>
          <a:prstGeom prst="roundRect">
            <a:avLst>
              <a:gd name="adj" fmla="val 6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F7B4F"/>
                </a:solidFill>
                <a:latin typeface="Arial"/>
              </a:rPr>
              <a:t>EVALUATIONS-SET (Form)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270248"/>
            <a:ext cx="4709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5F7B4F"/>
                </a:solidFill>
                <a:latin typeface="Arial"/>
              </a:rPr>
              <a:t>76</a:t>
            </a:r>
            <a:r>
              <a:rPr sz="1250" b="0" i="0">
                <a:solidFill>
                  <a:srgbClr val="1D1D21"/>
                </a:solidFill>
                <a:latin typeface="Arial"/>
              </a:rPr>
              <a:t> einzigartige Items   ·   </a:t>
            </a:r>
            <a:r>
              <a:rPr sz="2000" b="1" i="0">
                <a:solidFill>
                  <a:srgbClr val="5F7B4F"/>
                </a:solidFill>
                <a:latin typeface="Arial"/>
              </a:rPr>
              <a:t>227</a:t>
            </a:r>
            <a:r>
              <a:rPr sz="1250" b="0" i="0">
                <a:solidFill>
                  <a:srgbClr val="1D1D21"/>
                </a:solidFill>
                <a:latin typeface="Arial"/>
              </a:rPr>
              <a:t> Zeilen-Vorkommen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E6F74"/>
                </a:solidFill>
                <a:latin typeface="Arial"/>
              </a:rPr>
              <a:t>13 Spalten: Rohname &amp; normalisiert, Kategorie, Vorkommen,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6E6F74"/>
                </a:solidFill>
                <a:latin typeface="Arial"/>
              </a:rPr>
              <a:t>off/bls Match-Name · Verdikt · Konsens · n_judges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749039"/>
            <a:ext cx="5239512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8862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36A4A"/>
                </a:solidFill>
                <a:latin typeface="Arial"/>
              </a:rPr>
              <a:t>EHRLICHE DATEN-CHALLENGES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2245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36A4A"/>
                </a:solidFill>
                <a:latin typeface="Arial"/>
              </a:rPr>
              <a:t>•  </a:t>
            </a:r>
            <a:r>
              <a:rPr sz="1150" b="0" i="0">
                <a:solidFill>
                  <a:srgbClr val="1D1D21"/>
                </a:solidFill>
                <a:latin typeface="Arial"/>
              </a:rPr>
              <a:t>Kryptische OCR / Marke-vs-generisch („Budweiser“ → „Pilsner Bier“)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5628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36A4A"/>
                </a:solidFill>
                <a:latin typeface="Arial"/>
              </a:rPr>
              <a:t>•  </a:t>
            </a:r>
            <a:r>
              <a:rPr sz="1150" b="0" i="0">
                <a:solidFill>
                  <a:srgbClr val="1D1D21"/>
                </a:solidFill>
                <a:latin typeface="Arial"/>
              </a:rPr>
              <a:t>OFF-Zucker = Gesamt-, nicht freier Zucker; BLS ohne NOVA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90118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36A4A"/>
                </a:solidFill>
                <a:latin typeface="Arial"/>
              </a:rPr>
              <a:t>•  </a:t>
            </a:r>
            <a:r>
              <a:rPr sz="1150" b="0" i="0">
                <a:solidFill>
                  <a:srgbClr val="1D1D21"/>
                </a:solidFill>
                <a:latin typeface="Arial"/>
              </a:rPr>
              <a:t>Dünne Nährstoff-Coverage → wenige Nährstoffe gut, nicht viele halbgar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EXPLORATIVE DATENANALYSE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Wie echte Warenkörbe wirklich aussehen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525780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da_categories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938528"/>
            <a:ext cx="6467517" cy="35661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783080"/>
            <a:ext cx="5102352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a_tail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38528"/>
            <a:ext cx="5591387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77900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Erkenntnis:  </a:t>
            </a:r>
            <a:r>
              <a:rPr sz="1250" b="0" i="0">
                <a:solidFill>
                  <a:srgbClr val="1D1D21"/>
                </a:solidFill>
                <a:latin typeface="Arial"/>
              </a:rPr>
              <a:t>Warenkörbe sind obst-/gemüse- und milchlastig, aber der Long-Tail ist brutal — die Hälfte der Items erscheint nur einmal, der Matcher muss also generalisieren, nicht auswendig lernen.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ML-WORKFLOW / DATEN-PIPELINE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Ein gestufter Resolver — günstig &amp; sicher zuerst, Fallback zuletzt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1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3911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B7C9A9"/>
                </a:solidFill>
                <a:latin typeface="Arial"/>
              </a:rPr>
              <a:t>Bild /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91256" y="205740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7C9A6A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599" y="1874519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1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99" y="203911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Extraktion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242316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B7C9A9"/>
                </a:solidFill>
                <a:latin typeface="Arial"/>
              </a:rPr>
              <a:t>On-Device-OCR → Items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205740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7C9A6A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874519"/>
            <a:ext cx="2331720" cy="914400"/>
          </a:xfrm>
          <a:prstGeom prst="roundRect">
            <a:avLst>
              <a:gd name="adj" fmla="val 8000"/>
            </a:avLst>
          </a:prstGeom>
          <a:solidFill>
            <a:srgbClr val="1D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39112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Normalisieren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2316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B7C9A9"/>
                </a:solidFill>
                <a:latin typeface="Arial"/>
              </a:rPr>
              <a:t>Menge · Preis · Non-Food raus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057400"/>
            <a:ext cx="1280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7C9A6A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063240"/>
            <a:ext cx="7680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3063240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063240"/>
            <a:ext cx="1417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Tier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306324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D1D21"/>
                </a:solidFill>
                <a:latin typeface="Arial"/>
              </a:rPr>
              <a:t>Gelernte verifizierte Matches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063240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E6F74"/>
                </a:solidFill>
                <a:latin typeface="Arial"/>
              </a:rPr>
              <a:t>menschlich bestätigt · Konf. 1.0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721608"/>
            <a:ext cx="7680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3721608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721608"/>
            <a:ext cx="1417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Tier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3721608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D1D21"/>
                </a:solidFill>
                <a:latin typeface="Arial"/>
              </a:rPr>
              <a:t>OpenFoodFacts + Fuzzy-Match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3721608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E6F74"/>
                </a:solidFill>
                <a:latin typeface="Arial"/>
              </a:rPr>
              <a:t>→ BLS-Bridge für DE-Nährwerte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379976"/>
            <a:ext cx="7680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" y="437997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B7C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379976"/>
            <a:ext cx="1417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1D21"/>
                </a:solidFill>
                <a:latin typeface="Arial"/>
              </a:rPr>
              <a:t>Tier 1b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379976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D1D21"/>
                </a:solidFill>
                <a:latin typeface="Arial"/>
              </a:rPr>
              <a:t>BLS-Grundlebensmittel (Rohware)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4379976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E6F74"/>
                </a:solidFill>
                <a:latin typeface="Arial"/>
              </a:rPr>
              <a:t>per Typ-Übereinstimmung abgesichert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038344"/>
            <a:ext cx="768096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2960" y="503834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CF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038344"/>
            <a:ext cx="1417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1D21"/>
                </a:solidFill>
                <a:latin typeface="Arial"/>
              </a:rPr>
              <a:t>Tier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5038344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D1D21"/>
                </a:solidFill>
                <a:latin typeface="Arial"/>
              </a:rPr>
              <a:t>Kategorie-Fallback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5038344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E6F74"/>
                </a:solidFill>
                <a:latin typeface="Arial"/>
              </a:rPr>
              <a:t>niedrige Konfidenz · „unbekannt“ markiert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23960" y="3063240"/>
            <a:ext cx="2542032" cy="2542032"/>
          </a:xfrm>
          <a:prstGeom prst="roundRect">
            <a:avLst>
              <a:gd name="adj" fmla="val 6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6840" y="324612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F7B4F"/>
                </a:solidFill>
                <a:latin typeface="Arial"/>
              </a:rPr>
              <a:t>AUSGABE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365760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C9A6A"/>
                </a:solidFill>
                <a:latin typeface="Arial"/>
              </a:rPr>
              <a:t>• </a:t>
            </a:r>
            <a:r>
              <a:rPr sz="1200" b="0" i="0">
                <a:solidFill>
                  <a:srgbClr val="1D1D21"/>
                </a:solidFill>
                <a:latin typeface="Arial"/>
              </a:rPr>
              <a:t>Nährwerte (Makros + Mikros)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4142232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C9A6A"/>
                </a:solidFill>
                <a:latin typeface="Arial"/>
              </a:rPr>
              <a:t>• </a:t>
            </a:r>
            <a:r>
              <a:rPr sz="1200" b="0" i="0">
                <a:solidFill>
                  <a:srgbClr val="1D1D21"/>
                </a:solidFill>
                <a:latin typeface="Arial"/>
              </a:rPr>
              <a:t>Konfidenz-Label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4626864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C9A6A"/>
                </a:solidFill>
                <a:latin typeface="Arial"/>
              </a:rPr>
              <a:t>• </a:t>
            </a:r>
            <a:r>
              <a:rPr sz="1200" b="0" i="0">
                <a:solidFill>
                  <a:srgbClr val="1D1D21"/>
                </a:solidFill>
                <a:latin typeface="Arial"/>
              </a:rPr>
              <a:t>Quellenangabe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6840" y="511149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C9A6A"/>
                </a:solidFill>
                <a:latin typeface="Arial"/>
              </a:rPr>
              <a:t>• </a:t>
            </a:r>
            <a:r>
              <a:rPr sz="1200" b="0" i="0">
                <a:solidFill>
                  <a:srgbClr val="1D1D21"/>
                </a:solidFill>
                <a:latin typeface="Arial"/>
              </a:rPr>
              <a:t>→ Lücken + Next Cart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80644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E6F74"/>
                </a:solidFill>
                <a:latin typeface="Arial"/>
              </a:rPr>
              <a:t>Bewusst regelbasiert — kein gefittetes Modell — damit die Logik transparent &amp; vertrauenswürdig bleibt.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BASELINE-MODELL &amp;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Zwei Matching-Strategien, direkt verglichen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690372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selin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920240"/>
            <a:ext cx="6629400" cy="239384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737360"/>
            <a:ext cx="336499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1000" y="1865376"/>
            <a:ext cx="73152" cy="74980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865376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66%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OFF nutzbar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korrekt + teilweise — unsere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852928"/>
            <a:ext cx="336499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2980944"/>
            <a:ext cx="73152" cy="749808"/>
          </a:xfrm>
          <a:prstGeom prst="rect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980944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5F7B4F"/>
                </a:solidFill>
                <a:latin typeface="Arial"/>
              </a:rPr>
              <a:t>2×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OFF schlägt BLS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54% vs 32% korrekt bei Identität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3968496"/>
            <a:ext cx="336499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4096511"/>
            <a:ext cx="73152" cy="74980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4096511"/>
            <a:ext cx="298094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 i="0">
                <a:solidFill>
                  <a:srgbClr val="7C9A6A"/>
                </a:solidFill>
                <a:latin typeface="Arial"/>
              </a:rPr>
              <a:t>96%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D1D21"/>
                </a:solidFill>
                <a:latin typeface="Arial"/>
              </a:rPr>
              <a:t>Judge-Konsens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E6F74"/>
                </a:solidFill>
                <a:latin typeface="Arial"/>
              </a:rPr>
              <a:t>3/3 einstimmig — Metrik ist verlässlich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138928"/>
            <a:ext cx="10543032" cy="822960"/>
          </a:xfrm>
          <a:prstGeom prst="roundRect">
            <a:avLst>
              <a:gd name="adj" fmla="val 6000"/>
            </a:avLst>
          </a:prstGeom>
          <a:solidFill>
            <a:srgbClr val="EE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230368"/>
            <a:ext cx="100584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F7B4F"/>
                </a:solidFill>
                <a:latin typeface="Arial"/>
              </a:rPr>
              <a:t>Warum die Architektur:  </a:t>
            </a:r>
            <a:r>
              <a:rPr sz="1300" b="0" i="0">
                <a:solidFill>
                  <a:srgbClr val="1D1D21"/>
                </a:solidFill>
                <a:latin typeface="Arial"/>
              </a:rPr>
              <a:t>OFF gewinnt bei der Identität und führt. BLS matcht schlechter (~⅓ falsches Lebensmittel), daher werden seine Nährwerte nur unter Guard geliehen — nie als primärer Matcher. 66% nutzbar liegt knapp unter der 70%-Marke.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F7B4F"/>
                </a:solidFill>
                <a:latin typeface="Arial"/>
              </a:rPr>
              <a:t>NÄCHSTE WOCHE &amp; DARÜBER HINAUS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D1D21"/>
                </a:solidFill>
                <a:latin typeface="Arial"/>
              </a:rPr>
              <a:t>Von der Baseline zur Vertrauenswürdigkeit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137160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5257800" cy="3429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 Same Side Corner Rectangle 5"/>
          <p:cNvSpPr/>
          <p:nvPr/>
        </p:nvSpPr>
        <p:spPr>
          <a:xfrm>
            <a:off x="822960" y="1874519"/>
            <a:ext cx="5257800" cy="65836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47672"/>
            <a:ext cx="4800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Besseres Matching</a:t>
            </a:r>
          </a:p>
        </p:txBody>
      </p:sp>
      <p:sp>
        <p:nvSpPr>
          <p:cNvPr id="8" name="Oval 7"/>
          <p:cNvSpPr/>
          <p:nvPr/>
        </p:nvSpPr>
        <p:spPr>
          <a:xfrm>
            <a:off x="1143000" y="2862071"/>
            <a:ext cx="274320" cy="27432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83463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788920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Fuzzy-Baseline 66% → Embedding-Re-Ranker, Ziel &gt;70% nutzbar</a:t>
            </a:r>
          </a:p>
        </p:txBody>
      </p:sp>
      <p:sp>
        <p:nvSpPr>
          <p:cNvPr id="11" name="Oval 10"/>
          <p:cNvSpPr/>
          <p:nvPr/>
        </p:nvSpPr>
        <p:spPr>
          <a:xfrm>
            <a:off x="1143000" y="3703320"/>
            <a:ext cx="274320" cy="27432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67588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630168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Gelernter Tier-0-Store wird mit jeder Korrektur besser</a:t>
            </a:r>
          </a:p>
        </p:txBody>
      </p:sp>
      <p:sp>
        <p:nvSpPr>
          <p:cNvPr id="14" name="Oval 13"/>
          <p:cNvSpPr/>
          <p:nvPr/>
        </p:nvSpPr>
        <p:spPr>
          <a:xfrm>
            <a:off x="1143000" y="4544568"/>
            <a:ext cx="274320" cy="274320"/>
          </a:xfrm>
          <a:prstGeom prst="ellipse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51713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471416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Personalisierte Portions- &amp; Verbrauchsschätzung (ML)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874519"/>
            <a:ext cx="5257800" cy="3429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4E0"/>
            </a:solidFill>
          </a:ln>
          <a:effectLst/>
          <a:effectLst>
            <a:outerShdw blurRad="80000" dist="30000" dir="5400000" rotWithShape="0">
              <a:srgbClr val="1D1D21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199632" y="1874519"/>
            <a:ext cx="5257800" cy="65836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947672"/>
            <a:ext cx="4800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Validieren &amp; wachsen</a:t>
            </a:r>
          </a:p>
        </p:txBody>
      </p:sp>
      <p:sp>
        <p:nvSpPr>
          <p:cNvPr id="20" name="Oval 19"/>
          <p:cNvSpPr/>
          <p:nvPr/>
        </p:nvSpPr>
        <p:spPr>
          <a:xfrm>
            <a:off x="6519672" y="2862071"/>
            <a:ext cx="274320" cy="274320"/>
          </a:xfrm>
          <a:prstGeom prst="ellipse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283463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6872" y="2788920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Live-User-Tests — klebt die Abhak-Gewohnheit?</a:t>
            </a:r>
          </a:p>
        </p:txBody>
      </p:sp>
      <p:sp>
        <p:nvSpPr>
          <p:cNvPr id="23" name="Oval 22"/>
          <p:cNvSpPr/>
          <p:nvPr/>
        </p:nvSpPr>
        <p:spPr>
          <a:xfrm>
            <a:off x="6519672" y="3703320"/>
            <a:ext cx="274320" cy="274320"/>
          </a:xfrm>
          <a:prstGeom prst="ellipse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367588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3630168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A/B-Test: bester Moment für „was gegessen?“</a:t>
            </a:r>
          </a:p>
        </p:txBody>
      </p:sp>
      <p:sp>
        <p:nvSpPr>
          <p:cNvPr id="26" name="Oval 25"/>
          <p:cNvSpPr/>
          <p:nvPr/>
        </p:nvSpPr>
        <p:spPr>
          <a:xfrm>
            <a:off x="6519672" y="4544568"/>
            <a:ext cx="274320" cy="274320"/>
          </a:xfrm>
          <a:prstGeom prst="ellipse">
            <a:avLst/>
          </a:prstGeom>
          <a:solidFill>
            <a:srgbClr val="5F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9672" y="451713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76872" y="4471416"/>
            <a:ext cx="4160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D1D21"/>
                </a:solidFill>
                <a:latin typeface="Arial"/>
              </a:rPr>
              <a:t>10-KPI-Funnel instrumentieren (Upload → Insight → Retention)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F7B4F"/>
                </a:solidFill>
                <a:latin typeface="Arial"/>
              </a:rPr>
              <a:t>Prinzip:  </a:t>
            </a:r>
            <a:r>
              <a:rPr sz="1200" b="0" i="1">
                <a:solidFill>
                  <a:srgbClr val="6E6F74"/>
                </a:solidFill>
                <a:latin typeface="Arial"/>
              </a:rPr>
              <a:t>ML dort, wo Regeln nicht generalisieren (Matching, Portionen) — Lücken &amp; Empfehlungen bleiben regelbasiert und transparent.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2823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6E6F74"/>
                </a:solidFill>
                <a:latin typeface="Arial"/>
              </a:rPr>
              <a:t>NutriWise</a:t>
            </a:r>
            <a:r>
              <a:rPr sz="900" b="0" i="0">
                <a:solidFill>
                  <a:srgbClr val="6E6F74"/>
                </a:solidFill>
                <a:latin typeface="Arial"/>
              </a:rPr>
              <a:t>  ·  V1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64282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6F74"/>
                </a:solidFill>
                <a:latin typeface="Arial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310896" cy="310896"/>
          </a:xfrm>
          <a:prstGeom prst="roundRect">
            <a:avLst>
              <a:gd name="adj" fmla="val 30000"/>
            </a:avLst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3584" y="795528"/>
            <a:ext cx="3657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1D21"/>
                </a:solidFill>
                <a:latin typeface="Arial"/>
              </a:rPr>
              <a:t>NUTRIWISE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1D1D21"/>
                </a:solidFill>
                <a:latin typeface="Arial"/>
              </a:rPr>
              <a:t>Danke.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383280"/>
            <a:ext cx="3108960" cy="41148"/>
          </a:xfrm>
          <a:prstGeom prst="rect">
            <a:avLst/>
          </a:prstGeom>
          <a:solidFill>
            <a:srgbClr val="7C9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5F7B4F"/>
                </a:solidFill>
                <a:latin typeface="Arial"/>
              </a:rPr>
              <a:t>Lade deinen Kassenbon hoch. Bekomm eine klügere Sache für den nächsten Einkauf.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1D1D21"/>
                </a:solidFill>
                <a:latin typeface="Arial"/>
              </a:rPr>
              <a:t>Jennifer Rake</a:t>
            </a:r>
            <a:r>
              <a:rPr sz="1500" b="0" i="0">
                <a:solidFill>
                  <a:srgbClr val="6E6F74"/>
                </a:solidFill>
                <a:latin typeface="Arial"/>
              </a:rPr>
              <a:t>   &amp;   </a:t>
            </a:r>
            <a:r>
              <a:rPr sz="1500" b="1" i="0">
                <a:solidFill>
                  <a:srgbClr val="1D1D21"/>
                </a:solidFill>
                <a:latin typeface="Arial"/>
              </a:rPr>
              <a:t>Stuart Kasemeier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6E6F74"/>
                </a:solidFill>
                <a:latin typeface="Arial"/>
              </a:rPr>
              <a:t>NutriWise  ·  AI PM Capstone  ·  Midterm V1  —  Fragen &amp; Feedback willkommen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