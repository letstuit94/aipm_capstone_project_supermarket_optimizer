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Speaker 1 opens]</a:t>
            </a:r>
          </a:p>
          <a:p>
            <a:r>
              <a:t>One line to open: 'Take a photo of your shopping receipt, and we tell you one smart thing to buy next time.' Say the two names. Tell them the plan: about 10 minutes, kept simple, with a quick live demo in the middle. Speaker 1 does the product half; Speaker 2 does the data half after the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a:t>
            </a:r>
          </a:p>
          <a:p>
            <a:r>
              <a:t>Simple version: people want to eat healthier, but every app makes them type in every meal — that's boring, so they quit. Our trick: the shopping receipt already shows what they bought, and they didn't have to do anything extra. That's our way in. Target user: health-minded people aged 25–45.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a:t>
            </a:r>
          </a:p>
          <a:p>
            <a:r>
              <a:t>The whole loop in one picture. First you chat a little so we learn your goal. Then a photo of your receipt fills your 'pantry' — the list of food in your house. Every day you tap what you ate (one tap, no typing). At the end of the week we show what's missing and two easy fixes. Say plainly: these are friendly estimates, not a doctor's advice. A real clickable app exists if they want to see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a:t>
            </a:r>
          </a:p>
          <a:p>
            <a:r>
              <a:t>Think of a new friend who cooks for you. On day one they only know your goal, so they just say what to aim for. After your first shop they can say what's in your kitchen — but that's shopping, not what you actually ate, so we call it 'your basket,' not 'your diet.' Once you start tapping meals they get a feel for it, and after a week they can honestly say 'you're a little low on fibre.' After a month or two they can show if you're getting better. The rule: if you've only tracked 2 days, we say 'still learning' instead of guessing a wrong number. That honesty is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a:t>
            </a:r>
          </a:p>
          <a:p>
            <a:r>
              <a:t>The one number that makes or breaks us: do people keep tapping after week 1? If the daily tap dies, the whole thing dies — so we test that first. Our north star: at least 3 in 10 people change what they buy next time, without any manual food diary. Plus: more than 1 in 5 act on our tip, and they see something useful in under 2 minutes. A bigger 10-KPI scorecard sits behind these.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a:t>
            </a:r>
          </a:p>
          <a:p>
            <a:r>
              <a:t>Three weeks of work. DONE: the whole loop already runs end to end. IN PROGRESS: smarter matching and our first real user tests. NEXT (after today): a smarter matching model to push accuracy past 70%, personalised portions, and the full success-scorecard. Rather than just tell you it works — let me show you the live app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hands to Speaker 2]</a:t>
            </a:r>
          </a:p>
          <a:p>
            <a:r>
              <a:t>LIVE DEMO, about 2 minutes. Quick tour: chat to set the goal → snap a receipt (say: it reads on the phone itself, private, works offline, no quota) → land on the Pantry → tap one thing you ate → Insights shows the week's gaps plus two tips → the coach explains it in plain words, and you can erase everything anytime. If the coach text ever stops (free daily limit), the numbers and the tip still work — only the wording gets plainer. Then hand to Speaker 2: 'a tip is only as good as the data behind it — here's how we made that data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a:t>
            </a:r>
          </a:p>
          <a:p>
            <a:r>
              <a:t>Speaker 2 here. This is not a normal 'train a model' project — the real puzzle is turning messy receipt text like 'AB Bud 6x0,3l MW' into an actual food. Nobody handed us an answer key, so we made one: 180 real receipt lines, and for each we found the true match by searching all 7,140 foods — not just a shortlist, or the score would be fake. A human double-checked the labels; only 3% were off. Our score: when the app shows its top 5 guesses, is the right food in there? That's Recall@5.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a:t>
            </a:r>
          </a:p>
          <a:p>
            <a:r>
              <a:t>Three data worlds. One: real German receipts, read on the phone itself — private, no cloud. Two: Open Food Facts, a big crowd list of branded products, as a backup. Three: the official German food table, 7,140 foods, our trusted source for nutrients. For testing we grew our answer key from 45 to 180 real receipt lines. Honest hurdles: receipt text is cryptic; real receipts are harder than tidy text; and we tried the US food database but dropped it — it simply doesn't know German foods like Quark or Schmand.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a:t>
            </a:r>
          </a:p>
          <a:p>
            <a:r>
              <a:t>Two quick pictures. Left: most shopping is fruit, veg and dairy — the basics. Right: but there's a long tail — half the items show up only once. So we can't just memorise the popular foods; the matcher has to handle weird, one-off, badly-abbreviated names it has never seen. That shaped our whole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a:t>
            </a:r>
          </a:p>
          <a:p>
            <a:r>
              <a:t>One important note first: these matching tiers are about linking receipt text to a food — different from the honesty tiers earlier, which were about the score. Here it's a ladder: read the receipt, clean it up, then try the safest match first. Tier 0: matches a human already confirmed. Tier 1: the German food table — our main source, it handled 174 of 180 lines. Tier 2: Open Food Facts for the few branded gaps. And if it's genuinely unclear (2 lines), we leave it open instead of guessing. It's rules on purpose — trustworthy for a health app — and the smart 'embedding' only breaks 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a:t>
            </a:r>
          </a:p>
          <a:p>
            <a:r>
              <a:t>Our honest scorecard. First, we found a match for 99% of lines — 174 from the German table, 4 from Open Food Facts, and 2 we left open on purpose. Second, the big lever is cleaning the receipt text: the right food lands in the top 5 about 47% of the time after cleanup, up from 32% on raw text. Third, honesty: real receipts are harder than the tidy 45 we started with (56% → 47%), and a plain 'fuzzy' search actually beats our fancy one on messy text — so the AI part only breaks ties for now. The plan to close the gap: every user correction is saved and reused. (Backup slide has our earlier pilot numbers if asked.)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a:t>
            </a:r>
          </a:p>
          <a:p>
            <a:r>
              <a:t>Close on the one-liner and invite questions. If pushed on accuracy: we measure honestly on real receipts (Recall@5 47% after cleanup, 99% of lines resolved), the clear next lever is the learned match store, and the deeper question — do people trust it and keep tapping — is what live user testing answers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only if asked]</a:t>
            </a:r>
          </a:p>
          <a:p>
            <a:r>
              <a:t>Backup for questions. This was our earlier pilot on 76 items, judged by an LLM panel — a different method, so don't compare its 66% to the 47% Recall@5. What it told us: Open Food Facts wins on identity, the German table matched worse on its own — which is exactly why the table leads for nutrients only, and why we then built the stricter, human-checked Recall@5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0" y="128016"/>
            <a:ext cx="4053535" cy="6729984"/>
          </a:xfrm>
          <a:prstGeom prst="rect">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777240"/>
            <a:ext cx="310896" cy="310896"/>
          </a:xfrm>
          <a:prstGeom prst="roundRect">
            <a:avLst>
              <a:gd name="adj" fmla="val 3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43584" y="749808"/>
            <a:ext cx="36576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1D1D21"/>
                </a:solidFill>
                <a:latin typeface="Arial"/>
              </a:rPr>
              <a:t>NUTRIWISE</a:t>
            </a:r>
          </a:p>
        </p:txBody>
      </p:sp>
      <p:sp>
        <p:nvSpPr>
          <p:cNvPr id="6" name="TextBox 5"/>
          <p:cNvSpPr txBox="1"/>
          <p:nvPr/>
        </p:nvSpPr>
        <p:spPr>
          <a:xfrm>
            <a:off x="822960" y="1965960"/>
            <a:ext cx="7315200" cy="2377440"/>
          </a:xfrm>
          <a:prstGeom prst="rect">
            <a:avLst/>
          </a:prstGeom>
          <a:noFill/>
        </p:spPr>
        <p:txBody>
          <a:bodyPr wrap="square" anchor="t" lIns="0" rIns="0" tIns="0" bIns="0">
            <a:spAutoFit/>
          </a:bodyPr>
          <a:lstStyle/>
          <a:p>
            <a:pPr algn="l">
              <a:lnSpc>
                <a:spcPct val="105000"/>
              </a:lnSpc>
              <a:spcBef>
                <a:spcPts val="0"/>
              </a:spcBef>
              <a:spcAft>
                <a:spcPts val="400"/>
              </a:spcAft>
            </a:pPr>
            <a:r>
              <a:rPr sz="4200" b="1" i="0">
                <a:solidFill>
                  <a:srgbClr val="1D1D21"/>
                </a:solidFill>
                <a:latin typeface="Arial"/>
              </a:rPr>
              <a:t>Upload a grocery receipt.</a:t>
            </a:r>
          </a:p>
          <a:p>
            <a:pPr algn="l">
              <a:lnSpc>
                <a:spcPct val="105000"/>
              </a:lnSpc>
              <a:spcBef>
                <a:spcPts val="0"/>
              </a:spcBef>
              <a:spcAft>
                <a:spcPts val="400"/>
              </a:spcAft>
            </a:pPr>
            <a:r>
              <a:rPr sz="4200" b="1" i="0">
                <a:solidFill>
                  <a:srgbClr val="5F7B4F"/>
                </a:solidFill>
                <a:latin typeface="Arial"/>
              </a:rPr>
              <a:t>Get one smarter thing</a:t>
            </a:r>
          </a:p>
          <a:p>
            <a:pPr algn="l">
              <a:lnSpc>
                <a:spcPct val="105000"/>
              </a:lnSpc>
              <a:spcBef>
                <a:spcPts val="0"/>
              </a:spcBef>
              <a:spcAft>
                <a:spcPts val="400"/>
              </a:spcAft>
            </a:pPr>
            <a:r>
              <a:rPr sz="4200" b="1" i="0">
                <a:solidFill>
                  <a:srgbClr val="5F7B4F"/>
                </a:solidFill>
                <a:latin typeface="Arial"/>
              </a:rPr>
              <a:t>to buy next time.</a:t>
            </a:r>
          </a:p>
        </p:txBody>
      </p:sp>
      <p:sp>
        <p:nvSpPr>
          <p:cNvPr id="7" name="Rectangle 6"/>
          <p:cNvSpPr/>
          <p:nvPr/>
        </p:nvSpPr>
        <p:spPr>
          <a:xfrm>
            <a:off x="841248" y="4160520"/>
            <a:ext cx="310896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4389120"/>
            <a:ext cx="6949440" cy="64008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6E6F74"/>
                </a:solidFill>
                <a:latin typeface="Arial"/>
              </a:rPr>
              <a:t>A receipt-first nutrition assistant — your pantry works for you: tap what you eat, don't type it.</a:t>
            </a:r>
          </a:p>
        </p:txBody>
      </p:sp>
      <p:sp>
        <p:nvSpPr>
          <p:cNvPr id="9" name="TextBox 8"/>
          <p:cNvSpPr txBox="1"/>
          <p:nvPr/>
        </p:nvSpPr>
        <p:spPr>
          <a:xfrm>
            <a:off x="822960" y="5257800"/>
            <a:ext cx="7132320" cy="1097280"/>
          </a:xfrm>
          <a:prstGeom prst="rect">
            <a:avLst/>
          </a:prstGeom>
          <a:noFill/>
        </p:spPr>
        <p:txBody>
          <a:bodyPr wrap="square" anchor="t" lIns="0" rIns="0" tIns="0" bIns="0">
            <a:spAutoFit/>
          </a:bodyPr>
          <a:lstStyle/>
          <a:p>
            <a:pPr algn="l">
              <a:lnSpc>
                <a:spcPct val="100000"/>
              </a:lnSpc>
              <a:spcBef>
                <a:spcPts val="0"/>
              </a:spcBef>
              <a:spcAft>
                <a:spcPts val="800"/>
              </a:spcAft>
            </a:pPr>
            <a:r>
              <a:rPr sz="1500" b="1" i="0">
                <a:solidFill>
                  <a:srgbClr val="1D1D21"/>
                </a:solidFill>
                <a:latin typeface="Arial"/>
              </a:rPr>
              <a:t>Jennifer Rake</a:t>
            </a:r>
            <a:r>
              <a:rPr sz="1300" b="1" i="0">
                <a:solidFill>
                  <a:srgbClr val="5F7B4F"/>
                </a:solidFill>
                <a:latin typeface="Arial"/>
              </a:rPr>
              <a:t>  · Speaker 2      </a:t>
            </a:r>
            <a:r>
              <a:rPr sz="1500" b="1" i="0">
                <a:solidFill>
                  <a:srgbClr val="1D1D21"/>
                </a:solidFill>
                <a:latin typeface="Arial"/>
              </a:rPr>
              <a:t>Stuart Kasemeier</a:t>
            </a:r>
            <a:r>
              <a:rPr sz="1300" b="1" i="0">
                <a:solidFill>
                  <a:srgbClr val="6E6F74"/>
                </a:solidFill>
                <a:latin typeface="Arial"/>
              </a:rPr>
              <a:t>  · Speaker 1</a:t>
            </a:r>
          </a:p>
          <a:p>
            <a:pPr algn="l">
              <a:lnSpc>
                <a:spcPct val="100000"/>
              </a:lnSpc>
              <a:spcBef>
                <a:spcPts val="0"/>
              </a:spcBef>
              <a:spcAft>
                <a:spcPts val="800"/>
              </a:spcAft>
            </a:pPr>
            <a:r>
              <a:rPr sz="1250" b="0" i="0">
                <a:solidFill>
                  <a:srgbClr val="6E6F74"/>
                </a:solidFill>
                <a:latin typeface="Arial"/>
              </a:rPr>
              <a:t>AI Product Management Capstone  ·  Midterm Presentation  ·  Version 2</a:t>
            </a:r>
          </a:p>
        </p:txBody>
      </p:sp>
      <p:sp>
        <p:nvSpPr>
          <p:cNvPr id="10" name="Oval 9"/>
          <p:cNvSpPr/>
          <p:nvPr/>
        </p:nvSpPr>
        <p:spPr>
          <a:xfrm>
            <a:off x="8686800" y="2148840"/>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2093976"/>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Onboard</a:t>
            </a:r>
          </a:p>
        </p:txBody>
      </p:sp>
      <p:sp>
        <p:nvSpPr>
          <p:cNvPr id="12" name="Rectangle 11"/>
          <p:cNvSpPr/>
          <p:nvPr/>
        </p:nvSpPr>
        <p:spPr>
          <a:xfrm>
            <a:off x="8796528" y="2423160"/>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0" y="2990088"/>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935224"/>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Pantry</a:t>
            </a:r>
          </a:p>
        </p:txBody>
      </p:sp>
      <p:sp>
        <p:nvSpPr>
          <p:cNvPr id="15" name="Rectangle 14"/>
          <p:cNvSpPr/>
          <p:nvPr/>
        </p:nvSpPr>
        <p:spPr>
          <a:xfrm>
            <a:off x="8796528" y="3264408"/>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0" y="3831336"/>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3776472"/>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Check off</a:t>
            </a:r>
          </a:p>
        </p:txBody>
      </p:sp>
      <p:sp>
        <p:nvSpPr>
          <p:cNvPr id="18" name="Rectangle 17"/>
          <p:cNvSpPr/>
          <p:nvPr/>
        </p:nvSpPr>
        <p:spPr>
          <a:xfrm>
            <a:off x="8796528" y="4105656"/>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0" y="4672584"/>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4617720"/>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THE PROBLEM</a:t>
            </a:r>
          </a:p>
        </p:txBody>
      </p:sp>
      <p:sp>
        <p:nvSpPr>
          <p:cNvPr id="3" name="TextBox 2"/>
          <p:cNvSpPr txBox="1"/>
          <p:nvPr/>
        </p:nvSpPr>
        <p:spPr>
          <a:xfrm>
            <a:off x="822960" y="841248"/>
            <a:ext cx="100584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Eating well shouldn't require a spreadsheet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5577840" cy="3291840"/>
          </a:xfrm>
          <a:prstGeom prst="rect">
            <a:avLst/>
          </a:prstGeom>
          <a:noFill/>
        </p:spPr>
        <p:txBody>
          <a:bodyPr wrap="square" anchor="t" lIns="0" rIns="0" tIns="0" bIns="0">
            <a:spAutoFit/>
          </a:bodyPr>
          <a:lstStyle/>
          <a:p>
            <a:pPr algn="l">
              <a:lnSpc>
                <a:spcPct val="114000"/>
              </a:lnSpc>
              <a:spcBef>
                <a:spcPts val="0"/>
              </a:spcBef>
              <a:spcAft>
                <a:spcPts val="400"/>
              </a:spcAft>
            </a:pPr>
            <a:r>
              <a:rPr sz="1550" b="0" i="0">
                <a:solidFill>
                  <a:srgbClr val="1D1D21"/>
                </a:solidFill>
                <a:latin typeface="Arial"/>
              </a:rPr>
              <a:t>Health-conscious adults (25–45) want to eat better — but every tool asks them to </a:t>
            </a:r>
            <a:r>
              <a:rPr sz="1550" b="1" i="0">
                <a:solidFill>
                  <a:srgbClr val="1D1D21"/>
                </a:solidFill>
                <a:latin typeface="Arial"/>
              </a:rPr>
              <a:t>log every meal by hand.</a:t>
            </a:r>
          </a:p>
          <a:p>
            <a:pPr algn="l">
              <a:lnSpc>
                <a:spcPct val="114000"/>
              </a:lnSpc>
              <a:spcBef>
                <a:spcPts val="0"/>
              </a:spcBef>
              <a:spcAft>
                <a:spcPts val="400"/>
              </a:spcAft>
            </a:pPr>
            <a:r>
              <a:rPr sz="700" b="0" i="0">
                <a:solidFill>
                  <a:srgbClr val="1D1D21"/>
                </a:solidFill>
                <a:latin typeface="Arial"/>
              </a:rPr>
              <a:t/>
            </a:r>
          </a:p>
          <a:p>
            <a:pPr algn="l">
              <a:lnSpc>
                <a:spcPct val="114000"/>
              </a:lnSpc>
              <a:spcBef>
                <a:spcPts val="0"/>
              </a:spcBef>
              <a:spcAft>
                <a:spcPts val="400"/>
              </a:spcAft>
            </a:pPr>
            <a:r>
              <a:rPr sz="1550" b="0" i="0">
                <a:solidFill>
                  <a:srgbClr val="1D1D21"/>
                </a:solidFill>
                <a:latin typeface="Arial"/>
              </a:rPr>
              <a:t>That habit dies within weeks. People give up — or they guess.</a:t>
            </a:r>
          </a:p>
          <a:p>
            <a:pPr algn="l">
              <a:lnSpc>
                <a:spcPct val="114000"/>
              </a:lnSpc>
              <a:spcBef>
                <a:spcPts val="0"/>
              </a:spcBef>
              <a:spcAft>
                <a:spcPts val="400"/>
              </a:spcAft>
            </a:pPr>
            <a:r>
              <a:rPr sz="700" b="0" i="0">
                <a:solidFill>
                  <a:srgbClr val="1D1D21"/>
                </a:solidFill>
                <a:latin typeface="Arial"/>
              </a:rPr>
              <a:t/>
            </a:r>
          </a:p>
          <a:p>
            <a:pPr algn="l">
              <a:lnSpc>
                <a:spcPct val="114000"/>
              </a:lnSpc>
              <a:spcBef>
                <a:spcPts val="0"/>
              </a:spcBef>
              <a:spcAft>
                <a:spcPts val="400"/>
              </a:spcAft>
            </a:pPr>
            <a:r>
              <a:rPr sz="1550" b="0" i="0">
                <a:solidFill>
                  <a:srgbClr val="1D1D21"/>
                </a:solidFill>
                <a:latin typeface="Arial"/>
              </a:rPr>
              <a:t>Meanwhile the one honest record of what they actually eat already exists — </a:t>
            </a:r>
            <a:r>
              <a:rPr sz="1550" b="1" i="0">
                <a:solidFill>
                  <a:srgbClr val="5F7B4F"/>
                </a:solidFill>
                <a:latin typeface="Arial"/>
              </a:rPr>
              <a:t>the grocery receipt.</a:t>
            </a:r>
          </a:p>
        </p:txBody>
      </p:sp>
      <p:sp>
        <p:nvSpPr>
          <p:cNvPr id="6" name="Rounded Rectangle 5"/>
          <p:cNvSpPr/>
          <p:nvPr/>
        </p:nvSpPr>
        <p:spPr>
          <a:xfrm>
            <a:off x="6766560" y="1783080"/>
            <a:ext cx="4617720" cy="3520440"/>
          </a:xfrm>
          <a:prstGeom prst="roundRect">
            <a:avLst>
              <a:gd name="adj" fmla="val 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2011680"/>
            <a:ext cx="40233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7B4F"/>
                </a:solidFill>
                <a:latin typeface="Arial"/>
              </a:rPr>
              <a:t>WHY IT MATTERS</a:t>
            </a:r>
          </a:p>
        </p:txBody>
      </p:sp>
      <p:sp>
        <p:nvSpPr>
          <p:cNvPr id="8" name="Oval 7"/>
          <p:cNvSpPr/>
          <p:nvPr/>
        </p:nvSpPr>
        <p:spPr>
          <a:xfrm>
            <a:off x="7086600" y="2478024"/>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2441448"/>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1</a:t>
            </a:r>
          </a:p>
        </p:txBody>
      </p:sp>
      <p:sp>
        <p:nvSpPr>
          <p:cNvPr id="10" name="TextBox 9"/>
          <p:cNvSpPr txBox="1"/>
          <p:nvPr/>
        </p:nvSpPr>
        <p:spPr>
          <a:xfrm>
            <a:off x="7543800" y="2404872"/>
            <a:ext cx="3566160" cy="822960"/>
          </a:xfrm>
          <a:prstGeom prst="rect">
            <a:avLst/>
          </a:prstGeom>
          <a:noFill/>
        </p:spPr>
        <p:txBody>
          <a:bodyPr wrap="square" anchor="t" lIns="0" rIns="0" tIns="0" bIns="0">
            <a:spAutoFit/>
          </a:bodyPr>
          <a:lstStyle/>
          <a:p>
            <a:pPr algn="l">
              <a:lnSpc>
                <a:spcPct val="105000"/>
              </a:lnSpc>
              <a:spcBef>
                <a:spcPts val="0"/>
              </a:spcBef>
              <a:spcAft>
                <a:spcPts val="400"/>
              </a:spcAft>
            </a:pPr>
            <a:r>
              <a:rPr sz="1350" b="0" i="0">
                <a:solidFill>
                  <a:srgbClr val="1D1D21"/>
                </a:solidFill>
                <a:latin typeface="Arial"/>
              </a:rPr>
              <a:t>Manual logging is the #1 reason nutrition apps get abandoned</a:t>
            </a:r>
          </a:p>
        </p:txBody>
      </p:sp>
      <p:sp>
        <p:nvSpPr>
          <p:cNvPr id="11" name="Oval 10"/>
          <p:cNvSpPr/>
          <p:nvPr/>
        </p:nvSpPr>
        <p:spPr>
          <a:xfrm>
            <a:off x="7086600" y="3392424"/>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3355848"/>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2</a:t>
            </a:r>
          </a:p>
        </p:txBody>
      </p:sp>
      <p:sp>
        <p:nvSpPr>
          <p:cNvPr id="13" name="TextBox 12"/>
          <p:cNvSpPr txBox="1"/>
          <p:nvPr/>
        </p:nvSpPr>
        <p:spPr>
          <a:xfrm>
            <a:off x="7543800" y="3319272"/>
            <a:ext cx="3566160" cy="822960"/>
          </a:xfrm>
          <a:prstGeom prst="rect">
            <a:avLst/>
          </a:prstGeom>
          <a:noFill/>
        </p:spPr>
        <p:txBody>
          <a:bodyPr wrap="square" anchor="t" lIns="0" rIns="0" tIns="0" bIns="0">
            <a:spAutoFit/>
          </a:bodyPr>
          <a:lstStyle/>
          <a:p>
            <a:pPr algn="l">
              <a:lnSpc>
                <a:spcPct val="105000"/>
              </a:lnSpc>
              <a:spcBef>
                <a:spcPts val="0"/>
              </a:spcBef>
              <a:spcAft>
                <a:spcPts val="400"/>
              </a:spcAft>
            </a:pPr>
            <a:r>
              <a:rPr sz="1350" b="0" i="0">
                <a:solidFill>
                  <a:srgbClr val="1D1D21"/>
                </a:solidFill>
                <a:latin typeface="Arial"/>
              </a:rPr>
              <a:t>Receipts are passive — zero extra effort for the user</a:t>
            </a:r>
          </a:p>
        </p:txBody>
      </p:sp>
      <p:sp>
        <p:nvSpPr>
          <p:cNvPr id="14" name="Oval 13"/>
          <p:cNvSpPr/>
          <p:nvPr/>
        </p:nvSpPr>
        <p:spPr>
          <a:xfrm>
            <a:off x="7086600" y="4306824"/>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4270248"/>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3</a:t>
            </a:r>
          </a:p>
        </p:txBody>
      </p:sp>
      <p:sp>
        <p:nvSpPr>
          <p:cNvPr id="16" name="TextBox 15"/>
          <p:cNvSpPr txBox="1"/>
          <p:nvPr/>
        </p:nvSpPr>
        <p:spPr>
          <a:xfrm>
            <a:off x="7543800" y="4233672"/>
            <a:ext cx="3566160" cy="822960"/>
          </a:xfrm>
          <a:prstGeom prst="rect">
            <a:avLst/>
          </a:prstGeom>
          <a:noFill/>
        </p:spPr>
        <p:txBody>
          <a:bodyPr wrap="square" anchor="t" lIns="0" rIns="0" tIns="0" bIns="0">
            <a:spAutoFit/>
          </a:bodyPr>
          <a:lstStyle/>
          <a:p>
            <a:pPr algn="l">
              <a:lnSpc>
                <a:spcPct val="105000"/>
              </a:lnSpc>
              <a:spcBef>
                <a:spcPts val="0"/>
              </a:spcBef>
              <a:spcAft>
                <a:spcPts val="400"/>
              </a:spcAft>
            </a:pPr>
            <a:r>
              <a:rPr sz="1350" b="0" i="0">
                <a:solidFill>
                  <a:srgbClr val="1D1D21"/>
                </a:solidFill>
                <a:latin typeface="Arial"/>
              </a:rPr>
              <a:t>One clear “next cart” decision beats another dashboard to ignore</a:t>
            </a:r>
          </a:p>
        </p:txBody>
      </p:sp>
      <p:sp>
        <p:nvSpPr>
          <p:cNvPr id="17" name="TextBox 16"/>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18" name="TextBox 17"/>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THE SOLUTION</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One receipt in → a pantry that works for you</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81328"/>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Upload  ›  Your Pantry  ›  Check off what you ate  ›  Weekly gaps + 2 picks</a:t>
            </a:r>
          </a:p>
        </p:txBody>
      </p:sp>
      <p:sp>
        <p:nvSpPr>
          <p:cNvPr id="6" name="TextBox 5"/>
          <p:cNvSpPr txBox="1"/>
          <p:nvPr/>
        </p:nvSpPr>
        <p:spPr>
          <a:xfrm>
            <a:off x="3218688"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7" name="TextBox 6"/>
          <p:cNvSpPr txBox="1"/>
          <p:nvPr/>
        </p:nvSpPr>
        <p:spPr>
          <a:xfrm>
            <a:off x="5934455"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8" name="TextBox 7"/>
          <p:cNvSpPr txBox="1"/>
          <p:nvPr/>
        </p:nvSpPr>
        <p:spPr>
          <a:xfrm>
            <a:off x="8650224"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9" name="TextBox 8"/>
          <p:cNvSpPr txBox="1"/>
          <p:nvPr/>
        </p:nvSpPr>
        <p:spPr>
          <a:xfrm>
            <a:off x="868680"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1 · Onboarding chat</a:t>
            </a:r>
          </a:p>
          <a:p>
            <a:pPr algn="ctr">
              <a:lnSpc>
                <a:spcPct val="100000"/>
              </a:lnSpc>
              <a:spcBef>
                <a:spcPts val="0"/>
              </a:spcBef>
              <a:spcAft>
                <a:spcPts val="100"/>
              </a:spcAft>
            </a:pPr>
            <a:r>
              <a:rPr sz="1000" b="0" i="0">
                <a:solidFill>
                  <a:srgbClr val="6E6F74"/>
                </a:solidFill>
                <a:latin typeface="Arial"/>
              </a:rPr>
              <a:t>conversational profile</a:t>
            </a:r>
          </a:p>
        </p:txBody>
      </p:sp>
      <p:sp>
        <p:nvSpPr>
          <p:cNvPr id="10" name="TextBox 9"/>
          <p:cNvSpPr txBox="1"/>
          <p:nvPr/>
        </p:nvSpPr>
        <p:spPr>
          <a:xfrm>
            <a:off x="3584448"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2 · Your Pantry</a:t>
            </a:r>
          </a:p>
          <a:p>
            <a:pPr algn="ctr">
              <a:lnSpc>
                <a:spcPct val="100000"/>
              </a:lnSpc>
              <a:spcBef>
                <a:spcPts val="0"/>
              </a:spcBef>
              <a:spcAft>
                <a:spcPts val="100"/>
              </a:spcAft>
            </a:pPr>
            <a:r>
              <a:rPr sz="1000" b="0" i="0">
                <a:solidFill>
                  <a:srgbClr val="6E6F74"/>
                </a:solidFill>
                <a:latin typeface="Arial"/>
              </a:rPr>
              <a:t>home · expiry-aware</a:t>
            </a:r>
          </a:p>
        </p:txBody>
      </p:sp>
      <p:sp>
        <p:nvSpPr>
          <p:cNvPr id="11" name="TextBox 10"/>
          <p:cNvSpPr txBox="1"/>
          <p:nvPr/>
        </p:nvSpPr>
        <p:spPr>
          <a:xfrm>
            <a:off x="6300216"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3 · Daily log</a:t>
            </a:r>
          </a:p>
          <a:p>
            <a:pPr algn="ctr">
              <a:lnSpc>
                <a:spcPct val="100000"/>
              </a:lnSpc>
              <a:spcBef>
                <a:spcPts val="0"/>
              </a:spcBef>
              <a:spcAft>
                <a:spcPts val="100"/>
              </a:spcAft>
            </a:pPr>
            <a:r>
              <a:rPr sz="1000" b="0" i="0">
                <a:solidFill>
                  <a:srgbClr val="6E6F74"/>
                </a:solidFill>
                <a:latin typeface="Arial"/>
              </a:rPr>
              <a:t>1 tap = 1 portion</a:t>
            </a:r>
          </a:p>
        </p:txBody>
      </p:sp>
      <p:sp>
        <p:nvSpPr>
          <p:cNvPr id="12" name="TextBox 11"/>
          <p:cNvSpPr txBox="1"/>
          <p:nvPr/>
        </p:nvSpPr>
        <p:spPr>
          <a:xfrm>
            <a:off x="9015984"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4 · Insights</a:t>
            </a:r>
          </a:p>
          <a:p>
            <a:pPr algn="ctr">
              <a:lnSpc>
                <a:spcPct val="100000"/>
              </a:lnSpc>
              <a:spcBef>
                <a:spcPts val="0"/>
              </a:spcBef>
              <a:spcAft>
                <a:spcPts val="100"/>
              </a:spcAft>
            </a:pPr>
            <a:r>
              <a:rPr sz="1000" b="0" i="0">
                <a:solidFill>
                  <a:srgbClr val="6E6F74"/>
                </a:solidFill>
                <a:latin typeface="Arial"/>
              </a:rPr>
              <a:t>weekly gaps + picks</a:t>
            </a:r>
          </a:p>
        </p:txBody>
      </p:sp>
      <p:sp>
        <p:nvSpPr>
          <p:cNvPr id="13" name="Rounded Rectangle 12"/>
          <p:cNvSpPr/>
          <p:nvPr/>
        </p:nvSpPr>
        <p:spPr>
          <a:xfrm>
            <a:off x="868680"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868680"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NutriWise</a:t>
            </a:r>
          </a:p>
        </p:txBody>
      </p:sp>
      <p:sp>
        <p:nvSpPr>
          <p:cNvPr id="16" name="Rounded Rectangle 15"/>
          <p:cNvSpPr/>
          <p:nvPr/>
        </p:nvSpPr>
        <p:spPr>
          <a:xfrm>
            <a:off x="1051560" y="2715768"/>
            <a:ext cx="1417320" cy="365760"/>
          </a:xfrm>
          <a:prstGeom prst="roundRect">
            <a:avLst>
              <a:gd name="adj" fmla="val 4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2734056"/>
            <a:ext cx="1280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Dein Ziel?</a:t>
            </a:r>
          </a:p>
        </p:txBody>
      </p:sp>
      <p:sp>
        <p:nvSpPr>
          <p:cNvPr id="18" name="Rounded Rectangle 17"/>
          <p:cNvSpPr/>
          <p:nvPr/>
        </p:nvSpPr>
        <p:spPr>
          <a:xfrm>
            <a:off x="1600200" y="3191256"/>
            <a:ext cx="1417320" cy="365760"/>
          </a:xfrm>
          <a:prstGeom prst="roundRect">
            <a:avLst>
              <a:gd name="adj" fmla="val 45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19072" y="3209544"/>
            <a:ext cx="1280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750" b="0" i="0">
                <a:solidFill>
                  <a:srgbClr val="FFFFFF"/>
                </a:solidFill>
                <a:latin typeface="Arial"/>
              </a:rPr>
              <a:t>Gesünder essen</a:t>
            </a:r>
          </a:p>
        </p:txBody>
      </p:sp>
      <p:sp>
        <p:nvSpPr>
          <p:cNvPr id="20" name="Rounded Rectangle 19"/>
          <p:cNvSpPr/>
          <p:nvPr/>
        </p:nvSpPr>
        <p:spPr>
          <a:xfrm>
            <a:off x="1051560"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Wenig</a:t>
            </a:r>
          </a:p>
        </p:txBody>
      </p:sp>
      <p:sp>
        <p:nvSpPr>
          <p:cNvPr id="22" name="Rounded Rectangle 21"/>
          <p:cNvSpPr/>
          <p:nvPr/>
        </p:nvSpPr>
        <p:spPr>
          <a:xfrm>
            <a:off x="1709928"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9928"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Mittel</a:t>
            </a:r>
          </a:p>
        </p:txBody>
      </p:sp>
      <p:sp>
        <p:nvSpPr>
          <p:cNvPr id="24" name="Rounded Rectangle 23"/>
          <p:cNvSpPr/>
          <p:nvPr/>
        </p:nvSpPr>
        <p:spPr>
          <a:xfrm>
            <a:off x="2368296"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68296"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Hoch</a:t>
            </a:r>
          </a:p>
        </p:txBody>
      </p:sp>
      <p:sp>
        <p:nvSpPr>
          <p:cNvPr id="26" name="Rectangle 25"/>
          <p:cNvSpPr/>
          <p:nvPr/>
        </p:nvSpPr>
        <p:spPr>
          <a:xfrm>
            <a:off x="1051560" y="4434840"/>
            <a:ext cx="128016" cy="45720"/>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34439"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17319"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00200"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84448"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3584448"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7328"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Dein Vorrat</a:t>
            </a:r>
          </a:p>
        </p:txBody>
      </p:sp>
      <p:sp>
        <p:nvSpPr>
          <p:cNvPr id="33" name="Rounded Rectangle 32"/>
          <p:cNvSpPr/>
          <p:nvPr/>
        </p:nvSpPr>
        <p:spPr>
          <a:xfrm>
            <a:off x="3767328" y="2679192"/>
            <a:ext cx="1965960" cy="502920"/>
          </a:xfrm>
          <a:prstGeom prst="roundRect">
            <a:avLst>
              <a:gd name="adj" fmla="val 20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86200" y="2715768"/>
            <a:ext cx="1783080" cy="457200"/>
          </a:xfrm>
          <a:prstGeom prst="rect">
            <a:avLst/>
          </a:prstGeom>
          <a:noFill/>
        </p:spPr>
        <p:txBody>
          <a:bodyPr wrap="square" anchor="t" lIns="0" rIns="0" tIns="0" bIns="0">
            <a:spAutoFit/>
          </a:bodyPr>
          <a:lstStyle/>
          <a:p>
            <a:pPr algn="l">
              <a:lnSpc>
                <a:spcPct val="100000"/>
              </a:lnSpc>
              <a:spcBef>
                <a:spcPts val="0"/>
              </a:spcBef>
              <a:spcAft>
                <a:spcPts val="100"/>
              </a:spcAft>
            </a:pPr>
            <a:r>
              <a:rPr sz="700" b="1" i="0">
                <a:solidFill>
                  <a:srgbClr val="5F7B4F"/>
                </a:solidFill>
                <a:latin typeface="Arial"/>
              </a:rPr>
              <a:t>EMPFOHLEN</a:t>
            </a:r>
          </a:p>
          <a:p>
            <a:pPr algn="l">
              <a:lnSpc>
                <a:spcPct val="100000"/>
              </a:lnSpc>
              <a:spcBef>
                <a:spcPts val="0"/>
              </a:spcBef>
              <a:spcAft>
                <a:spcPts val="100"/>
              </a:spcAft>
            </a:pPr>
            <a:r>
              <a:rPr sz="850" b="1" i="0">
                <a:solidFill>
                  <a:srgbClr val="1D1D21"/>
                </a:solidFill>
                <a:latin typeface="Arial"/>
              </a:rPr>
              <a:t>🥛 Trink deine Buttermilch</a:t>
            </a:r>
          </a:p>
        </p:txBody>
      </p:sp>
      <p:sp>
        <p:nvSpPr>
          <p:cNvPr id="35" name="Rounded Rectangle 34"/>
          <p:cNvSpPr/>
          <p:nvPr/>
        </p:nvSpPr>
        <p:spPr>
          <a:xfrm>
            <a:off x="3767328" y="3355848"/>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3355848"/>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Hähnchenbrust</a:t>
            </a:r>
          </a:p>
        </p:txBody>
      </p:sp>
      <p:sp>
        <p:nvSpPr>
          <p:cNvPr id="37" name="TextBox 36"/>
          <p:cNvSpPr txBox="1"/>
          <p:nvPr/>
        </p:nvSpPr>
        <p:spPr>
          <a:xfrm>
            <a:off x="5138928" y="3355848"/>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B36A4A"/>
                </a:solidFill>
                <a:latin typeface="Arial"/>
              </a:rPr>
              <a:t>1 Tag</a:t>
            </a:r>
          </a:p>
        </p:txBody>
      </p:sp>
      <p:sp>
        <p:nvSpPr>
          <p:cNvPr id="38" name="Rounded Rectangle 37"/>
          <p:cNvSpPr/>
          <p:nvPr/>
        </p:nvSpPr>
        <p:spPr>
          <a:xfrm>
            <a:off x="3767328" y="3904487"/>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86200" y="3904487"/>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Buttermilch</a:t>
            </a:r>
          </a:p>
        </p:txBody>
      </p:sp>
      <p:sp>
        <p:nvSpPr>
          <p:cNvPr id="40" name="TextBox 39"/>
          <p:cNvSpPr txBox="1"/>
          <p:nvPr/>
        </p:nvSpPr>
        <p:spPr>
          <a:xfrm>
            <a:off x="5138928" y="3904487"/>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B36A4A"/>
                </a:solidFill>
                <a:latin typeface="Arial"/>
              </a:rPr>
              <a:t>2 Tage</a:t>
            </a:r>
          </a:p>
        </p:txBody>
      </p:sp>
      <p:sp>
        <p:nvSpPr>
          <p:cNvPr id="41" name="Rounded Rectangle 40"/>
          <p:cNvSpPr/>
          <p:nvPr/>
        </p:nvSpPr>
        <p:spPr>
          <a:xfrm>
            <a:off x="3767328" y="4453128"/>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86200" y="4453128"/>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Brokkoli</a:t>
            </a:r>
          </a:p>
        </p:txBody>
      </p:sp>
      <p:sp>
        <p:nvSpPr>
          <p:cNvPr id="43" name="TextBox 42"/>
          <p:cNvSpPr txBox="1"/>
          <p:nvPr/>
        </p:nvSpPr>
        <p:spPr>
          <a:xfrm>
            <a:off x="5138928" y="4453128"/>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5F7B4F"/>
                </a:solidFill>
                <a:latin typeface="Arial"/>
              </a:rPr>
              <a:t>frisch</a:t>
            </a:r>
          </a:p>
        </p:txBody>
      </p:sp>
      <p:sp>
        <p:nvSpPr>
          <p:cNvPr id="44" name="Rounded Rectangle 43"/>
          <p:cNvSpPr/>
          <p:nvPr/>
        </p:nvSpPr>
        <p:spPr>
          <a:xfrm>
            <a:off x="6300216"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 Same Side Corner Rectangle 44"/>
          <p:cNvSpPr/>
          <p:nvPr/>
        </p:nvSpPr>
        <p:spPr>
          <a:xfrm>
            <a:off x="6300216"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83096"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Tages-Log</a:t>
            </a:r>
          </a:p>
        </p:txBody>
      </p:sp>
      <p:sp>
        <p:nvSpPr>
          <p:cNvPr id="47" name="TextBox 46"/>
          <p:cNvSpPr txBox="1"/>
          <p:nvPr/>
        </p:nvSpPr>
        <p:spPr>
          <a:xfrm>
            <a:off x="6483096" y="2807208"/>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Protein</a:t>
            </a:r>
            <a:r>
              <a:rPr sz="700" b="0" i="0">
                <a:solidFill>
                  <a:srgbClr val="6E6F74"/>
                </a:solidFill>
                <a:latin typeface="Arial"/>
              </a:rPr>
              <a:t>   62 / 120 g</a:t>
            </a:r>
          </a:p>
        </p:txBody>
      </p:sp>
      <p:sp>
        <p:nvSpPr>
          <p:cNvPr id="48" name="Rounded Rectangle 47"/>
          <p:cNvSpPr/>
          <p:nvPr/>
        </p:nvSpPr>
        <p:spPr>
          <a:xfrm>
            <a:off x="6483096" y="3081527"/>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483096" y="3081527"/>
            <a:ext cx="1022299" cy="128016"/>
          </a:xfrm>
          <a:prstGeom prst="roundRect">
            <a:avLst>
              <a:gd name="adj" fmla="val 50000"/>
            </a:avLst>
          </a:prstGeom>
          <a:solidFill>
            <a:srgbClr val="B3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83096" y="3465576"/>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Ballaststoffe</a:t>
            </a:r>
            <a:r>
              <a:rPr sz="700" b="0" i="0">
                <a:solidFill>
                  <a:srgbClr val="6E6F74"/>
                </a:solidFill>
                <a:latin typeface="Arial"/>
              </a:rPr>
              <a:t>   11 / 30 g</a:t>
            </a:r>
          </a:p>
        </p:txBody>
      </p:sp>
      <p:sp>
        <p:nvSpPr>
          <p:cNvPr id="51" name="Rounded Rectangle 50"/>
          <p:cNvSpPr/>
          <p:nvPr/>
        </p:nvSpPr>
        <p:spPr>
          <a:xfrm>
            <a:off x="6483096" y="3739896"/>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83096" y="3739896"/>
            <a:ext cx="727405" cy="128016"/>
          </a:xfrm>
          <a:prstGeom prst="roundRect">
            <a:avLst>
              <a:gd name="adj" fmla="val 50000"/>
            </a:avLst>
          </a:prstGeom>
          <a:solidFill>
            <a:srgbClr val="B3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83096" y="4123944"/>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Kalorien</a:t>
            </a:r>
            <a:r>
              <a:rPr sz="700" b="0" i="0">
                <a:solidFill>
                  <a:srgbClr val="6E6F74"/>
                </a:solidFill>
                <a:latin typeface="Arial"/>
              </a:rPr>
              <a:t>   1.340 / 2.100</a:t>
            </a:r>
          </a:p>
        </p:txBody>
      </p:sp>
      <p:sp>
        <p:nvSpPr>
          <p:cNvPr id="54" name="Rounded Rectangle 53"/>
          <p:cNvSpPr/>
          <p:nvPr/>
        </p:nvSpPr>
        <p:spPr>
          <a:xfrm>
            <a:off x="6483096" y="4398264"/>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483096" y="4398264"/>
            <a:ext cx="1258214" cy="128016"/>
          </a:xfrm>
          <a:prstGeom prst="roundRect">
            <a:avLst>
              <a:gd name="adj" fmla="val 5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015984"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 Same Side Corner Rectangle 56"/>
          <p:cNvSpPr/>
          <p:nvPr/>
        </p:nvSpPr>
        <p:spPr>
          <a:xfrm>
            <a:off x="9015984"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98863"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Insights</a:t>
            </a:r>
          </a:p>
        </p:txBody>
      </p:sp>
      <p:sp>
        <p:nvSpPr>
          <p:cNvPr id="59" name="TextBox 58"/>
          <p:cNvSpPr txBox="1"/>
          <p:nvPr/>
        </p:nvSpPr>
        <p:spPr>
          <a:xfrm>
            <a:off x="9198863" y="2624328"/>
            <a:ext cx="1965960" cy="603504"/>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5F7B4F"/>
                </a:solidFill>
                <a:latin typeface="Arial"/>
              </a:rPr>
              <a:t>72</a:t>
            </a:r>
          </a:p>
        </p:txBody>
      </p:sp>
      <p:sp>
        <p:nvSpPr>
          <p:cNvPr id="60" name="TextBox 59"/>
          <p:cNvSpPr txBox="1"/>
          <p:nvPr/>
        </p:nvSpPr>
        <p:spPr>
          <a:xfrm>
            <a:off x="9198863" y="3227832"/>
            <a:ext cx="1965960" cy="274320"/>
          </a:xfrm>
          <a:prstGeom prst="rect">
            <a:avLst/>
          </a:prstGeom>
          <a:noFill/>
        </p:spPr>
        <p:txBody>
          <a:bodyPr wrap="square" anchor="t" lIns="0" rIns="0" tIns="0" bIns="0">
            <a:spAutoFit/>
          </a:bodyPr>
          <a:lstStyle/>
          <a:p>
            <a:pPr algn="ctr">
              <a:lnSpc>
                <a:spcPct val="100000"/>
              </a:lnSpc>
              <a:spcBef>
                <a:spcPts val="0"/>
              </a:spcBef>
              <a:spcAft>
                <a:spcPts val="400"/>
              </a:spcAft>
            </a:pPr>
            <a:r>
              <a:rPr sz="800" b="0" i="0">
                <a:solidFill>
                  <a:srgbClr val="6E6F74"/>
                </a:solidFill>
                <a:latin typeface="Arial"/>
              </a:rPr>
              <a:t>Wochen-Score · Gut</a:t>
            </a:r>
          </a:p>
        </p:txBody>
      </p:sp>
      <p:sp>
        <p:nvSpPr>
          <p:cNvPr id="61" name="Rounded Rectangle 60"/>
          <p:cNvSpPr/>
          <p:nvPr/>
        </p:nvSpPr>
        <p:spPr>
          <a:xfrm>
            <a:off x="9198863" y="359359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99447" y="359359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Protein</a:t>
            </a:r>
          </a:p>
          <a:p>
            <a:pPr algn="l">
              <a:lnSpc>
                <a:spcPct val="100000"/>
              </a:lnSpc>
              <a:spcBef>
                <a:spcPts val="0"/>
              </a:spcBef>
              <a:spcAft>
                <a:spcPts val="0"/>
              </a:spcAft>
            </a:pPr>
            <a:r>
              <a:rPr sz="750" b="1" i="0">
                <a:solidFill>
                  <a:srgbClr val="B36A4A"/>
                </a:solidFill>
                <a:latin typeface="Arial"/>
              </a:rPr>
              <a:t>niedrig</a:t>
            </a:r>
          </a:p>
        </p:txBody>
      </p:sp>
      <p:sp>
        <p:nvSpPr>
          <p:cNvPr id="63" name="Rounded Rectangle 62"/>
          <p:cNvSpPr/>
          <p:nvPr/>
        </p:nvSpPr>
        <p:spPr>
          <a:xfrm>
            <a:off x="10204703" y="359359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305287" y="359359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Ballastst.</a:t>
            </a:r>
          </a:p>
          <a:p>
            <a:pPr algn="l">
              <a:lnSpc>
                <a:spcPct val="100000"/>
              </a:lnSpc>
              <a:spcBef>
                <a:spcPts val="0"/>
              </a:spcBef>
              <a:spcAft>
                <a:spcPts val="0"/>
              </a:spcAft>
            </a:pPr>
            <a:r>
              <a:rPr sz="750" b="1" i="0">
                <a:solidFill>
                  <a:srgbClr val="B36A4A"/>
                </a:solidFill>
                <a:latin typeface="Arial"/>
              </a:rPr>
              <a:t>niedrig</a:t>
            </a:r>
          </a:p>
        </p:txBody>
      </p:sp>
      <p:sp>
        <p:nvSpPr>
          <p:cNvPr id="65" name="Rounded Rectangle 64"/>
          <p:cNvSpPr/>
          <p:nvPr/>
        </p:nvSpPr>
        <p:spPr>
          <a:xfrm>
            <a:off x="9198863" y="414223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99447" y="414223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Zucker</a:t>
            </a:r>
          </a:p>
          <a:p>
            <a:pPr algn="l">
              <a:lnSpc>
                <a:spcPct val="100000"/>
              </a:lnSpc>
              <a:spcBef>
                <a:spcPts val="0"/>
              </a:spcBef>
              <a:spcAft>
                <a:spcPts val="0"/>
              </a:spcAft>
            </a:pPr>
            <a:r>
              <a:rPr sz="750" b="1" i="0">
                <a:solidFill>
                  <a:srgbClr val="5F7B4F"/>
                </a:solidFill>
                <a:latin typeface="Arial"/>
              </a:rPr>
              <a:t>ok</a:t>
            </a:r>
          </a:p>
        </p:txBody>
      </p:sp>
      <p:sp>
        <p:nvSpPr>
          <p:cNvPr id="67" name="Rounded Rectangle 66"/>
          <p:cNvSpPr/>
          <p:nvPr/>
        </p:nvSpPr>
        <p:spPr>
          <a:xfrm>
            <a:off x="10204703" y="414223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05287" y="414223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Kalorien</a:t>
            </a:r>
          </a:p>
          <a:p>
            <a:pPr algn="l">
              <a:lnSpc>
                <a:spcPct val="100000"/>
              </a:lnSpc>
              <a:spcBef>
                <a:spcPts val="0"/>
              </a:spcBef>
              <a:spcAft>
                <a:spcPts val="0"/>
              </a:spcAft>
            </a:pPr>
            <a:r>
              <a:rPr sz="750" b="1" i="0">
                <a:solidFill>
                  <a:srgbClr val="5F7B4F"/>
                </a:solidFill>
                <a:latin typeface="Arial"/>
              </a:rPr>
              <a:t>ok</a:t>
            </a:r>
          </a:p>
        </p:txBody>
      </p:sp>
      <p:sp>
        <p:nvSpPr>
          <p:cNvPr id="69" name="TextBox 68"/>
          <p:cNvSpPr txBox="1"/>
          <p:nvPr/>
        </p:nvSpPr>
        <p:spPr>
          <a:xfrm>
            <a:off x="822960" y="5852160"/>
            <a:ext cx="105156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0" i="1">
                <a:solidFill>
                  <a:srgbClr val="6E6F74"/>
                </a:solidFill>
                <a:latin typeface="Arial"/>
              </a:rPr>
              <a:t>Fully clickable prototype — light &amp; dark.  </a:t>
            </a:r>
            <a:r>
              <a:rPr sz="1100" b="1" i="1">
                <a:solidFill>
                  <a:srgbClr val="5F7B4F"/>
                </a:solidFill>
                <a:latin typeface="Arial"/>
              </a:rPr>
              <a:t>Estimates from your groceries + taps — not medical advice.</a:t>
            </a:r>
          </a:p>
        </p:txBody>
      </p:sp>
      <p:sp>
        <p:nvSpPr>
          <p:cNvPr id="70" name="TextBox 6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71" name="TextBox 7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HONEST BY DESIGN</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We show only what your data actually supports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17904"/>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1">
                <a:solidFill>
                  <a:srgbClr val="6E6F74"/>
                </a:solidFill>
                <a:latin typeface="Arial"/>
              </a:rPr>
              <a:t>The more you track, the more we can say — and we never pretend to know more than we do.</a:t>
            </a:r>
          </a:p>
        </p:txBody>
      </p:sp>
      <p:sp>
        <p:nvSpPr>
          <p:cNvPr id="6" name="Rounded Rectangle 5"/>
          <p:cNvSpPr/>
          <p:nvPr/>
        </p:nvSpPr>
        <p:spPr>
          <a:xfrm>
            <a:off x="822960"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 Same Side Corner Rectangle 6"/>
          <p:cNvSpPr/>
          <p:nvPr/>
        </p:nvSpPr>
        <p:spPr>
          <a:xfrm>
            <a:off x="822960" y="2148840"/>
            <a:ext cx="1956816" cy="603504"/>
          </a:xfrm>
          <a:prstGeom prst="round2SameRect">
            <a:avLst>
              <a:gd name="adj1" fmla="val 9000"/>
              <a:gd name="adj2" fmla="val 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1D1D21"/>
                </a:solidFill>
                <a:latin typeface="Arial"/>
              </a:rPr>
              <a:t>DAY 0</a:t>
            </a:r>
          </a:p>
        </p:txBody>
      </p:sp>
      <p:sp>
        <p:nvSpPr>
          <p:cNvPr id="9" name="TextBox 8"/>
          <p:cNvSpPr txBox="1"/>
          <p:nvPr/>
        </p:nvSpPr>
        <p:spPr>
          <a:xfrm>
            <a:off x="1024128"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Your targets</a:t>
            </a:r>
          </a:p>
        </p:txBody>
      </p:sp>
      <p:sp>
        <p:nvSpPr>
          <p:cNvPr id="10" name="TextBox 9"/>
          <p:cNvSpPr txBox="1"/>
          <p:nvPr/>
        </p:nvSpPr>
        <p:spPr>
          <a:xfrm>
            <a:off x="1024128"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What to aim for, from your profile. No eating data yet.</a:t>
            </a:r>
          </a:p>
        </p:txBody>
      </p:sp>
      <p:sp>
        <p:nvSpPr>
          <p:cNvPr id="11" name="TextBox 10"/>
          <p:cNvSpPr txBox="1"/>
          <p:nvPr/>
        </p:nvSpPr>
        <p:spPr>
          <a:xfrm>
            <a:off x="2761488"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12" name="Rounded Rectangle 11"/>
          <p:cNvSpPr/>
          <p:nvPr/>
        </p:nvSpPr>
        <p:spPr>
          <a:xfrm>
            <a:off x="2953512"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2953512" y="2148840"/>
            <a:ext cx="1956816" cy="603504"/>
          </a:xfrm>
          <a:prstGeom prst="round2SameRect">
            <a:avLst>
              <a:gd name="adj1" fmla="val 9000"/>
              <a:gd name="adj2" fmla="val 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3512"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1D1D21"/>
                </a:solidFill>
                <a:latin typeface="Arial"/>
              </a:rPr>
              <a:t>1ST RECEIPT</a:t>
            </a:r>
          </a:p>
        </p:txBody>
      </p:sp>
      <p:sp>
        <p:nvSpPr>
          <p:cNvPr id="15" name="TextBox 14"/>
          <p:cNvSpPr txBox="1"/>
          <p:nvPr/>
        </p:nvSpPr>
        <p:spPr>
          <a:xfrm>
            <a:off x="3154680"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Your basket</a:t>
            </a:r>
          </a:p>
        </p:txBody>
      </p:sp>
      <p:sp>
        <p:nvSpPr>
          <p:cNvPr id="16" name="TextBox 15"/>
          <p:cNvSpPr txBox="1"/>
          <p:nvPr/>
        </p:nvSpPr>
        <p:spPr>
          <a:xfrm>
            <a:off x="3154680"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The mix of what you bought — labeled “basket,” never “diet.”</a:t>
            </a:r>
          </a:p>
        </p:txBody>
      </p:sp>
      <p:sp>
        <p:nvSpPr>
          <p:cNvPr id="17" name="TextBox 16"/>
          <p:cNvSpPr txBox="1"/>
          <p:nvPr/>
        </p:nvSpPr>
        <p:spPr>
          <a:xfrm>
            <a:off x="4892040"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18" name="Rounded Rectangle 17"/>
          <p:cNvSpPr/>
          <p:nvPr/>
        </p:nvSpPr>
        <p:spPr>
          <a:xfrm>
            <a:off x="5084064"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5084064" y="2148840"/>
            <a:ext cx="1956816" cy="603504"/>
          </a:xfrm>
          <a:prstGeom prst="round2SameRect">
            <a:avLst>
              <a:gd name="adj1" fmla="val 9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64"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FEW TAPS</a:t>
            </a:r>
          </a:p>
        </p:txBody>
      </p:sp>
      <p:sp>
        <p:nvSpPr>
          <p:cNvPr id="21" name="TextBox 20"/>
          <p:cNvSpPr txBox="1"/>
          <p:nvPr/>
        </p:nvSpPr>
        <p:spPr>
          <a:xfrm>
            <a:off x="5285232"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Early signs</a:t>
            </a:r>
          </a:p>
        </p:txBody>
      </p:sp>
      <p:sp>
        <p:nvSpPr>
          <p:cNvPr id="22" name="TextBox 21"/>
          <p:cNvSpPr txBox="1"/>
          <p:nvPr/>
        </p:nvSpPr>
        <p:spPr>
          <a:xfrm>
            <a:off x="5285232"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Soft hints + a “3 / 7 days tracked” bar. No hard score yet.</a:t>
            </a:r>
          </a:p>
        </p:txBody>
      </p:sp>
      <p:sp>
        <p:nvSpPr>
          <p:cNvPr id="23" name="TextBox 22"/>
          <p:cNvSpPr txBox="1"/>
          <p:nvPr/>
        </p:nvSpPr>
        <p:spPr>
          <a:xfrm>
            <a:off x="7022592"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24" name="Rounded Rectangle 23"/>
          <p:cNvSpPr/>
          <p:nvPr/>
        </p:nvSpPr>
        <p:spPr>
          <a:xfrm>
            <a:off x="7214616"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 Same Side Corner Rectangle 24"/>
          <p:cNvSpPr/>
          <p:nvPr/>
        </p:nvSpPr>
        <p:spPr>
          <a:xfrm>
            <a:off x="7214616" y="2148840"/>
            <a:ext cx="1956816" cy="603504"/>
          </a:xfrm>
          <a:prstGeom prst="round2SameRect">
            <a:avLst>
              <a:gd name="adj1" fmla="val 9000"/>
              <a:gd name="adj2" fmla="val 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14616"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1 WEEK</a:t>
            </a:r>
          </a:p>
        </p:txBody>
      </p:sp>
      <p:sp>
        <p:nvSpPr>
          <p:cNvPr id="27" name="TextBox 26"/>
          <p:cNvSpPr txBox="1"/>
          <p:nvPr/>
        </p:nvSpPr>
        <p:spPr>
          <a:xfrm>
            <a:off x="7415784"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Weekly score</a:t>
            </a:r>
          </a:p>
        </p:txBody>
      </p:sp>
      <p:sp>
        <p:nvSpPr>
          <p:cNvPr id="28" name="TextBox 27"/>
          <p:cNvSpPr txBox="1"/>
          <p:nvPr/>
        </p:nvSpPr>
        <p:spPr>
          <a:xfrm>
            <a:off x="7415784"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Your main number: gaps per nutrient, allowing for meals eaten out.</a:t>
            </a:r>
          </a:p>
        </p:txBody>
      </p:sp>
      <p:sp>
        <p:nvSpPr>
          <p:cNvPr id="29" name="TextBox 28"/>
          <p:cNvSpPr txBox="1"/>
          <p:nvPr/>
        </p:nvSpPr>
        <p:spPr>
          <a:xfrm>
            <a:off x="9153144"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30" name="Rounded Rectangle 29"/>
          <p:cNvSpPr/>
          <p:nvPr/>
        </p:nvSpPr>
        <p:spPr>
          <a:xfrm>
            <a:off x="9345168"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9345168" y="2148840"/>
            <a:ext cx="1956816" cy="603504"/>
          </a:xfrm>
          <a:prstGeom prst="round2SameRect">
            <a:avLst>
              <a:gd name="adj1" fmla="val 9000"/>
              <a:gd name="adj2" fmla="val 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30–90 DAYS</a:t>
            </a:r>
          </a:p>
        </p:txBody>
      </p:sp>
      <p:sp>
        <p:nvSpPr>
          <p:cNvPr id="33" name="TextBox 32"/>
          <p:cNvSpPr txBox="1"/>
          <p:nvPr/>
        </p:nvSpPr>
        <p:spPr>
          <a:xfrm>
            <a:off x="9546336"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Trends</a:t>
            </a:r>
          </a:p>
        </p:txBody>
      </p:sp>
      <p:sp>
        <p:nvSpPr>
          <p:cNvPr id="34" name="TextBox 33"/>
          <p:cNvSpPr txBox="1"/>
          <p:nvPr/>
        </p:nvSpPr>
        <p:spPr>
          <a:xfrm>
            <a:off x="9546336"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Are you improving over time — a line, not a single badge.</a:t>
            </a:r>
          </a:p>
        </p:txBody>
      </p:sp>
      <p:sp>
        <p:nvSpPr>
          <p:cNvPr id="35" name="Rounded Rectangle 34"/>
          <p:cNvSpPr/>
          <p:nvPr/>
        </p:nvSpPr>
        <p:spPr>
          <a:xfrm>
            <a:off x="822960" y="5029200"/>
            <a:ext cx="10543032" cy="96012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138928"/>
            <a:ext cx="10058400" cy="7772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5F7B4F"/>
                </a:solidFill>
                <a:latin typeface="Arial"/>
              </a:rPr>
              <a:t>Never a confident wrong number.  </a:t>
            </a:r>
            <a:r>
              <a:rPr sz="1350" b="0" i="0">
                <a:solidFill>
                  <a:srgbClr val="1D1D21"/>
                </a:solidFill>
                <a:latin typeface="Arial"/>
              </a:rPr>
              <a:t>A coverage floor holds the score back until enough days are tracked, and “your basket” is never relabeled “your diet.” Honesty is the feature.</a:t>
            </a:r>
          </a:p>
        </p:txBody>
      </p:sp>
      <p:sp>
        <p:nvSpPr>
          <p:cNvPr id="37" name="TextBox 36"/>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38" name="TextBox 37"/>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SUCCESS CRITERIA &amp; KPIS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How we'll know it works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104241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6E6F74"/>
                </a:solidFill>
                <a:latin typeface="Arial"/>
              </a:rPr>
              <a:t>Core hypothesis: </a:t>
            </a:r>
            <a:r>
              <a:rPr sz="1400" b="1" i="0">
                <a:solidFill>
                  <a:srgbClr val="1D1D21"/>
                </a:solidFill>
                <a:latin typeface="Arial"/>
              </a:rPr>
              <a:t>do users trust a receipt-inferred recommendation enough to act — and does the check-off habit stick?</a:t>
            </a:r>
          </a:p>
        </p:txBody>
      </p:sp>
      <p:sp>
        <p:nvSpPr>
          <p:cNvPr id="6" name="Rounded Rectangle 5"/>
          <p:cNvSpPr/>
          <p:nvPr/>
        </p:nvSpPr>
        <p:spPr>
          <a:xfrm>
            <a:off x="82296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14016"/>
            <a:ext cx="73152" cy="157276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Week 1</a:t>
            </a:r>
          </a:p>
          <a:p>
            <a:pPr algn="l">
              <a:lnSpc>
                <a:spcPct val="102000"/>
              </a:lnSpc>
              <a:spcBef>
                <a:spcPts val="0"/>
              </a:spcBef>
              <a:spcAft>
                <a:spcPts val="300"/>
              </a:spcAft>
            </a:pPr>
            <a:r>
              <a:rPr sz="1250" b="1" i="0">
                <a:solidFill>
                  <a:srgbClr val="1D1D21"/>
                </a:solidFill>
                <a:latin typeface="Arial"/>
              </a:rPr>
              <a:t>Check-off sticks?</a:t>
            </a:r>
          </a:p>
          <a:p>
            <a:pPr algn="l">
              <a:lnSpc>
                <a:spcPct val="102000"/>
              </a:lnSpc>
              <a:spcBef>
                <a:spcPts val="0"/>
              </a:spcBef>
              <a:spcAft>
                <a:spcPts val="300"/>
              </a:spcAft>
            </a:pPr>
            <a:r>
              <a:rPr sz="1050" b="0" i="0">
                <a:solidFill>
                  <a:srgbClr val="6E6F74"/>
                </a:solidFill>
                <a:latin typeface="Arial"/>
              </a:rPr>
              <a:t>the make-or-break — does tapping survive novelty</a:t>
            </a:r>
          </a:p>
        </p:txBody>
      </p:sp>
      <p:sp>
        <p:nvSpPr>
          <p:cNvPr id="9" name="Rounded Rectangle 8"/>
          <p:cNvSpPr/>
          <p:nvPr/>
        </p:nvSpPr>
        <p:spPr>
          <a:xfrm>
            <a:off x="3657599"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599"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30%</a:t>
            </a:r>
          </a:p>
          <a:p>
            <a:pPr algn="l">
              <a:lnSpc>
                <a:spcPct val="102000"/>
              </a:lnSpc>
              <a:spcBef>
                <a:spcPts val="0"/>
              </a:spcBef>
              <a:spcAft>
                <a:spcPts val="300"/>
              </a:spcAft>
            </a:pPr>
            <a:r>
              <a:rPr sz="1250" b="1" i="0">
                <a:solidFill>
                  <a:srgbClr val="1D1D21"/>
                </a:solidFill>
                <a:latin typeface="Arial"/>
              </a:rPr>
              <a:t>Behaviour shift</a:t>
            </a:r>
          </a:p>
          <a:p>
            <a:pPr algn="l">
              <a:lnSpc>
                <a:spcPct val="102000"/>
              </a:lnSpc>
              <a:spcBef>
                <a:spcPts val="0"/>
              </a:spcBef>
              <a:spcAft>
                <a:spcPts val="300"/>
              </a:spcAft>
            </a:pPr>
            <a:r>
              <a:rPr sz="1050" b="0" i="0">
                <a:solidFill>
                  <a:srgbClr val="6E6F74"/>
                </a:solidFill>
                <a:latin typeface="Arial"/>
              </a:rPr>
              <a:t>adjust their next cart to our suggestion</a:t>
            </a:r>
          </a:p>
        </p:txBody>
      </p:sp>
      <p:sp>
        <p:nvSpPr>
          <p:cNvPr id="12" name="Rounded Rectangle 11"/>
          <p:cNvSpPr/>
          <p:nvPr/>
        </p:nvSpPr>
        <p:spPr>
          <a:xfrm>
            <a:off x="649224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59"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&gt;20%</a:t>
            </a:r>
          </a:p>
          <a:p>
            <a:pPr algn="l">
              <a:lnSpc>
                <a:spcPct val="102000"/>
              </a:lnSpc>
              <a:spcBef>
                <a:spcPts val="0"/>
              </a:spcBef>
              <a:spcAft>
                <a:spcPts val="300"/>
              </a:spcAft>
            </a:pPr>
            <a:r>
              <a:rPr sz="1250" b="1" i="0">
                <a:solidFill>
                  <a:srgbClr val="1D1D21"/>
                </a:solidFill>
                <a:latin typeface="Arial"/>
              </a:rPr>
              <a:t>Recommendation acted on</a:t>
            </a:r>
          </a:p>
          <a:p>
            <a:pPr algn="l">
              <a:lnSpc>
                <a:spcPct val="102000"/>
              </a:lnSpc>
              <a:spcBef>
                <a:spcPts val="0"/>
              </a:spcBef>
              <a:spcAft>
                <a:spcPts val="300"/>
              </a:spcAft>
            </a:pPr>
            <a:r>
              <a:rPr sz="1050" b="0" i="0">
                <a:solidFill>
                  <a:srgbClr val="6E6F74"/>
                </a:solidFill>
                <a:latin typeface="Arial"/>
              </a:rPr>
              <a:t>marked “done”, not dismissed unread</a:t>
            </a:r>
          </a:p>
        </p:txBody>
      </p:sp>
      <p:sp>
        <p:nvSpPr>
          <p:cNvPr id="15" name="Rounded Rectangle 14"/>
          <p:cNvSpPr/>
          <p:nvPr/>
        </p:nvSpPr>
        <p:spPr>
          <a:xfrm>
            <a:off x="932688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&lt;2 min</a:t>
            </a:r>
          </a:p>
          <a:p>
            <a:pPr algn="l">
              <a:lnSpc>
                <a:spcPct val="102000"/>
              </a:lnSpc>
              <a:spcBef>
                <a:spcPts val="0"/>
              </a:spcBef>
              <a:spcAft>
                <a:spcPts val="300"/>
              </a:spcAft>
            </a:pPr>
            <a:r>
              <a:rPr sz="1250" b="1" i="0">
                <a:solidFill>
                  <a:srgbClr val="1D1D21"/>
                </a:solidFill>
                <a:latin typeface="Arial"/>
              </a:rPr>
              <a:t>Time to value</a:t>
            </a:r>
          </a:p>
          <a:p>
            <a:pPr algn="l">
              <a:lnSpc>
                <a:spcPct val="102000"/>
              </a:lnSpc>
              <a:spcBef>
                <a:spcPts val="0"/>
              </a:spcBef>
              <a:spcAft>
                <a:spcPts val="300"/>
              </a:spcAft>
            </a:pPr>
            <a:r>
              <a:rPr sz="1050" b="0" i="0">
                <a:solidFill>
                  <a:srgbClr val="6E6F74"/>
                </a:solidFill>
                <a:latin typeface="Arial"/>
              </a:rPr>
              <a:t>from upload to first personalised result</a:t>
            </a:r>
          </a:p>
        </p:txBody>
      </p:sp>
      <p:sp>
        <p:nvSpPr>
          <p:cNvPr id="18" name="Rounded Rectangle 17"/>
          <p:cNvSpPr/>
          <p:nvPr/>
        </p:nvSpPr>
        <p:spPr>
          <a:xfrm>
            <a:off x="822960" y="4526280"/>
            <a:ext cx="10543032" cy="105156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81728"/>
            <a:ext cx="10058400" cy="7772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5F7B4F"/>
                </a:solidFill>
                <a:latin typeface="Arial"/>
              </a:rPr>
              <a:t>The check-off habit gates everything.  </a:t>
            </a:r>
            <a:r>
              <a:rPr sz="1350" b="0" i="0">
                <a:solidFill>
                  <a:srgbClr val="1D1D21"/>
                </a:solidFill>
                <a:latin typeface="Arial"/>
              </a:rPr>
              <a:t>Prove the weekly tap sticks first, then layer in the full 10-KPI funnel across behaviour, business and satisfaction.</a:t>
            </a:r>
          </a:p>
        </p:txBody>
      </p:sp>
      <p:sp>
        <p:nvSpPr>
          <p:cNvPr id="20" name="TextBox 1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21" name="TextBox 2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ROADMAP &amp; MILESTONES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Where we are — and what's next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3044952"/>
            <a:ext cx="10241280"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46604" y="2935224"/>
            <a:ext cx="274320" cy="274320"/>
          </a:xfrm>
          <a:prstGeom prst="ellipse">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103120"/>
            <a:ext cx="1825599" cy="402336"/>
          </a:xfrm>
          <a:prstGeom prst="roundRect">
            <a:avLst>
              <a:gd name="adj" fmla="val 5000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DONE</a:t>
            </a:r>
          </a:p>
        </p:txBody>
      </p:sp>
      <p:sp>
        <p:nvSpPr>
          <p:cNvPr id="9" name="TextBox 8"/>
          <p:cNvSpPr txBox="1"/>
          <p:nvPr/>
        </p:nvSpPr>
        <p:spPr>
          <a:xfrm>
            <a:off x="2931017"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Weeks 1–2</a:t>
            </a:r>
          </a:p>
        </p:txBody>
      </p:sp>
      <p:sp>
        <p:nvSpPr>
          <p:cNvPr id="10" name="Rounded Rectangle 9"/>
          <p:cNvSpPr/>
          <p:nvPr/>
        </p:nvSpPr>
        <p:spPr>
          <a:xfrm>
            <a:off x="1005840"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2" name="TextBox 11"/>
          <p:cNvSpPr txBox="1"/>
          <p:nvPr/>
        </p:nvSpPr>
        <p:spPr>
          <a:xfrm>
            <a:off x="1645920"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On-device OCR → pantry → gaps → recommendation</a:t>
            </a:r>
          </a:p>
        </p:txBody>
      </p:sp>
      <p:sp>
        <p:nvSpPr>
          <p:cNvPr id="13" name="TextBox 12"/>
          <p:cNvSpPr txBox="1"/>
          <p:nvPr/>
        </p:nvSpPr>
        <p:spPr>
          <a:xfrm>
            <a:off x="1280160"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4" name="TextBox 13"/>
          <p:cNvSpPr txBox="1"/>
          <p:nvPr/>
        </p:nvSpPr>
        <p:spPr>
          <a:xfrm>
            <a:off x="1645920"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Daily check-off log + expiry-aware pantry</a:t>
            </a:r>
          </a:p>
        </p:txBody>
      </p:sp>
      <p:sp>
        <p:nvSpPr>
          <p:cNvPr id="15" name="TextBox 14"/>
          <p:cNvSpPr txBox="1"/>
          <p:nvPr/>
        </p:nvSpPr>
        <p:spPr>
          <a:xfrm>
            <a:off x="1280160"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6" name="TextBox 15"/>
          <p:cNvSpPr txBox="1"/>
          <p:nvPr/>
        </p:nvSpPr>
        <p:spPr>
          <a:xfrm>
            <a:off x="1645920"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Recipes, easy swaps, progress tracking</a:t>
            </a:r>
          </a:p>
        </p:txBody>
      </p:sp>
      <p:sp>
        <p:nvSpPr>
          <p:cNvPr id="17" name="TextBox 16"/>
          <p:cNvSpPr txBox="1"/>
          <p:nvPr/>
        </p:nvSpPr>
        <p:spPr>
          <a:xfrm>
            <a:off x="1280160"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8" name="TextBox 17"/>
          <p:cNvSpPr txBox="1"/>
          <p:nvPr/>
        </p:nvSpPr>
        <p:spPr>
          <a:xfrm>
            <a:off x="1645920"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Nutri-Coach + honest empty states</a:t>
            </a:r>
          </a:p>
        </p:txBody>
      </p:sp>
      <p:sp>
        <p:nvSpPr>
          <p:cNvPr id="19" name="TextBox 18"/>
          <p:cNvSpPr txBox="1"/>
          <p:nvPr/>
        </p:nvSpPr>
        <p:spPr>
          <a:xfrm>
            <a:off x="1280160" y="576986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20" name="TextBox 19"/>
          <p:cNvSpPr txBox="1"/>
          <p:nvPr/>
        </p:nvSpPr>
        <p:spPr>
          <a:xfrm>
            <a:off x="1645920" y="575157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GDPR export/erasure · DE/EN</a:t>
            </a:r>
          </a:p>
        </p:txBody>
      </p:sp>
      <p:sp>
        <p:nvSpPr>
          <p:cNvPr id="21" name="Oval 20"/>
          <p:cNvSpPr/>
          <p:nvPr/>
        </p:nvSpPr>
        <p:spPr>
          <a:xfrm>
            <a:off x="6085332" y="2935224"/>
            <a:ext cx="274320" cy="27432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44568" y="2103120"/>
            <a:ext cx="1825599" cy="402336"/>
          </a:xfrm>
          <a:prstGeom prst="roundRect">
            <a:avLst>
              <a:gd name="adj" fmla="val 5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IN PROGRESS</a:t>
            </a:r>
          </a:p>
        </p:txBody>
      </p:sp>
      <p:sp>
        <p:nvSpPr>
          <p:cNvPr id="24" name="TextBox 23"/>
          <p:cNvSpPr txBox="1"/>
          <p:nvPr/>
        </p:nvSpPr>
        <p:spPr>
          <a:xfrm>
            <a:off x="6469745"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Now — Week 3</a:t>
            </a:r>
          </a:p>
        </p:txBody>
      </p:sp>
      <p:sp>
        <p:nvSpPr>
          <p:cNvPr id="25" name="Rounded Rectangle 24"/>
          <p:cNvSpPr/>
          <p:nvPr/>
        </p:nvSpPr>
        <p:spPr>
          <a:xfrm>
            <a:off x="4544568"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27" name="TextBox 26"/>
          <p:cNvSpPr txBox="1"/>
          <p:nvPr/>
        </p:nvSpPr>
        <p:spPr>
          <a:xfrm>
            <a:off x="5184648"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1-tap portion — cut check-off friction</a:t>
            </a:r>
          </a:p>
        </p:txBody>
      </p:sp>
      <p:sp>
        <p:nvSpPr>
          <p:cNvPr id="28" name="TextBox 27"/>
          <p:cNvSpPr txBox="1"/>
          <p:nvPr/>
        </p:nvSpPr>
        <p:spPr>
          <a:xfrm>
            <a:off x="4818888"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29" name="TextBox 28"/>
          <p:cNvSpPr txBox="1"/>
          <p:nvPr/>
        </p:nvSpPr>
        <p:spPr>
          <a:xfrm>
            <a:off x="5184648"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Sharper matching (learned Tier-0 + text cleanup)</a:t>
            </a:r>
          </a:p>
        </p:txBody>
      </p:sp>
      <p:sp>
        <p:nvSpPr>
          <p:cNvPr id="30" name="TextBox 29"/>
          <p:cNvSpPr txBox="1"/>
          <p:nvPr/>
        </p:nvSpPr>
        <p:spPr>
          <a:xfrm>
            <a:off x="4818888"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31" name="TextBox 30"/>
          <p:cNvSpPr txBox="1"/>
          <p:nvPr/>
        </p:nvSpPr>
        <p:spPr>
          <a:xfrm>
            <a:off x="5184648"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A/B test: when to ask “what did you eat?”</a:t>
            </a:r>
          </a:p>
        </p:txBody>
      </p:sp>
      <p:sp>
        <p:nvSpPr>
          <p:cNvPr id="32" name="TextBox 31"/>
          <p:cNvSpPr txBox="1"/>
          <p:nvPr/>
        </p:nvSpPr>
        <p:spPr>
          <a:xfrm>
            <a:off x="4818888"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33" name="TextBox 32"/>
          <p:cNvSpPr txBox="1"/>
          <p:nvPr/>
        </p:nvSpPr>
        <p:spPr>
          <a:xfrm>
            <a:off x="5184648"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Live user testing + check-off retention</a:t>
            </a:r>
          </a:p>
        </p:txBody>
      </p:sp>
      <p:sp>
        <p:nvSpPr>
          <p:cNvPr id="34" name="Oval 33"/>
          <p:cNvSpPr/>
          <p:nvPr/>
        </p:nvSpPr>
        <p:spPr>
          <a:xfrm>
            <a:off x="9624059" y="2935224"/>
            <a:ext cx="274320" cy="274320"/>
          </a:xfrm>
          <a:prstGeom prst="ellipse">
            <a:avLst/>
          </a:prstGeom>
          <a:solidFill>
            <a:srgbClr val="6E6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83296" y="2103120"/>
            <a:ext cx="1825599" cy="402336"/>
          </a:xfrm>
          <a:prstGeom prst="roundRect">
            <a:avLst>
              <a:gd name="adj" fmla="val 50000"/>
            </a:avLst>
          </a:prstGeom>
          <a:solidFill>
            <a:srgbClr val="6E6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83296"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NEXT</a:t>
            </a:r>
          </a:p>
        </p:txBody>
      </p:sp>
      <p:sp>
        <p:nvSpPr>
          <p:cNvPr id="37" name="TextBox 36"/>
          <p:cNvSpPr txBox="1"/>
          <p:nvPr/>
        </p:nvSpPr>
        <p:spPr>
          <a:xfrm>
            <a:off x="10008473"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Post-midterm</a:t>
            </a:r>
          </a:p>
        </p:txBody>
      </p:sp>
      <p:sp>
        <p:nvSpPr>
          <p:cNvPr id="38" name="Rounded Rectangle 37"/>
          <p:cNvSpPr/>
          <p:nvPr/>
        </p:nvSpPr>
        <p:spPr>
          <a:xfrm>
            <a:off x="8083296"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7616"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0" name="TextBox 39"/>
          <p:cNvSpPr txBox="1"/>
          <p:nvPr/>
        </p:nvSpPr>
        <p:spPr>
          <a:xfrm>
            <a:off x="8723376"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Embedding re-ranker to push Recall@5 past 70%</a:t>
            </a:r>
          </a:p>
        </p:txBody>
      </p:sp>
      <p:sp>
        <p:nvSpPr>
          <p:cNvPr id="41" name="TextBox 40"/>
          <p:cNvSpPr txBox="1"/>
          <p:nvPr/>
        </p:nvSpPr>
        <p:spPr>
          <a:xfrm>
            <a:off x="8357616"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2" name="TextBox 41"/>
          <p:cNvSpPr txBox="1"/>
          <p:nvPr/>
        </p:nvSpPr>
        <p:spPr>
          <a:xfrm>
            <a:off x="8723376"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Personalised portion &amp; consumption ML</a:t>
            </a:r>
          </a:p>
        </p:txBody>
      </p:sp>
      <p:sp>
        <p:nvSpPr>
          <p:cNvPr id="43" name="TextBox 42"/>
          <p:cNvSpPr txBox="1"/>
          <p:nvPr/>
        </p:nvSpPr>
        <p:spPr>
          <a:xfrm>
            <a:off x="8357616"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4" name="TextBox 43"/>
          <p:cNvSpPr txBox="1"/>
          <p:nvPr/>
        </p:nvSpPr>
        <p:spPr>
          <a:xfrm>
            <a:off x="8723376"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Instrument the 10-KPI funnel</a:t>
            </a:r>
          </a:p>
        </p:txBody>
      </p:sp>
      <p:sp>
        <p:nvSpPr>
          <p:cNvPr id="45" name="TextBox 44"/>
          <p:cNvSpPr txBox="1"/>
          <p:nvPr/>
        </p:nvSpPr>
        <p:spPr>
          <a:xfrm>
            <a:off x="8357616"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6" name="TextBox 45"/>
          <p:cNvSpPr txBox="1"/>
          <p:nvPr/>
        </p:nvSpPr>
        <p:spPr>
          <a:xfrm>
            <a:off x="8723376"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Weekly / monthly trend views</a:t>
            </a:r>
          </a:p>
        </p:txBody>
      </p:sp>
      <p:sp>
        <p:nvSpPr>
          <p:cNvPr id="47" name="TextBox 46"/>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48" name="TextBox 47"/>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LIVE DEMO — THE CURRENT BUILD</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See it run, end-to-end, on a real receipt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920240"/>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01952"/>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1</a:t>
            </a:r>
          </a:p>
        </p:txBody>
      </p:sp>
      <p:sp>
        <p:nvSpPr>
          <p:cNvPr id="7" name="TextBox 6"/>
          <p:cNvSpPr txBox="1"/>
          <p:nvPr/>
        </p:nvSpPr>
        <p:spPr>
          <a:xfrm>
            <a:off x="1463040" y="1883664"/>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Chat onboarding</a:t>
            </a:r>
            <a:r>
              <a:rPr sz="1150" b="0" i="0">
                <a:solidFill>
                  <a:srgbClr val="6E6F74"/>
                </a:solidFill>
                <a:latin typeface="Arial"/>
              </a:rPr>
              <a:t>   —  goal, needs, exclusions</a:t>
            </a:r>
          </a:p>
        </p:txBody>
      </p:sp>
      <p:sp>
        <p:nvSpPr>
          <p:cNvPr id="8" name="Rectangle 7"/>
          <p:cNvSpPr/>
          <p:nvPr/>
        </p:nvSpPr>
        <p:spPr>
          <a:xfrm>
            <a:off x="1033272" y="2377440"/>
            <a:ext cx="27432" cy="201168"/>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578608"/>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560320"/>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2</a:t>
            </a:r>
          </a:p>
        </p:txBody>
      </p:sp>
      <p:sp>
        <p:nvSpPr>
          <p:cNvPr id="11" name="TextBox 10"/>
          <p:cNvSpPr txBox="1"/>
          <p:nvPr/>
        </p:nvSpPr>
        <p:spPr>
          <a:xfrm>
            <a:off x="1463040" y="2542032"/>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Upload receipt</a:t>
            </a:r>
            <a:r>
              <a:rPr sz="1150" b="0" i="0">
                <a:solidFill>
                  <a:srgbClr val="6E6F74"/>
                </a:solidFill>
                <a:latin typeface="Arial"/>
              </a:rPr>
              <a:t>   —  on-device OCR — private, offline</a:t>
            </a:r>
          </a:p>
        </p:txBody>
      </p:sp>
      <p:sp>
        <p:nvSpPr>
          <p:cNvPr id="12" name="Rectangle 11"/>
          <p:cNvSpPr/>
          <p:nvPr/>
        </p:nvSpPr>
        <p:spPr>
          <a:xfrm>
            <a:off x="1033272" y="3035808"/>
            <a:ext cx="27432" cy="201168"/>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236976"/>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218688"/>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3</a:t>
            </a:r>
          </a:p>
        </p:txBody>
      </p:sp>
      <p:sp>
        <p:nvSpPr>
          <p:cNvPr id="15" name="TextBox 14"/>
          <p:cNvSpPr txBox="1"/>
          <p:nvPr/>
        </p:nvSpPr>
        <p:spPr>
          <a:xfrm>
            <a:off x="1463040" y="3200400"/>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Your Pantry</a:t>
            </a:r>
            <a:r>
              <a:rPr sz="1150" b="0" i="0">
                <a:solidFill>
                  <a:srgbClr val="6E6F74"/>
                </a:solidFill>
                <a:latin typeface="Arial"/>
              </a:rPr>
              <a:t>   —  what's in the house, expiry-aware</a:t>
            </a:r>
          </a:p>
        </p:txBody>
      </p:sp>
      <p:sp>
        <p:nvSpPr>
          <p:cNvPr id="16" name="Rectangle 15"/>
          <p:cNvSpPr/>
          <p:nvPr/>
        </p:nvSpPr>
        <p:spPr>
          <a:xfrm>
            <a:off x="1033272" y="3694176"/>
            <a:ext cx="27432" cy="201168"/>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895344"/>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77056"/>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4</a:t>
            </a:r>
          </a:p>
        </p:txBody>
      </p:sp>
      <p:sp>
        <p:nvSpPr>
          <p:cNvPr id="19" name="TextBox 18"/>
          <p:cNvSpPr txBox="1"/>
          <p:nvPr/>
        </p:nvSpPr>
        <p:spPr>
          <a:xfrm>
            <a:off x="1463040" y="3858768"/>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Daily log</a:t>
            </a:r>
            <a:r>
              <a:rPr sz="1150" b="0" i="0">
                <a:solidFill>
                  <a:srgbClr val="6E6F74"/>
                </a:solidFill>
                <a:latin typeface="Arial"/>
              </a:rPr>
              <a:t>   —  one tap = what you ate</a:t>
            </a:r>
          </a:p>
        </p:txBody>
      </p:sp>
      <p:sp>
        <p:nvSpPr>
          <p:cNvPr id="20" name="Rectangle 19"/>
          <p:cNvSpPr/>
          <p:nvPr/>
        </p:nvSpPr>
        <p:spPr>
          <a:xfrm>
            <a:off x="1033272" y="4352544"/>
            <a:ext cx="27432" cy="201168"/>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4553712"/>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35424"/>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5</a:t>
            </a:r>
          </a:p>
        </p:txBody>
      </p:sp>
      <p:sp>
        <p:nvSpPr>
          <p:cNvPr id="23" name="TextBox 22"/>
          <p:cNvSpPr txBox="1"/>
          <p:nvPr/>
        </p:nvSpPr>
        <p:spPr>
          <a:xfrm>
            <a:off x="1463040" y="4517136"/>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Insights</a:t>
            </a:r>
            <a:r>
              <a:rPr sz="1150" b="0" i="0">
                <a:solidFill>
                  <a:srgbClr val="6E6F74"/>
                </a:solidFill>
                <a:latin typeface="Arial"/>
              </a:rPr>
              <a:t>   —  weekly gaps + “use what you have” + Next Cart</a:t>
            </a:r>
          </a:p>
        </p:txBody>
      </p:sp>
      <p:sp>
        <p:nvSpPr>
          <p:cNvPr id="24" name="Rectangle 23"/>
          <p:cNvSpPr/>
          <p:nvPr/>
        </p:nvSpPr>
        <p:spPr>
          <a:xfrm>
            <a:off x="1033272" y="5010912"/>
            <a:ext cx="27432" cy="201168"/>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5212079"/>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193792"/>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6</a:t>
            </a:r>
          </a:p>
        </p:txBody>
      </p:sp>
      <p:sp>
        <p:nvSpPr>
          <p:cNvPr id="27" name="TextBox 26"/>
          <p:cNvSpPr txBox="1"/>
          <p:nvPr/>
        </p:nvSpPr>
        <p:spPr>
          <a:xfrm>
            <a:off x="1463040" y="5175503"/>
            <a:ext cx="5212080" cy="36576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1D1D21"/>
                </a:solidFill>
                <a:latin typeface="Arial"/>
              </a:rPr>
              <a:t>Nutri-Coach + erase</a:t>
            </a:r>
            <a:r>
              <a:rPr sz="1150" b="0" i="0">
                <a:solidFill>
                  <a:srgbClr val="6E6F74"/>
                </a:solidFill>
                <a:latin typeface="Arial"/>
              </a:rPr>
              <a:t>   —  plain-language why · GDPR erase</a:t>
            </a:r>
          </a:p>
        </p:txBody>
      </p:sp>
      <p:sp>
        <p:nvSpPr>
          <p:cNvPr id="28" name="Rounded Rectangle 27"/>
          <p:cNvSpPr/>
          <p:nvPr/>
        </p:nvSpPr>
        <p:spPr>
          <a:xfrm>
            <a:off x="6629400" y="1783080"/>
            <a:ext cx="4754880" cy="41605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 Same Side Corner Rectangle 28"/>
          <p:cNvSpPr/>
          <p:nvPr/>
        </p:nvSpPr>
        <p:spPr>
          <a:xfrm>
            <a:off x="6629400" y="1783080"/>
            <a:ext cx="4754880" cy="603504"/>
          </a:xfrm>
          <a:prstGeom prst="round2SameRect">
            <a:avLst>
              <a:gd name="adj1" fmla="val 5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20" y="1819656"/>
            <a:ext cx="4206240"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NutriWise  ·  Your results</a:t>
            </a:r>
          </a:p>
        </p:txBody>
      </p:sp>
      <p:sp>
        <p:nvSpPr>
          <p:cNvPr id="31" name="TextBox 30"/>
          <p:cNvSpPr txBox="1"/>
          <p:nvPr/>
        </p:nvSpPr>
        <p:spPr>
          <a:xfrm>
            <a:off x="6903720" y="2542032"/>
            <a:ext cx="4206240" cy="45720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6E6F74"/>
                </a:solidFill>
                <a:latin typeface="Arial"/>
              </a:rPr>
              <a:t>Estimates from your groceries + daily log — not medical advice</a:t>
            </a:r>
          </a:p>
        </p:txBody>
      </p:sp>
      <p:sp>
        <p:nvSpPr>
          <p:cNvPr id="32" name="Rounded Rectangle 31"/>
          <p:cNvSpPr/>
          <p:nvPr/>
        </p:nvSpPr>
        <p:spPr>
          <a:xfrm>
            <a:off x="6903720" y="2971800"/>
            <a:ext cx="4206240" cy="1371600"/>
          </a:xfrm>
          <a:prstGeom prst="roundRect">
            <a:avLst>
              <a:gd name="adj" fmla="val 8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0" y="3108960"/>
            <a:ext cx="3749039"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F7B4F"/>
                </a:solidFill>
                <a:latin typeface="Arial"/>
              </a:rPr>
              <a:t>YOUR NEXT CART</a:t>
            </a:r>
          </a:p>
        </p:txBody>
      </p:sp>
      <p:sp>
        <p:nvSpPr>
          <p:cNvPr id="34" name="TextBox 33"/>
          <p:cNvSpPr txBox="1"/>
          <p:nvPr/>
        </p:nvSpPr>
        <p:spPr>
          <a:xfrm>
            <a:off x="7132320" y="3429000"/>
            <a:ext cx="3749039"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D1D21"/>
                </a:solidFill>
                <a:latin typeface="Arial"/>
              </a:rPr>
              <a:t>+ Red lentils (dried)</a:t>
            </a:r>
          </a:p>
        </p:txBody>
      </p:sp>
      <p:sp>
        <p:nvSpPr>
          <p:cNvPr id="35" name="TextBox 34"/>
          <p:cNvSpPr txBox="1"/>
          <p:nvPr/>
        </p:nvSpPr>
        <p:spPr>
          <a:xfrm>
            <a:off x="7132320" y="3840480"/>
            <a:ext cx="3749039"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i="0">
                <a:solidFill>
                  <a:srgbClr val="6E6F74"/>
                </a:solidFill>
                <a:latin typeface="Arial"/>
              </a:rPr>
              <a:t>Closes your fiber &amp; plant-protein gap — and it's peanut-free.</a:t>
            </a:r>
          </a:p>
        </p:txBody>
      </p:sp>
      <p:sp>
        <p:nvSpPr>
          <p:cNvPr id="36" name="Rounded Rectangle 35"/>
          <p:cNvSpPr/>
          <p:nvPr/>
        </p:nvSpPr>
        <p:spPr>
          <a:xfrm>
            <a:off x="690372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0372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Fiber</a:t>
            </a:r>
          </a:p>
        </p:txBody>
      </p:sp>
      <p:sp>
        <p:nvSpPr>
          <p:cNvPr id="38" name="TextBox 37"/>
          <p:cNvSpPr txBox="1"/>
          <p:nvPr/>
        </p:nvSpPr>
        <p:spPr>
          <a:xfrm>
            <a:off x="690372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B36A4A"/>
                </a:solidFill>
                <a:latin typeface="Arial"/>
              </a:rPr>
              <a:t>low</a:t>
            </a:r>
          </a:p>
        </p:txBody>
      </p:sp>
      <p:sp>
        <p:nvSpPr>
          <p:cNvPr id="39" name="Rounded Rectangle 38"/>
          <p:cNvSpPr/>
          <p:nvPr/>
        </p:nvSpPr>
        <p:spPr>
          <a:xfrm>
            <a:off x="832104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Protein</a:t>
            </a:r>
          </a:p>
        </p:txBody>
      </p:sp>
      <p:sp>
        <p:nvSpPr>
          <p:cNvPr id="41" name="TextBox 40"/>
          <p:cNvSpPr txBox="1"/>
          <p:nvPr/>
        </p:nvSpPr>
        <p:spPr>
          <a:xfrm>
            <a:off x="832104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5F7B4F"/>
                </a:solidFill>
                <a:latin typeface="Arial"/>
              </a:rPr>
              <a:t>ok</a:t>
            </a:r>
          </a:p>
        </p:txBody>
      </p:sp>
      <p:sp>
        <p:nvSpPr>
          <p:cNvPr id="42" name="Rounded Rectangle 41"/>
          <p:cNvSpPr/>
          <p:nvPr/>
        </p:nvSpPr>
        <p:spPr>
          <a:xfrm>
            <a:off x="973836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3836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Sugar</a:t>
            </a:r>
          </a:p>
        </p:txBody>
      </p:sp>
      <p:sp>
        <p:nvSpPr>
          <p:cNvPr id="44" name="TextBox 43"/>
          <p:cNvSpPr txBox="1"/>
          <p:nvPr/>
        </p:nvSpPr>
        <p:spPr>
          <a:xfrm>
            <a:off x="973836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5F7B4F"/>
                </a:solidFill>
                <a:latin typeface="Arial"/>
              </a:rPr>
              <a:t>ok</a:t>
            </a:r>
          </a:p>
        </p:txBody>
      </p:sp>
      <p:sp>
        <p:nvSpPr>
          <p:cNvPr id="45" name="TextBox 44"/>
          <p:cNvSpPr txBox="1"/>
          <p:nvPr/>
        </p:nvSpPr>
        <p:spPr>
          <a:xfrm>
            <a:off x="6629400" y="5532120"/>
            <a:ext cx="47548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000" b="0" i="1">
                <a:solidFill>
                  <a:srgbClr val="6E6F74"/>
                </a:solidFill>
                <a:latin typeface="Arial"/>
              </a:rPr>
              <a:t>illustrative — shown live in the demo</a:t>
            </a:r>
          </a:p>
        </p:txBody>
      </p:sp>
      <p:sp>
        <p:nvSpPr>
          <p:cNvPr id="46" name="TextBox 45"/>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47" name="TextBox 46"/>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EVALUATION METRIC</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The hard part: cryptic receipt text → a real food</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5669280" cy="338328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B36A4A"/>
                </a:solidFill>
                <a:latin typeface="Arial"/>
              </a:rPr>
              <a:t>“AB Bud 6x0,3l MW”</a:t>
            </a:r>
            <a:r>
              <a:rPr sz="1700" b="1" i="0">
                <a:solidFill>
                  <a:srgbClr val="1D1D21"/>
                </a:solidFill>
                <a:latin typeface="Arial"/>
              </a:rPr>
              <a:t>   →   ?</a:t>
            </a:r>
          </a:p>
          <a:p>
            <a:pPr algn="l">
              <a:lnSpc>
                <a:spcPct val="112000"/>
              </a:lnSpc>
              <a:spcBef>
                <a:spcPts val="0"/>
              </a:spcBef>
              <a:spcAft>
                <a:spcPts val="400"/>
              </a:spcAft>
            </a:pPr>
            <a:r>
              <a:rPr sz="600" b="0" i="0">
                <a:solidFill>
                  <a:srgbClr val="1D1D21"/>
                </a:solidFill>
                <a:latin typeface="Arial"/>
              </a:rPr>
              <a:t/>
            </a:r>
          </a:p>
          <a:p>
            <a:pPr algn="l">
              <a:lnSpc>
                <a:spcPct val="112000"/>
              </a:lnSpc>
              <a:spcBef>
                <a:spcPts val="0"/>
              </a:spcBef>
              <a:spcAft>
                <a:spcPts val="400"/>
              </a:spcAft>
            </a:pPr>
            <a:r>
              <a:rPr sz="1450" b="0" i="0">
                <a:solidFill>
                  <a:srgbClr val="1D1D21"/>
                </a:solidFill>
                <a:latin typeface="Arial"/>
              </a:rPr>
              <a:t>Every receipt line must become a real food with real nutrients — but there is </a:t>
            </a:r>
            <a:r>
              <a:rPr sz="1450" b="1" i="0">
                <a:solidFill>
                  <a:srgbClr val="1D1D21"/>
                </a:solidFill>
                <a:latin typeface="Arial"/>
              </a:rPr>
              <a:t>no answer key</a:t>
            </a:r>
            <a:r>
              <a:rPr sz="1450" b="0" i="0">
                <a:solidFill>
                  <a:srgbClr val="1D1D21"/>
                </a:solidFill>
                <a:latin typeface="Arial"/>
              </a:rPr>
              <a:t> for “what food is this, really?”</a:t>
            </a:r>
          </a:p>
          <a:p>
            <a:pPr algn="l">
              <a:lnSpc>
                <a:spcPct val="112000"/>
              </a:lnSpc>
              <a:spcBef>
                <a:spcPts val="0"/>
              </a:spcBef>
              <a:spcAft>
                <a:spcPts val="400"/>
              </a:spcAft>
            </a:pPr>
            <a:r>
              <a:rPr sz="500" b="0" i="0">
                <a:solidFill>
                  <a:srgbClr val="1D1D21"/>
                </a:solidFill>
                <a:latin typeface="Arial"/>
              </a:rPr>
              <a:t/>
            </a:r>
          </a:p>
          <a:p>
            <a:pPr algn="l">
              <a:lnSpc>
                <a:spcPct val="112000"/>
              </a:lnSpc>
              <a:spcBef>
                <a:spcPts val="0"/>
              </a:spcBef>
              <a:spcAft>
                <a:spcPts val="400"/>
              </a:spcAft>
            </a:pPr>
            <a:r>
              <a:rPr sz="1450" b="0" i="0">
                <a:solidFill>
                  <a:srgbClr val="1D1D21"/>
                </a:solidFill>
                <a:latin typeface="Arial"/>
              </a:rPr>
              <a:t>So we built one: a </a:t>
            </a:r>
            <a:r>
              <a:rPr sz="1450" b="1" i="0">
                <a:solidFill>
                  <a:srgbClr val="5F7B4F"/>
                </a:solidFill>
                <a:latin typeface="Arial"/>
              </a:rPr>
              <a:t>human-verified gold set</a:t>
            </a:r>
            <a:r>
              <a:rPr sz="1450" b="0" i="0">
                <a:solidFill>
                  <a:srgbClr val="1D1D21"/>
                </a:solidFill>
                <a:latin typeface="Arial"/>
              </a:rPr>
              <a:t> of 180 real receipt lines, each labeled against the </a:t>
            </a:r>
            <a:r>
              <a:rPr sz="1450" b="1" i="0">
                <a:solidFill>
                  <a:srgbClr val="1D1D21"/>
                </a:solidFill>
                <a:latin typeface="Arial"/>
              </a:rPr>
              <a:t>full 7,140-food corpus</a:t>
            </a:r>
            <a:r>
              <a:rPr sz="1450" b="0" i="0">
                <a:solidFill>
                  <a:srgbClr val="1D1D21"/>
                </a:solidFill>
                <a:latin typeface="Arial"/>
              </a:rPr>
              <a:t>.</a:t>
            </a:r>
          </a:p>
          <a:p>
            <a:pPr algn="l">
              <a:lnSpc>
                <a:spcPct val="112000"/>
              </a:lnSpc>
              <a:spcBef>
                <a:spcPts val="0"/>
              </a:spcBef>
              <a:spcAft>
                <a:spcPts val="400"/>
              </a:spcAft>
            </a:pPr>
            <a:r>
              <a:rPr sz="1450" b="0" i="0">
                <a:solidFill>
                  <a:srgbClr val="1D1D21"/>
                </a:solidFill>
                <a:latin typeface="Arial"/>
              </a:rPr>
              <a:t>Our metric: </a:t>
            </a:r>
            <a:r>
              <a:rPr sz="1450" b="1" i="0">
                <a:solidFill>
                  <a:srgbClr val="5F7B4F"/>
                </a:solidFill>
                <a:latin typeface="Arial"/>
              </a:rPr>
              <a:t>Recall@5</a:t>
            </a:r>
            <a:r>
              <a:rPr sz="1450" b="0" i="0">
                <a:solidFill>
                  <a:srgbClr val="1D1D21"/>
                </a:solidFill>
                <a:latin typeface="Arial"/>
              </a:rPr>
              <a:t> — is the correct food in the top 5 the app shows?</a:t>
            </a:r>
          </a:p>
        </p:txBody>
      </p:sp>
      <p:sp>
        <p:nvSpPr>
          <p:cNvPr id="6" name="Rounded Rectangle 5"/>
          <p:cNvSpPr/>
          <p:nvPr/>
        </p:nvSpPr>
        <p:spPr>
          <a:xfrm>
            <a:off x="6858000" y="1783080"/>
            <a:ext cx="4526280" cy="3520440"/>
          </a:xfrm>
          <a:prstGeom prst="roundRect">
            <a:avLst>
              <a:gd name="adj" fmla="val 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1984248"/>
            <a:ext cx="39319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7B4F"/>
                </a:solidFill>
                <a:latin typeface="Arial"/>
              </a:rPr>
              <a:t>WHAT WE MEASURE</a:t>
            </a:r>
          </a:p>
        </p:txBody>
      </p:sp>
      <p:sp>
        <p:nvSpPr>
          <p:cNvPr id="8" name="Rounded Rectangle 7"/>
          <p:cNvSpPr/>
          <p:nvPr/>
        </p:nvSpPr>
        <p:spPr>
          <a:xfrm>
            <a:off x="7132320" y="2395728"/>
            <a:ext cx="3977639" cy="1207008"/>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523744"/>
            <a:ext cx="73152" cy="95097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2523744"/>
            <a:ext cx="3593591" cy="969264"/>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Recall@5</a:t>
            </a:r>
          </a:p>
          <a:p>
            <a:pPr algn="l">
              <a:lnSpc>
                <a:spcPct val="102000"/>
              </a:lnSpc>
              <a:spcBef>
                <a:spcPts val="0"/>
              </a:spcBef>
              <a:spcAft>
                <a:spcPts val="300"/>
              </a:spcAft>
            </a:pPr>
            <a:r>
              <a:rPr sz="1250" b="1" i="0">
                <a:solidFill>
                  <a:srgbClr val="1D1D21"/>
                </a:solidFill>
                <a:latin typeface="Arial"/>
              </a:rPr>
              <a:t>Right food shortlisted</a:t>
            </a:r>
          </a:p>
          <a:p>
            <a:pPr algn="l">
              <a:lnSpc>
                <a:spcPct val="102000"/>
              </a:lnSpc>
              <a:spcBef>
                <a:spcPts val="0"/>
              </a:spcBef>
              <a:spcAft>
                <a:spcPts val="300"/>
              </a:spcAft>
            </a:pPr>
            <a:r>
              <a:rPr sz="1050" b="0" i="0">
                <a:solidFill>
                  <a:srgbClr val="6E6F74"/>
                </a:solidFill>
                <a:latin typeface="Arial"/>
              </a:rPr>
              <a:t>% where the correct food is in the top 5</a:t>
            </a:r>
          </a:p>
        </p:txBody>
      </p:sp>
      <p:sp>
        <p:nvSpPr>
          <p:cNvPr id="11" name="Rounded Rectangle 10"/>
          <p:cNvSpPr/>
          <p:nvPr/>
        </p:nvSpPr>
        <p:spPr>
          <a:xfrm>
            <a:off x="7132320" y="3749039"/>
            <a:ext cx="3977639" cy="1207008"/>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877055"/>
            <a:ext cx="73152" cy="950976"/>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877055"/>
            <a:ext cx="3593591" cy="969264"/>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3%</a:t>
            </a:r>
          </a:p>
          <a:p>
            <a:pPr algn="l">
              <a:lnSpc>
                <a:spcPct val="102000"/>
              </a:lnSpc>
              <a:spcBef>
                <a:spcPts val="0"/>
              </a:spcBef>
              <a:spcAft>
                <a:spcPts val="300"/>
              </a:spcAft>
            </a:pPr>
            <a:r>
              <a:rPr sz="1250" b="1" i="0">
                <a:solidFill>
                  <a:srgbClr val="1D1D21"/>
                </a:solidFill>
                <a:latin typeface="Arial"/>
              </a:rPr>
              <a:t>Label-error rate</a:t>
            </a:r>
          </a:p>
          <a:p>
            <a:pPr algn="l">
              <a:lnSpc>
                <a:spcPct val="102000"/>
              </a:lnSpc>
              <a:spcBef>
                <a:spcPts val="0"/>
              </a:spcBef>
              <a:spcAft>
                <a:spcPts val="300"/>
              </a:spcAft>
            </a:pPr>
            <a:r>
              <a:rPr sz="1050" b="0" i="0">
                <a:solidFill>
                  <a:srgbClr val="6E6F74"/>
                </a:solidFill>
                <a:latin typeface="Arial"/>
              </a:rPr>
              <a:t>human spot-check of the gold labels</a:t>
            </a:r>
          </a:p>
        </p:txBody>
      </p:sp>
      <p:sp>
        <p:nvSpPr>
          <p:cNvPr id="14" name="TextBox 13"/>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15" name="TextBox 14"/>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DATA — SOURCES, SHAPE &amp; CHALLENGES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Three data worlds, stitched together</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911095"/>
            <a:ext cx="73152" cy="148132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Grocery receipts</a:t>
            </a:r>
          </a:p>
        </p:txBody>
      </p:sp>
      <p:sp>
        <p:nvSpPr>
          <p:cNvPr id="8" name="TextBox 7"/>
          <p:cNvSpPr txBox="1"/>
          <p:nvPr/>
        </p:nvSpPr>
        <p:spPr>
          <a:xfrm>
            <a:off x="1115568"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Real German receipts (Lidl / Netto / Edeka) → on-device OCR (Tesseract) → items. Private: nothing leaves the phone.</a:t>
            </a:r>
          </a:p>
        </p:txBody>
      </p:sp>
      <p:sp>
        <p:nvSpPr>
          <p:cNvPr id="9" name="Rounded Rectangle 8"/>
          <p:cNvSpPr/>
          <p:nvPr/>
        </p:nvSpPr>
        <p:spPr>
          <a:xfrm>
            <a:off x="4361688"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911095"/>
            <a:ext cx="73152" cy="148132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Open Food Facts</a:t>
            </a:r>
          </a:p>
        </p:txBody>
      </p:sp>
      <p:sp>
        <p:nvSpPr>
          <p:cNvPr id="12" name="TextBox 11"/>
          <p:cNvSpPr txBox="1"/>
          <p:nvPr/>
        </p:nvSpPr>
        <p:spPr>
          <a:xfrm>
            <a:off x="4654296"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Crowd-sourced branded-product data. Fallback for products the BLS structurally lacks.</a:t>
            </a:r>
          </a:p>
        </p:txBody>
      </p:sp>
      <p:sp>
        <p:nvSpPr>
          <p:cNvPr id="13" name="Rounded Rectangle 12"/>
          <p:cNvSpPr/>
          <p:nvPr/>
        </p:nvSpPr>
        <p:spPr>
          <a:xfrm>
            <a:off x="7900416"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0416" y="1911095"/>
            <a:ext cx="73152" cy="148132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BLS 4.0 table</a:t>
            </a:r>
          </a:p>
        </p:txBody>
      </p:sp>
      <p:sp>
        <p:nvSpPr>
          <p:cNvPr id="16" name="TextBox 15"/>
          <p:cNvSpPr txBox="1"/>
          <p:nvPr/>
        </p:nvSpPr>
        <p:spPr>
          <a:xfrm>
            <a:off x="8193024"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German federal food database — ~7,140 foods. Our primary source of reliable nutrients.</a:t>
            </a:r>
          </a:p>
        </p:txBody>
      </p:sp>
      <p:sp>
        <p:nvSpPr>
          <p:cNvPr id="17" name="Rounded Rectangle 16"/>
          <p:cNvSpPr/>
          <p:nvPr/>
        </p:nvSpPr>
        <p:spPr>
          <a:xfrm>
            <a:off x="822960" y="3749039"/>
            <a:ext cx="5074920" cy="155448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886200"/>
            <a:ext cx="466344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7B4F"/>
                </a:solidFill>
                <a:latin typeface="Arial"/>
              </a:rPr>
              <a:t>THE GOLD SET (matching test)</a:t>
            </a:r>
          </a:p>
        </p:txBody>
      </p:sp>
      <p:sp>
        <p:nvSpPr>
          <p:cNvPr id="19" name="TextBox 18"/>
          <p:cNvSpPr txBox="1"/>
          <p:nvPr/>
        </p:nvSpPr>
        <p:spPr>
          <a:xfrm>
            <a:off x="1051560" y="4270248"/>
            <a:ext cx="4709160" cy="1005840"/>
          </a:xfrm>
          <a:prstGeom prst="rect">
            <a:avLst/>
          </a:prstGeom>
          <a:noFill/>
        </p:spPr>
        <p:txBody>
          <a:bodyPr wrap="square" anchor="t" lIns="0" rIns="0" tIns="0" bIns="0">
            <a:spAutoFit/>
          </a:bodyPr>
          <a:lstStyle/>
          <a:p>
            <a:pPr algn="l">
              <a:lnSpc>
                <a:spcPct val="112000"/>
              </a:lnSpc>
              <a:spcBef>
                <a:spcPts val="0"/>
              </a:spcBef>
              <a:spcAft>
                <a:spcPts val="300"/>
              </a:spcAft>
            </a:pPr>
            <a:r>
              <a:rPr sz="2000" b="1" i="0">
                <a:solidFill>
                  <a:srgbClr val="5F7B4F"/>
                </a:solidFill>
                <a:latin typeface="Arial"/>
              </a:rPr>
              <a:t>45 → 180</a:t>
            </a:r>
            <a:r>
              <a:rPr sz="1250" b="0" i="0">
                <a:solidFill>
                  <a:srgbClr val="1D1D21"/>
                </a:solidFill>
                <a:latin typeface="Arial"/>
              </a:rPr>
              <a:t>  real receipt lines   ·   </a:t>
            </a:r>
            <a:r>
              <a:rPr sz="1800" b="1" i="0">
                <a:solidFill>
                  <a:srgbClr val="5F7B4F"/>
                </a:solidFill>
                <a:latin typeface="Arial"/>
              </a:rPr>
              <a:t>152</a:t>
            </a:r>
            <a:r>
              <a:rPr sz="1250" b="0" i="0">
                <a:solidFill>
                  <a:srgbClr val="1D1D21"/>
                </a:solidFill>
                <a:latin typeface="Arial"/>
              </a:rPr>
              <a:t> unique</a:t>
            </a:r>
          </a:p>
          <a:p>
            <a:pPr algn="l">
              <a:lnSpc>
                <a:spcPct val="112000"/>
              </a:lnSpc>
              <a:spcBef>
                <a:spcPts val="0"/>
              </a:spcBef>
              <a:spcAft>
                <a:spcPts val="300"/>
              </a:spcAft>
            </a:pPr>
            <a:r>
              <a:rPr sz="1100" b="0" i="0">
                <a:solidFill>
                  <a:srgbClr val="6E6F74"/>
                </a:solidFill>
                <a:latin typeface="Arial"/>
              </a:rPr>
              <a:t>Earlier EDA sample: 76 items across 227 purchases.</a:t>
            </a:r>
          </a:p>
          <a:p>
            <a:pPr algn="l">
              <a:lnSpc>
                <a:spcPct val="112000"/>
              </a:lnSpc>
              <a:spcBef>
                <a:spcPts val="0"/>
              </a:spcBef>
              <a:spcAft>
                <a:spcPts val="300"/>
              </a:spcAft>
            </a:pPr>
            <a:r>
              <a:rPr sz="1100" b="0" i="0">
                <a:solidFill>
                  <a:srgbClr val="6E6F74"/>
                </a:solidFill>
                <a:latin typeface="Arial"/>
              </a:rPr>
              <a:t>Each line labeled vs. the full 7,140-food corpus.</a:t>
            </a:r>
          </a:p>
        </p:txBody>
      </p:sp>
      <p:sp>
        <p:nvSpPr>
          <p:cNvPr id="20" name="Rounded Rectangle 19"/>
          <p:cNvSpPr/>
          <p:nvPr/>
        </p:nvSpPr>
        <p:spPr>
          <a:xfrm>
            <a:off x="6126480" y="3749039"/>
            <a:ext cx="5239512" cy="1554480"/>
          </a:xfrm>
          <a:prstGeom prst="roundRect">
            <a:avLst>
              <a:gd name="adj" fmla="val 5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B36A4A"/>
                </a:solidFill>
                <a:latin typeface="Arial"/>
              </a:rPr>
              <a:t>HONEST DATA CHALLENGES</a:t>
            </a:r>
          </a:p>
        </p:txBody>
      </p:sp>
      <p:sp>
        <p:nvSpPr>
          <p:cNvPr id="22" name="TextBox 21"/>
          <p:cNvSpPr txBox="1"/>
          <p:nvPr/>
        </p:nvSpPr>
        <p:spPr>
          <a:xfrm>
            <a:off x="6355080" y="4224528"/>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Cryptic OCR, brand-vs-generic (“Budweiser” → “Pilsner Bier”)</a:t>
            </a:r>
          </a:p>
        </p:txBody>
      </p:sp>
      <p:sp>
        <p:nvSpPr>
          <p:cNvPr id="23" name="TextBox 22"/>
          <p:cNvSpPr txBox="1"/>
          <p:nvPr/>
        </p:nvSpPr>
        <p:spPr>
          <a:xfrm>
            <a:off x="6355080" y="4562856"/>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Real receipts are harder than clean text (brand, size, “bio”)</a:t>
            </a:r>
          </a:p>
        </p:txBody>
      </p:sp>
      <p:sp>
        <p:nvSpPr>
          <p:cNvPr id="24" name="TextBox 23"/>
          <p:cNvSpPr txBox="1"/>
          <p:nvPr/>
        </p:nvSpPr>
        <p:spPr>
          <a:xfrm>
            <a:off x="6355080" y="4901184"/>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USDA tested &amp; rejected — blind to German foods (Quark, Schmand)</a:t>
            </a:r>
          </a:p>
        </p:txBody>
      </p:sp>
      <p:sp>
        <p:nvSpPr>
          <p:cNvPr id="25" name="TextBox 24"/>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26" name="TextBox 25"/>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EXPLORATORY DATA ANALYSIS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What real baskets actually look like</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257800" cy="39319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da_categories.png"/>
          <p:cNvPicPr>
            <a:picLocks noChangeAspect="1"/>
          </p:cNvPicPr>
          <p:nvPr/>
        </p:nvPicPr>
        <p:blipFill>
          <a:blip r:embed="rId2"/>
          <a:stretch>
            <a:fillRect/>
          </a:stretch>
        </p:blipFill>
        <p:spPr>
          <a:xfrm>
            <a:off x="960120" y="1938528"/>
            <a:ext cx="5591387" cy="3566160"/>
          </a:xfrm>
          <a:prstGeom prst="rect">
            <a:avLst/>
          </a:prstGeom>
        </p:spPr>
      </p:pic>
      <p:sp>
        <p:nvSpPr>
          <p:cNvPr id="7" name="Rounded Rectangle 6"/>
          <p:cNvSpPr/>
          <p:nvPr/>
        </p:nvSpPr>
        <p:spPr>
          <a:xfrm>
            <a:off x="6263640" y="1783080"/>
            <a:ext cx="5102352" cy="39319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da_tail.png"/>
          <p:cNvPicPr>
            <a:picLocks noChangeAspect="1"/>
          </p:cNvPicPr>
          <p:nvPr/>
        </p:nvPicPr>
        <p:blipFill>
          <a:blip r:embed="rId3"/>
          <a:stretch>
            <a:fillRect/>
          </a:stretch>
        </p:blipFill>
        <p:spPr>
          <a:xfrm>
            <a:off x="6400800" y="1938528"/>
            <a:ext cx="5591387" cy="3566160"/>
          </a:xfrm>
          <a:prstGeom prst="rect">
            <a:avLst/>
          </a:prstGeom>
        </p:spPr>
      </p:pic>
      <p:sp>
        <p:nvSpPr>
          <p:cNvPr id="9" name="TextBox 8"/>
          <p:cNvSpPr txBox="1"/>
          <p:nvPr/>
        </p:nvSpPr>
        <p:spPr>
          <a:xfrm>
            <a:off x="822960" y="5779008"/>
            <a:ext cx="1051560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5F7B4F"/>
                </a:solidFill>
                <a:latin typeface="Arial"/>
              </a:rPr>
              <a:t>Takeaway:  </a:t>
            </a:r>
            <a:r>
              <a:rPr sz="1250" b="0" i="0">
                <a:solidFill>
                  <a:srgbClr val="1D1D21"/>
                </a:solidFill>
                <a:latin typeface="Arial"/>
              </a:rPr>
              <a:t>baskets are produce- and dairy-heavy, but the long tail is brutal — half the items appear only once, so the matcher must generalise, not memorise.</a:t>
            </a:r>
          </a:p>
        </p:txBody>
      </p:sp>
      <p:sp>
        <p:nvSpPr>
          <p:cNvPr id="10" name="TextBox 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11" name="TextBox 1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ML WORKFLOW / DATA PIPELINE</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A tiered matcher — cheap &amp; certain first, fallback last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Receipt</a:t>
            </a:r>
          </a:p>
        </p:txBody>
      </p:sp>
      <p:sp>
        <p:nvSpPr>
          <p:cNvPr id="7" name="TextBox 6"/>
          <p:cNvSpPr txBox="1"/>
          <p:nvPr/>
        </p:nvSpPr>
        <p:spPr>
          <a:xfrm>
            <a:off x="822960"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image / text</a:t>
            </a:r>
          </a:p>
        </p:txBody>
      </p:sp>
      <p:sp>
        <p:nvSpPr>
          <p:cNvPr id="8" name="TextBox 7"/>
          <p:cNvSpPr txBox="1"/>
          <p:nvPr/>
        </p:nvSpPr>
        <p:spPr>
          <a:xfrm>
            <a:off x="3191256" y="2057400"/>
            <a:ext cx="45720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9" name="Rounded Rectangle 8"/>
          <p:cNvSpPr/>
          <p:nvPr/>
        </p:nvSpPr>
        <p:spPr>
          <a:xfrm>
            <a:off x="3657599"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599"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Extract</a:t>
            </a:r>
          </a:p>
        </p:txBody>
      </p:sp>
      <p:sp>
        <p:nvSpPr>
          <p:cNvPr id="11" name="TextBox 10"/>
          <p:cNvSpPr txBox="1"/>
          <p:nvPr/>
        </p:nvSpPr>
        <p:spPr>
          <a:xfrm>
            <a:off x="3657599"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on-device OCR → items</a:t>
            </a:r>
          </a:p>
        </p:txBody>
      </p:sp>
      <p:sp>
        <p:nvSpPr>
          <p:cNvPr id="12" name="TextBox 11"/>
          <p:cNvSpPr txBox="1"/>
          <p:nvPr/>
        </p:nvSpPr>
        <p:spPr>
          <a:xfrm>
            <a:off x="6025895" y="2057400"/>
            <a:ext cx="45720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13" name="Rounded Rectangle 12"/>
          <p:cNvSpPr/>
          <p:nvPr/>
        </p:nvSpPr>
        <p:spPr>
          <a:xfrm>
            <a:off x="6492240"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Clean</a:t>
            </a:r>
          </a:p>
        </p:txBody>
      </p:sp>
      <p:sp>
        <p:nvSpPr>
          <p:cNvPr id="15" name="TextBox 14"/>
          <p:cNvSpPr txBox="1"/>
          <p:nvPr/>
        </p:nvSpPr>
        <p:spPr>
          <a:xfrm>
            <a:off x="6492240"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strip qty · price · brand</a:t>
            </a:r>
          </a:p>
        </p:txBody>
      </p:sp>
      <p:sp>
        <p:nvSpPr>
          <p:cNvPr id="16" name="TextBox 15"/>
          <p:cNvSpPr txBox="1"/>
          <p:nvPr/>
        </p:nvSpPr>
        <p:spPr>
          <a:xfrm>
            <a:off x="9006840" y="2057400"/>
            <a:ext cx="128016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17" name="Rounded Rectangle 16"/>
          <p:cNvSpPr/>
          <p:nvPr/>
        </p:nvSpPr>
        <p:spPr>
          <a:xfrm>
            <a:off x="822960" y="3063240"/>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3063240"/>
            <a:ext cx="1417320" cy="566928"/>
          </a:xfrm>
          <a:prstGeom prst="roundRect">
            <a:avLst>
              <a:gd name="adj" fmla="val 1200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063240"/>
            <a:ext cx="141732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Tier 0</a:t>
            </a:r>
          </a:p>
        </p:txBody>
      </p:sp>
      <p:sp>
        <p:nvSpPr>
          <p:cNvPr id="20" name="TextBox 19"/>
          <p:cNvSpPr txBox="1"/>
          <p:nvPr/>
        </p:nvSpPr>
        <p:spPr>
          <a:xfrm>
            <a:off x="2423160" y="3063240"/>
            <a:ext cx="329184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Learned verified matches</a:t>
            </a:r>
          </a:p>
        </p:txBody>
      </p:sp>
      <p:sp>
        <p:nvSpPr>
          <p:cNvPr id="21" name="TextBox 20"/>
          <p:cNvSpPr txBox="1"/>
          <p:nvPr/>
        </p:nvSpPr>
        <p:spPr>
          <a:xfrm>
            <a:off x="5486400" y="3063240"/>
            <a:ext cx="292608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human-confirmed · always trusted</a:t>
            </a:r>
          </a:p>
        </p:txBody>
      </p:sp>
      <p:sp>
        <p:nvSpPr>
          <p:cNvPr id="22" name="Rounded Rectangle 21"/>
          <p:cNvSpPr/>
          <p:nvPr/>
        </p:nvSpPr>
        <p:spPr>
          <a:xfrm>
            <a:off x="822960" y="3721608"/>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60" y="3721608"/>
            <a:ext cx="1417320" cy="566928"/>
          </a:xfrm>
          <a:prstGeom prst="roundRect">
            <a:avLst>
              <a:gd name="adj" fmla="val 12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721608"/>
            <a:ext cx="141732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Tier 1</a:t>
            </a:r>
          </a:p>
        </p:txBody>
      </p:sp>
      <p:sp>
        <p:nvSpPr>
          <p:cNvPr id="25" name="TextBox 24"/>
          <p:cNvSpPr txBox="1"/>
          <p:nvPr/>
        </p:nvSpPr>
        <p:spPr>
          <a:xfrm>
            <a:off x="2423160" y="3721608"/>
            <a:ext cx="329184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BLS 4.0 — German nutrients</a:t>
            </a:r>
          </a:p>
        </p:txBody>
      </p:sp>
      <p:sp>
        <p:nvSpPr>
          <p:cNvPr id="26" name="TextBox 25"/>
          <p:cNvSpPr txBox="1"/>
          <p:nvPr/>
        </p:nvSpPr>
        <p:spPr>
          <a:xfrm>
            <a:off x="5486400" y="3721608"/>
            <a:ext cx="292608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primary source · 174 of 180 lines</a:t>
            </a:r>
          </a:p>
        </p:txBody>
      </p:sp>
      <p:sp>
        <p:nvSpPr>
          <p:cNvPr id="27" name="Rounded Rectangle 26"/>
          <p:cNvSpPr/>
          <p:nvPr/>
        </p:nvSpPr>
        <p:spPr>
          <a:xfrm>
            <a:off x="822960" y="4379976"/>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 y="4379976"/>
            <a:ext cx="1417320" cy="566928"/>
          </a:xfrm>
          <a:prstGeom prst="roundRect">
            <a:avLst>
              <a:gd name="adj" fmla="val 1200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79976"/>
            <a:ext cx="141732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D1D21"/>
                </a:solidFill>
                <a:latin typeface="Arial"/>
              </a:rPr>
              <a:t>Tier 2</a:t>
            </a:r>
          </a:p>
        </p:txBody>
      </p:sp>
      <p:sp>
        <p:nvSpPr>
          <p:cNvPr id="30" name="TextBox 29"/>
          <p:cNvSpPr txBox="1"/>
          <p:nvPr/>
        </p:nvSpPr>
        <p:spPr>
          <a:xfrm>
            <a:off x="2423160" y="4379976"/>
            <a:ext cx="329184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Open Food Facts fallback</a:t>
            </a:r>
          </a:p>
        </p:txBody>
      </p:sp>
      <p:sp>
        <p:nvSpPr>
          <p:cNvPr id="31" name="TextBox 30"/>
          <p:cNvSpPr txBox="1"/>
          <p:nvPr/>
        </p:nvSpPr>
        <p:spPr>
          <a:xfrm>
            <a:off x="5486400" y="4379976"/>
            <a:ext cx="292608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branded gaps · 4 of 180 lines</a:t>
            </a:r>
          </a:p>
        </p:txBody>
      </p:sp>
      <p:sp>
        <p:nvSpPr>
          <p:cNvPr id="32" name="Rounded Rectangle 31"/>
          <p:cNvSpPr/>
          <p:nvPr/>
        </p:nvSpPr>
        <p:spPr>
          <a:xfrm>
            <a:off x="822960" y="5038344"/>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2960" y="5038344"/>
            <a:ext cx="1417320" cy="566928"/>
          </a:xfrm>
          <a:prstGeom prst="roundRect">
            <a:avLst>
              <a:gd name="adj" fmla="val 12000"/>
            </a:avLst>
          </a:prstGeom>
          <a:solidFill>
            <a:srgbClr val="CFC9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038344"/>
            <a:ext cx="141732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D1D21"/>
                </a:solidFill>
                <a:latin typeface="Arial"/>
              </a:rPr>
              <a:t>open</a:t>
            </a:r>
          </a:p>
        </p:txBody>
      </p:sp>
      <p:sp>
        <p:nvSpPr>
          <p:cNvPr id="35" name="TextBox 34"/>
          <p:cNvSpPr txBox="1"/>
          <p:nvPr/>
        </p:nvSpPr>
        <p:spPr>
          <a:xfrm>
            <a:off x="2423160" y="5038344"/>
            <a:ext cx="329184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Left honest / unresolved</a:t>
            </a:r>
          </a:p>
        </p:txBody>
      </p:sp>
      <p:sp>
        <p:nvSpPr>
          <p:cNvPr id="36" name="TextBox 35"/>
          <p:cNvSpPr txBox="1"/>
          <p:nvPr/>
        </p:nvSpPr>
        <p:spPr>
          <a:xfrm>
            <a:off x="5486400" y="5038344"/>
            <a:ext cx="292608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2 ambiguous lines — not guessed</a:t>
            </a:r>
          </a:p>
        </p:txBody>
      </p:sp>
      <p:sp>
        <p:nvSpPr>
          <p:cNvPr id="37" name="Rounded Rectangle 36"/>
          <p:cNvSpPr/>
          <p:nvPr/>
        </p:nvSpPr>
        <p:spPr>
          <a:xfrm>
            <a:off x="8823960" y="3063240"/>
            <a:ext cx="2542032" cy="2542032"/>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3246120"/>
            <a:ext cx="219456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7B4F"/>
                </a:solidFill>
                <a:latin typeface="Arial"/>
              </a:rPr>
              <a:t>OUTPUT</a:t>
            </a:r>
          </a:p>
        </p:txBody>
      </p:sp>
      <p:sp>
        <p:nvSpPr>
          <p:cNvPr id="39" name="TextBox 38"/>
          <p:cNvSpPr txBox="1"/>
          <p:nvPr/>
        </p:nvSpPr>
        <p:spPr>
          <a:xfrm>
            <a:off x="9006840" y="3657600"/>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Nutrients (macros + micros)</a:t>
            </a:r>
          </a:p>
        </p:txBody>
      </p:sp>
      <p:sp>
        <p:nvSpPr>
          <p:cNvPr id="40" name="TextBox 39"/>
          <p:cNvSpPr txBox="1"/>
          <p:nvPr/>
        </p:nvSpPr>
        <p:spPr>
          <a:xfrm>
            <a:off x="9006840" y="4142232"/>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Confidence label</a:t>
            </a:r>
          </a:p>
        </p:txBody>
      </p:sp>
      <p:sp>
        <p:nvSpPr>
          <p:cNvPr id="41" name="TextBox 40"/>
          <p:cNvSpPr txBox="1"/>
          <p:nvPr/>
        </p:nvSpPr>
        <p:spPr>
          <a:xfrm>
            <a:off x="9006840" y="4626864"/>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Data-source citation</a:t>
            </a:r>
          </a:p>
        </p:txBody>
      </p:sp>
      <p:sp>
        <p:nvSpPr>
          <p:cNvPr id="42" name="TextBox 41"/>
          <p:cNvSpPr txBox="1"/>
          <p:nvPr/>
        </p:nvSpPr>
        <p:spPr>
          <a:xfrm>
            <a:off x="9006840" y="5111496"/>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 Gaps + Next Cart</a:t>
            </a:r>
          </a:p>
        </p:txBody>
      </p:sp>
      <p:sp>
        <p:nvSpPr>
          <p:cNvPr id="43" name="TextBox 42"/>
          <p:cNvSpPr txBox="1"/>
          <p:nvPr/>
        </p:nvSpPr>
        <p:spPr>
          <a:xfrm>
            <a:off x="822960" y="5806440"/>
            <a:ext cx="76809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6E6F74"/>
                </a:solidFill>
                <a:latin typeface="Arial"/>
              </a:rPr>
              <a:t>Rule-based on purpose — the embedding only breaks ties, so the logic stays transparent for a health MVP.</a:t>
            </a:r>
          </a:p>
        </p:txBody>
      </p:sp>
      <p:sp>
        <p:nvSpPr>
          <p:cNvPr id="44" name="TextBox 43"/>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45" name="TextBox 44"/>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BASELINE MODEL &amp; PERFORMANCE</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Measured honestly on real receipts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446520" cy="342900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eanup.png"/>
          <p:cNvPicPr>
            <a:picLocks noChangeAspect="1"/>
          </p:cNvPicPr>
          <p:nvPr/>
        </p:nvPicPr>
        <p:blipFill>
          <a:blip r:embed="rId2"/>
          <a:stretch>
            <a:fillRect/>
          </a:stretch>
        </p:blipFill>
        <p:spPr>
          <a:xfrm>
            <a:off x="1051560" y="1920240"/>
            <a:ext cx="5029764" cy="3063240"/>
          </a:xfrm>
          <a:prstGeom prst="rect">
            <a:avLst/>
          </a:prstGeom>
        </p:spPr>
      </p:pic>
      <p:sp>
        <p:nvSpPr>
          <p:cNvPr id="7" name="Rounded Rectangle 6"/>
          <p:cNvSpPr/>
          <p:nvPr/>
        </p:nvSpPr>
        <p:spPr>
          <a:xfrm>
            <a:off x="7543800" y="1737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3800" y="1865376"/>
            <a:ext cx="73152" cy="795527"/>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865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99%</a:t>
            </a:r>
          </a:p>
          <a:p>
            <a:pPr algn="l">
              <a:lnSpc>
                <a:spcPct val="102000"/>
              </a:lnSpc>
              <a:spcBef>
                <a:spcPts val="0"/>
              </a:spcBef>
              <a:spcAft>
                <a:spcPts val="300"/>
              </a:spcAft>
            </a:pPr>
            <a:r>
              <a:rPr sz="1250" b="1" i="0">
                <a:solidFill>
                  <a:srgbClr val="1D1D21"/>
                </a:solidFill>
                <a:latin typeface="Arial"/>
              </a:rPr>
              <a:t>Lines resolved</a:t>
            </a:r>
          </a:p>
          <a:p>
            <a:pPr algn="l">
              <a:lnSpc>
                <a:spcPct val="102000"/>
              </a:lnSpc>
              <a:spcBef>
                <a:spcPts val="0"/>
              </a:spcBef>
              <a:spcAft>
                <a:spcPts val="300"/>
              </a:spcAft>
            </a:pPr>
            <a:r>
              <a:rPr sz="1050" b="0" i="0">
                <a:solidFill>
                  <a:srgbClr val="6E6F74"/>
                </a:solidFill>
                <a:latin typeface="Arial"/>
              </a:rPr>
              <a:t>174 BLS · 4 OFF · 2 left open, of 180</a:t>
            </a:r>
          </a:p>
        </p:txBody>
      </p:sp>
      <p:sp>
        <p:nvSpPr>
          <p:cNvPr id="10" name="Rounded Rectangle 9"/>
          <p:cNvSpPr/>
          <p:nvPr/>
        </p:nvSpPr>
        <p:spPr>
          <a:xfrm>
            <a:off x="7543800" y="2880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3800" y="3008376"/>
            <a:ext cx="73152" cy="795527"/>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3008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47%</a:t>
            </a:r>
          </a:p>
          <a:p>
            <a:pPr algn="l">
              <a:lnSpc>
                <a:spcPct val="102000"/>
              </a:lnSpc>
              <a:spcBef>
                <a:spcPts val="0"/>
              </a:spcBef>
              <a:spcAft>
                <a:spcPts val="300"/>
              </a:spcAft>
            </a:pPr>
            <a:r>
              <a:rPr sz="1250" b="1" i="0">
                <a:solidFill>
                  <a:srgbClr val="1D1D21"/>
                </a:solidFill>
                <a:latin typeface="Arial"/>
              </a:rPr>
              <a:t>Recall@5 (cleaned)</a:t>
            </a:r>
          </a:p>
          <a:p>
            <a:pPr algn="l">
              <a:lnSpc>
                <a:spcPct val="102000"/>
              </a:lnSpc>
              <a:spcBef>
                <a:spcPts val="0"/>
              </a:spcBef>
              <a:spcAft>
                <a:spcPts val="300"/>
              </a:spcAft>
            </a:pPr>
            <a:r>
              <a:rPr sz="1050" b="0" i="0">
                <a:solidFill>
                  <a:srgbClr val="6E6F74"/>
                </a:solidFill>
                <a:latin typeface="Arial"/>
              </a:rPr>
              <a:t>right food in top 5 — up from 32% raw</a:t>
            </a:r>
          </a:p>
        </p:txBody>
      </p:sp>
      <p:sp>
        <p:nvSpPr>
          <p:cNvPr id="13" name="Rounded Rectangle 12"/>
          <p:cNvSpPr/>
          <p:nvPr/>
        </p:nvSpPr>
        <p:spPr>
          <a:xfrm>
            <a:off x="7543800" y="4023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4151376"/>
            <a:ext cx="73152" cy="795527"/>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4151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56% → 47%</a:t>
            </a:r>
          </a:p>
          <a:p>
            <a:pPr algn="l">
              <a:lnSpc>
                <a:spcPct val="102000"/>
              </a:lnSpc>
              <a:spcBef>
                <a:spcPts val="0"/>
              </a:spcBef>
              <a:spcAft>
                <a:spcPts val="300"/>
              </a:spcAft>
            </a:pPr>
            <a:r>
              <a:rPr sz="1250" b="1" i="0">
                <a:solidFill>
                  <a:srgbClr val="1D1D21"/>
                </a:solidFill>
                <a:latin typeface="Arial"/>
              </a:rPr>
              <a:t>Real is harder</a:t>
            </a:r>
          </a:p>
          <a:p>
            <a:pPr algn="l">
              <a:lnSpc>
                <a:spcPct val="102000"/>
              </a:lnSpc>
              <a:spcBef>
                <a:spcPts val="0"/>
              </a:spcBef>
              <a:spcAft>
                <a:spcPts val="300"/>
              </a:spcAft>
            </a:pPr>
            <a:r>
              <a:rPr sz="1050" b="0" i="0">
                <a:solidFill>
                  <a:srgbClr val="6E6F74"/>
                </a:solidFill>
                <a:latin typeface="Arial"/>
              </a:rPr>
              <a:t>clean 45 vs. real receipts (Recall@5)</a:t>
            </a:r>
          </a:p>
        </p:txBody>
      </p:sp>
      <p:sp>
        <p:nvSpPr>
          <p:cNvPr id="16" name="Rounded Rectangle 15"/>
          <p:cNvSpPr/>
          <p:nvPr/>
        </p:nvSpPr>
        <p:spPr>
          <a:xfrm>
            <a:off x="822960" y="5321808"/>
            <a:ext cx="10543032" cy="77724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422392"/>
            <a:ext cx="10058400" cy="640080"/>
          </a:xfrm>
          <a:prstGeom prst="rect">
            <a:avLst/>
          </a:prstGeom>
          <a:noFill/>
        </p:spPr>
        <p:txBody>
          <a:bodyPr wrap="square" anchor="ctr" lIns="0" rIns="0" tIns="0" bIns="0">
            <a:spAutoFit/>
          </a:bodyPr>
          <a:lstStyle/>
          <a:p>
            <a:pPr algn="l">
              <a:lnSpc>
                <a:spcPct val="108000"/>
              </a:lnSpc>
              <a:spcBef>
                <a:spcPts val="0"/>
              </a:spcBef>
              <a:spcAft>
                <a:spcPts val="400"/>
              </a:spcAft>
            </a:pPr>
            <a:r>
              <a:rPr sz="1300" b="1" i="0">
                <a:solidFill>
                  <a:srgbClr val="5F7B4F"/>
                </a:solidFill>
                <a:latin typeface="Arial"/>
              </a:rPr>
              <a:t>The honest finding:  </a:t>
            </a:r>
            <a:r>
              <a:rPr sz="1300" b="0" i="0">
                <a:solidFill>
                  <a:srgbClr val="1D1D21"/>
                </a:solidFill>
                <a:latin typeface="Arial"/>
              </a:rPr>
              <a:t>on raw text, simple fuzzy beats the “smart” hybrid — so the embedding is a tie-breaker, not the main matcher. Cleaning the text is the real lever; the learned Tier-0 store closes the rest.</a:t>
            </a:r>
          </a:p>
        </p:txBody>
      </p:sp>
      <p:sp>
        <p:nvSpPr>
          <p:cNvPr id="18" name="TextBox 17"/>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V2</a:t>
            </a:r>
          </a:p>
        </p:txBody>
      </p:sp>
      <p:sp>
        <p:nvSpPr>
          <p:cNvPr id="19" name="TextBox 18"/>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822960"/>
            <a:ext cx="310896" cy="310896"/>
          </a:xfrm>
          <a:prstGeom prst="roundRect">
            <a:avLst>
              <a:gd name="adj" fmla="val 3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43584" y="795528"/>
            <a:ext cx="36576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1D1D21"/>
                </a:solidFill>
                <a:latin typeface="Arial"/>
              </a:rPr>
              <a:t>NUTRIWISE</a:t>
            </a:r>
          </a:p>
        </p:txBody>
      </p:sp>
      <p:sp>
        <p:nvSpPr>
          <p:cNvPr id="6" name="TextBox 5"/>
          <p:cNvSpPr txBox="1"/>
          <p:nvPr/>
        </p:nvSpPr>
        <p:spPr>
          <a:xfrm>
            <a:off x="822960" y="2286000"/>
            <a:ext cx="10515600" cy="1097280"/>
          </a:xfrm>
          <a:prstGeom prst="rect">
            <a:avLst/>
          </a:prstGeom>
          <a:noFill/>
        </p:spPr>
        <p:txBody>
          <a:bodyPr wrap="square" anchor="t" lIns="0" rIns="0" tIns="0" bIns="0">
            <a:spAutoFit/>
          </a:bodyPr>
          <a:lstStyle/>
          <a:p>
            <a:pPr algn="l">
              <a:lnSpc>
                <a:spcPct val="100000"/>
              </a:lnSpc>
              <a:spcBef>
                <a:spcPts val="0"/>
              </a:spcBef>
              <a:spcAft>
                <a:spcPts val="400"/>
              </a:spcAft>
            </a:pPr>
            <a:r>
              <a:rPr sz="5000" b="1" i="0">
                <a:solidFill>
                  <a:srgbClr val="1D1D21"/>
                </a:solidFill>
                <a:latin typeface="Arial"/>
              </a:rPr>
              <a:t>Thank you.</a:t>
            </a:r>
          </a:p>
        </p:txBody>
      </p:sp>
      <p:sp>
        <p:nvSpPr>
          <p:cNvPr id="7" name="Rectangle 6"/>
          <p:cNvSpPr/>
          <p:nvPr/>
        </p:nvSpPr>
        <p:spPr>
          <a:xfrm>
            <a:off x="841248" y="3383280"/>
            <a:ext cx="310896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61188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1800" b="0" i="1">
                <a:solidFill>
                  <a:srgbClr val="5F7B4F"/>
                </a:solidFill>
                <a:latin typeface="Arial"/>
              </a:rPr>
              <a:t>Upload a grocery receipt. Get one smarter thing to buy next time.</a:t>
            </a:r>
          </a:p>
        </p:txBody>
      </p:sp>
      <p:sp>
        <p:nvSpPr>
          <p:cNvPr id="9" name="TextBox 8"/>
          <p:cNvSpPr txBox="1"/>
          <p:nvPr/>
        </p:nvSpPr>
        <p:spPr>
          <a:xfrm>
            <a:off x="822960" y="4526280"/>
            <a:ext cx="10515600" cy="914400"/>
          </a:xfrm>
          <a:prstGeom prst="rect">
            <a:avLst/>
          </a:prstGeom>
          <a:noFill/>
        </p:spPr>
        <p:txBody>
          <a:bodyPr wrap="square" anchor="t" lIns="0" rIns="0" tIns="0" bIns="0">
            <a:spAutoFit/>
          </a:bodyPr>
          <a:lstStyle/>
          <a:p>
            <a:pPr algn="l">
              <a:lnSpc>
                <a:spcPct val="100000"/>
              </a:lnSpc>
              <a:spcBef>
                <a:spcPts val="0"/>
              </a:spcBef>
              <a:spcAft>
                <a:spcPts val="800"/>
              </a:spcAft>
            </a:pPr>
            <a:r>
              <a:rPr sz="1500" b="1" i="0">
                <a:solidFill>
                  <a:srgbClr val="1D1D21"/>
                </a:solidFill>
                <a:latin typeface="Arial"/>
              </a:rPr>
              <a:t>Jennifer Rake</a:t>
            </a:r>
            <a:r>
              <a:rPr sz="1500" b="0" i="0">
                <a:solidFill>
                  <a:srgbClr val="6E6F74"/>
                </a:solidFill>
                <a:latin typeface="Arial"/>
              </a:rPr>
              <a:t>   &amp;   </a:t>
            </a:r>
            <a:r>
              <a:rPr sz="1500" b="1" i="0">
                <a:solidFill>
                  <a:srgbClr val="1D1D21"/>
                </a:solidFill>
                <a:latin typeface="Arial"/>
              </a:rPr>
              <a:t>Stuart Kasemeier</a:t>
            </a:r>
          </a:p>
          <a:p>
            <a:pPr algn="l">
              <a:lnSpc>
                <a:spcPct val="100000"/>
              </a:lnSpc>
              <a:spcBef>
                <a:spcPts val="0"/>
              </a:spcBef>
              <a:spcAft>
                <a:spcPts val="800"/>
              </a:spcAft>
            </a:pPr>
            <a:r>
              <a:rPr sz="1250" b="0" i="0">
                <a:solidFill>
                  <a:srgbClr val="6E6F74"/>
                </a:solidFill>
                <a:latin typeface="Arial"/>
              </a:rPr>
              <a:t>NutriWise  ·  AI PM Capstone  ·  Midterm V2  —  Questions &amp; feedback welcome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BACKUP — EARLIER PILOT MEASUREMENT</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D1D21"/>
                </a:solidFill>
                <a:latin typeface="Arial"/>
              </a:rPr>
              <a:t>Pilot: OFF vs BLS, judged head-to-head</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36192"/>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6E6F74"/>
                </a:solidFill>
                <a:latin typeface="Arial"/>
              </a:rPr>
              <a:t>Different method than Recall@5 — an earlier LLM-judge pilot on 76 items. Not directly comparable; kept for context.</a:t>
            </a:r>
          </a:p>
        </p:txBody>
      </p:sp>
      <p:sp>
        <p:nvSpPr>
          <p:cNvPr id="6" name="Rounded Rectangle 5"/>
          <p:cNvSpPr/>
          <p:nvPr/>
        </p:nvSpPr>
        <p:spPr>
          <a:xfrm>
            <a:off x="822960" y="1965960"/>
            <a:ext cx="6903720" cy="320040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seline.png"/>
          <p:cNvPicPr>
            <a:picLocks noChangeAspect="1"/>
          </p:cNvPicPr>
          <p:nvPr/>
        </p:nvPicPr>
        <p:blipFill>
          <a:blip r:embed="rId2"/>
          <a:stretch>
            <a:fillRect/>
          </a:stretch>
        </p:blipFill>
        <p:spPr>
          <a:xfrm>
            <a:off x="960120" y="2148840"/>
            <a:ext cx="6629400" cy="2393847"/>
          </a:xfrm>
          <a:prstGeom prst="rect">
            <a:avLst/>
          </a:prstGeom>
        </p:spPr>
      </p:pic>
      <p:sp>
        <p:nvSpPr>
          <p:cNvPr id="8" name="Rounded Rectangle 7"/>
          <p:cNvSpPr/>
          <p:nvPr/>
        </p:nvSpPr>
        <p:spPr>
          <a:xfrm>
            <a:off x="8001000" y="1965960"/>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0" y="2093976"/>
            <a:ext cx="73152" cy="70408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093976"/>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66%</a:t>
            </a:r>
          </a:p>
          <a:p>
            <a:pPr algn="l">
              <a:lnSpc>
                <a:spcPct val="102000"/>
              </a:lnSpc>
              <a:spcBef>
                <a:spcPts val="0"/>
              </a:spcBef>
              <a:spcAft>
                <a:spcPts val="300"/>
              </a:spcAft>
            </a:pPr>
            <a:r>
              <a:rPr sz="1250" b="1" i="0">
                <a:solidFill>
                  <a:srgbClr val="1D1D21"/>
                </a:solidFill>
                <a:latin typeface="Arial"/>
              </a:rPr>
              <a:t>OFF usable (pilot)</a:t>
            </a:r>
          </a:p>
          <a:p>
            <a:pPr algn="l">
              <a:lnSpc>
                <a:spcPct val="102000"/>
              </a:lnSpc>
              <a:spcBef>
                <a:spcPts val="0"/>
              </a:spcBef>
              <a:spcAft>
                <a:spcPts val="300"/>
              </a:spcAft>
            </a:pPr>
            <a:r>
              <a:rPr sz="1050" b="0" i="0">
                <a:solidFill>
                  <a:srgbClr val="6E6F74"/>
                </a:solidFill>
                <a:latin typeface="Arial"/>
              </a:rPr>
              <a:t>correct + partial, LLM-judged</a:t>
            </a:r>
          </a:p>
        </p:txBody>
      </p:sp>
      <p:sp>
        <p:nvSpPr>
          <p:cNvPr id="11" name="Rounded Rectangle 10"/>
          <p:cNvSpPr/>
          <p:nvPr/>
        </p:nvSpPr>
        <p:spPr>
          <a:xfrm>
            <a:off x="8001000" y="3035808"/>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01000" y="3163824"/>
            <a:ext cx="73152" cy="70408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163824"/>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2×</a:t>
            </a:r>
          </a:p>
          <a:p>
            <a:pPr algn="l">
              <a:lnSpc>
                <a:spcPct val="102000"/>
              </a:lnSpc>
              <a:spcBef>
                <a:spcPts val="0"/>
              </a:spcBef>
              <a:spcAft>
                <a:spcPts val="300"/>
              </a:spcAft>
            </a:pPr>
            <a:r>
              <a:rPr sz="1250" b="1" i="0">
                <a:solidFill>
                  <a:srgbClr val="1D1D21"/>
                </a:solidFill>
                <a:latin typeface="Arial"/>
              </a:rPr>
              <a:t>OFF beats BLS</a:t>
            </a:r>
          </a:p>
          <a:p>
            <a:pPr algn="l">
              <a:lnSpc>
                <a:spcPct val="102000"/>
              </a:lnSpc>
              <a:spcBef>
                <a:spcPts val="0"/>
              </a:spcBef>
              <a:spcAft>
                <a:spcPts val="300"/>
              </a:spcAft>
            </a:pPr>
            <a:r>
              <a:rPr sz="1050" b="0" i="0">
                <a:solidFill>
                  <a:srgbClr val="6E6F74"/>
                </a:solidFill>
                <a:latin typeface="Arial"/>
              </a:rPr>
              <a:t>54% vs 32% correct on identity</a:t>
            </a:r>
          </a:p>
        </p:txBody>
      </p:sp>
      <p:sp>
        <p:nvSpPr>
          <p:cNvPr id="14" name="Rounded Rectangle 13"/>
          <p:cNvSpPr/>
          <p:nvPr/>
        </p:nvSpPr>
        <p:spPr>
          <a:xfrm>
            <a:off x="8001000" y="4105656"/>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4233672"/>
            <a:ext cx="73152" cy="70408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4233672"/>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96%</a:t>
            </a:r>
          </a:p>
          <a:p>
            <a:pPr algn="l">
              <a:lnSpc>
                <a:spcPct val="102000"/>
              </a:lnSpc>
              <a:spcBef>
                <a:spcPts val="0"/>
              </a:spcBef>
              <a:spcAft>
                <a:spcPts val="300"/>
              </a:spcAft>
            </a:pPr>
            <a:r>
              <a:rPr sz="1250" b="1" i="0">
                <a:solidFill>
                  <a:srgbClr val="1D1D21"/>
                </a:solidFill>
                <a:latin typeface="Arial"/>
              </a:rPr>
              <a:t>Judge agreement</a:t>
            </a:r>
          </a:p>
          <a:p>
            <a:pPr algn="l">
              <a:lnSpc>
                <a:spcPct val="102000"/>
              </a:lnSpc>
              <a:spcBef>
                <a:spcPts val="0"/>
              </a:spcBef>
              <a:spcAft>
                <a:spcPts val="300"/>
              </a:spcAft>
            </a:pPr>
            <a:r>
              <a:rPr sz="1050" b="0" i="0">
                <a:solidFill>
                  <a:srgbClr val="6E6F74"/>
                </a:solidFill>
                <a:latin typeface="Arial"/>
              </a:rPr>
              <a:t>3/3 unanimous — pilot metric</a:t>
            </a:r>
          </a:p>
        </p:txBody>
      </p:sp>
      <p:sp>
        <p:nvSpPr>
          <p:cNvPr id="17" name="TextBox 16"/>
          <p:cNvSpPr txBox="1"/>
          <p:nvPr/>
        </p:nvSpPr>
        <p:spPr>
          <a:xfrm>
            <a:off x="822960" y="5349240"/>
            <a:ext cx="1051560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5F7B4F"/>
                </a:solidFill>
                <a:latin typeface="Arial"/>
              </a:rPr>
              <a:t>Why it still matters:  </a:t>
            </a:r>
            <a:r>
              <a:rPr sz="1250" b="0" i="0">
                <a:solidFill>
                  <a:srgbClr val="1D1D21"/>
                </a:solidFill>
                <a:latin typeface="Arial"/>
              </a:rPr>
              <a:t>it's why BLS leads and OFF is only a fallback — and why we moved to the stricter, human-verified Recall@5.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