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 — Stuart opens]</a:t>
            </a:r>
          </a:p>
          <a:p>
            <a:r>
              <a:t>Open the PM meeting: quick status update on Supermarket Optimizer / NutriWise. Six blocks: business idea, timeline, product breakdown, challenges (solved + upcoming), team collaboration, and priorities for this and next week. Main headline for today: we want to get to live testing on our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[Stuart]</a:t>
            </a:r>
          </a:p>
          <a:p>
            <a:r>
              <a:t>The core idea in one line: upload a receipt, get smarter nutrition for the next trip. The wedge is effort — the receipt is a passive proxy for what was really eaten, so no manual food logging. Goal: better nutrition with minimal user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[Stuart]</a:t>
            </a:r>
          </a:p>
          <a:p>
            <a:r>
              <a:t>Three-phase plan. Week 1 was MVP trials — probing Claude, a first local build, spotting gaps, tightening docs. Weeks 2–3 are the deeper pass: clean documentation and a structured rework of the MVP, back to swapping partners per Epic. Week 3 closes with deployment, live testing, and GDPR.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 / Jenny]</a:t>
            </a:r>
          </a:p>
          <a:p>
            <a:r>
              <a:t>The product is six blocks: login/auth, chat-style onboarding that builds the profile, receipt upload (PDF and image today, camera coming), extraction &amp; matching, the dashboard with gaps and recommendations, and recipe generation to make the improvements intuitive. Extraction now runs fully on-device.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 / Jenny]</a:t>
            </a:r>
          </a:p>
          <a:p>
            <a:r>
              <a:t>The big one we hit was product matching — we didn't put enough logic in up front. Fix: enable manual matching now so we collect labelled data, then train a smarter matcher that needs no user interaction. We also rewrote docs and reworked the MVP. Upcoming: deployment, GDPR, and extraction robustness — important reconciliation: we've ALREADY moved extraction on-device (Tesseract/PyMuPDF), so Gemini is out of the extraction path; the remaining work is generalizing across supermarket formats. Plus in-app camera capture next to PDF/image 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The concrete open items we're heads-down on right now, with how we're tackling each: (1) Supabase data load time in the app — caching, leaner queries, lazy loading; (2) recipe &amp; recommendation generation — quality and speed via better prompts and ranking; (3) portion / quantity tracking in the pantry, e.g. counting 3× milk, so stock and gaps stay accurate; (4) training and tuning image→text (on-device OCR) plus database matching to reliably pull ingredients / nutrients. These feed directly into the live-testing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Split: Jenny owns UI and MVP refinement, Stuart owns backend and documentation — but we're back to switching partners per Epic so ownership stays shared. Rhythm: daily stand-ups, focused silent work sessions, and frequent reviews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Priority for this and next week is live testing on our own phones. Focus areas: a stable end-to-end workflow, better onboarding and user flow, higher-quality recommendations, an extra-value feature like recommendation ranking, and overall demo readiness. Getting it on real devices is how we find the rough edges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Close on the one-liner and open for questions. Headline to leave in the room: the core loop works, matching is the honest challenge we're actively de-risking, and the near-term goal is live testing on our phones toward demo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53535" cy="6729984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1D1D21"/>
                </a:solidFill>
                <a:latin typeface="Arial"/>
              </a:rPr>
              <a:t>Supermarket Optimizer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5F7B4F"/>
                </a:solidFill>
                <a:latin typeface="Arial"/>
              </a:rPr>
              <a:t>Project status &amp;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5F7B4F"/>
                </a:solidFill>
                <a:latin typeface="Arial"/>
              </a:rPr>
              <a:t>priorities.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0690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E6F74"/>
                </a:solidFill>
                <a:latin typeface="Arial"/>
              </a:rPr>
              <a:t>Where we are, what we've solved, and what ships next — a receipt-based nutrition assistant.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300" b="1" i="0">
                <a:solidFill>
                  <a:srgbClr val="5F7B4F"/>
                </a:solidFill>
                <a:latin typeface="Arial"/>
              </a:rPr>
              <a:t>  ·  UI / MVP   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  <a:r>
              <a:rPr sz="1300" b="1" i="0">
                <a:solidFill>
                  <a:srgbClr val="6E6F74"/>
                </a:solidFill>
                <a:latin typeface="Arial"/>
              </a:rPr>
              <a:t>  ·  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AI Product Management Capstone  ·  PM Meeting 3  ·  July 21,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TODAY'S AGENDA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228600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23113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Business 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6528" y="2560320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0" y="2944368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889503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Project Timeline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6528" y="3218687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3602736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547872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Product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3877056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0" y="4261104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420624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Challenges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4535424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0" y="4919472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86460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Team Collaboration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8" y="5193792"/>
            <a:ext cx="18288" cy="384048"/>
          </a:xfrm>
          <a:prstGeom prst="rect">
            <a:avLst/>
          </a:prstGeom>
          <a:solidFill>
            <a:srgbClr val="B7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5577840"/>
            <a:ext cx="237744" cy="237744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5522976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Priorities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BUSINESS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Better nutrition with minimal user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Upload a receipt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Snap or drop a grocery receipt — no manual food diary.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2834639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9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3657599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AI analyzes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Products and their nutrition are extracted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834639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92240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Find the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We spot the nutrients the week is missing.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834639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874519"/>
            <a:ext cx="2615184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326880" y="1874519"/>
            <a:ext cx="2615184" cy="64008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929384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679191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D1D21"/>
                </a:solidFill>
                <a:latin typeface="Arial"/>
              </a:rPr>
              <a:t>Recommend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246120"/>
            <a:ext cx="21579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Healthier picks for the next shopping trip, with a reason.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80060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Why the receipt?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It's a passive, honest record of what people actually buy — so users get personalized nutrition guidance without the manual logging that kills every other diet app.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Three phases, one shipping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182112"/>
            <a:ext cx="10241280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46604" y="3072384"/>
            <a:ext cx="274320" cy="27432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240280"/>
            <a:ext cx="1659636" cy="402336"/>
          </a:xfrm>
          <a:prstGeom prst="roundRect">
            <a:avLst>
              <a:gd name="adj" fmla="val 5000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16596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5054" y="226771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MVP trials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657600"/>
            <a:ext cx="331927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136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9534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Checked Claude's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439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256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Ran our first local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743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5604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Identified shortcomings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50468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86400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Refined documentation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085332" y="3072384"/>
            <a:ext cx="274320" cy="27432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2240280"/>
            <a:ext cx="1659636" cy="402336"/>
          </a:xfrm>
          <a:prstGeom prst="roundRect">
            <a:avLst>
              <a:gd name="adj" fmla="val 5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258568"/>
            <a:ext cx="16596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WEEK 2+3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782" y="226771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In-depth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3657600"/>
            <a:ext cx="331927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39136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389534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Clear, structured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44439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44256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Structured rework of the current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49743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495604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Switching partners per Epic again</a:t>
            </a:r>
          </a:p>
        </p:txBody>
      </p:sp>
      <p:sp>
        <p:nvSpPr>
          <p:cNvPr id="30" name="Oval 29"/>
          <p:cNvSpPr/>
          <p:nvPr/>
        </p:nvSpPr>
        <p:spPr>
          <a:xfrm>
            <a:off x="9624059" y="3072384"/>
            <a:ext cx="274320" cy="274320"/>
          </a:xfrm>
          <a:prstGeom prst="ellipse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83296" y="2240280"/>
            <a:ext cx="1659636" cy="402336"/>
          </a:xfrm>
          <a:prstGeom prst="roundRect">
            <a:avLst>
              <a:gd name="adj" fmla="val 50000"/>
            </a:avLst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2258568"/>
            <a:ext cx="16596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WEEK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2510" y="2267712"/>
            <a:ext cx="16596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Testing &amp; polish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3657600"/>
            <a:ext cx="331927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391363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3895344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444398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4425696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Live testing on real devices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9743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6F74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4956048"/>
            <a:ext cx="24505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GDPR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PRODUCT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Six building blocks,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066543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84832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Login /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78608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Secure sign-in and account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2" y="2066543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084832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578608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Chat-style profile generation — goal, needs, exclusions.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2066543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0482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84832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Receipt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78608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PDF, image, and (soon) camera capture.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77056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4114800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0965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13308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Extraction &amp;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626864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On-device OCR → items → nutrition (rule/LLM hybrid).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877056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36592" y="4114800"/>
            <a:ext cx="457200" cy="4572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40965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13308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Dashboard &amp; Recs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626864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Nutrient gaps + healthier next-trip recommendations.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877056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4114800"/>
            <a:ext cx="457200" cy="45720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0965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13308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Recipe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626864"/>
            <a:ext cx="23500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Turns improvements into concrete, intuitive meals.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What we hit, how we solved it,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6A4A"/>
                </a:solidFill>
                <a:latin typeface="Arial"/>
              </a:rPr>
              <a:t>ENCOUNTERED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Product matching was the hard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15768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36A4A"/>
                </a:solidFill>
                <a:latin typeface="Arial"/>
              </a:rPr>
              <a:t>•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Too little matching logic up front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200400"/>
            <a:ext cx="4434840" cy="18288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1012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SOLUTIONS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694175"/>
            <a:ext cx="292608" cy="292608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57599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64845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Enabled manual matching — collect data now, train a smart matcher that needs no interaction later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517136"/>
            <a:ext cx="292608" cy="292608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805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47141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Rewrote the documentation and reworked the MVP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193792" cy="3977639"/>
          </a:xfrm>
          <a:prstGeom prst="roundRect">
            <a:avLst>
              <a:gd name="adj" fmla="val 4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645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UPCOMING CHALLENGES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42316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8658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368296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Deployment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Ship a stable hosted build.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24612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095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191256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GDPR compliance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Export / delete, privacy by design.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06908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325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014215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Extraction robustness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On-device OCR already replaced Gemini — next: make it reliable across every supermarket format.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892040"/>
            <a:ext cx="292608" cy="292608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554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837176"/>
            <a:ext cx="409651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Camera capture  —  </a:t>
            </a:r>
            <a:r>
              <a:rPr sz="1200" b="0" i="0">
                <a:solidFill>
                  <a:srgbClr val="6E6F74"/>
                </a:solidFill>
                <a:latin typeface="Arial"/>
              </a:rPr>
              <a:t>Take a photo in-app, alongside PDF &amp; image upload.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CURRENT FOCUS — 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What we're actively working on right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56816"/>
            <a:ext cx="73152" cy="148132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84832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48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Supabase load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505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App data loads too slowly.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85292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Caching, leaner queries &amp; lazy loading to cut wait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28800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956816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2084832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48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Recipes &amp;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4505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Generation quality and speed.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85292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Sharper prompts + ranking so picks are faster and more relevant.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22191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950207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078224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05993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041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Portion &amp; quantity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44398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Pantry counts pack sizes (e.g. 3× milk).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4632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Track quantities so stock and gaps stay accurate over the week.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822191"/>
            <a:ext cx="52578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3950207"/>
            <a:ext cx="73152" cy="148132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4078224"/>
            <a:ext cx="457200" cy="4572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05993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F7B4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0416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D1D21"/>
                </a:solidFill>
                <a:latin typeface="Arial"/>
              </a:rPr>
              <a:t>Image→text &amp; DB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444398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E6F74"/>
                </a:solidFill>
                <a:latin typeface="Arial"/>
              </a:rPr>
              <a:t>Reliably turn a receipt into nutrients.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84632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→  </a:t>
            </a:r>
            <a:r>
              <a:rPr sz="1250" b="0" i="0">
                <a:solidFill>
                  <a:srgbClr val="1D1D21"/>
                </a:solidFill>
                <a:latin typeface="Arial"/>
              </a:rPr>
              <a:t>Train &amp; tune on-device OCR and product→nutrition matching.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TEAM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How we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578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822960" y="1874519"/>
            <a:ext cx="5257800" cy="64008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9384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TASK DISTRIBUTION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834639"/>
            <a:ext cx="548640" cy="54864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346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F7B4F"/>
                </a:solidFill>
                <a:latin typeface="Arial"/>
              </a:rP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52927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UI expert · MVP refinement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749039"/>
            <a:ext cx="548640" cy="54864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F7B4F"/>
                </a:solidFill>
                <a:latin typeface="Arial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767327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Stuart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Backend expert ·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4879"/>
            <a:ext cx="4617720" cy="777240"/>
          </a:xfrm>
          <a:prstGeom prst="roundRect">
            <a:avLst>
              <a:gd name="adj" fmla="val 1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873752"/>
            <a:ext cx="4251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Now back to switching partners for each Epic</a:t>
            </a:r>
            <a:r>
              <a:rPr sz="1250" b="0" i="0">
                <a:solidFill>
                  <a:srgbClr val="1D1D21"/>
                </a:solidFill>
                <a:latin typeface="Arial"/>
              </a:rPr>
              <a:t> — shared ownership across the stack.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5056632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309360" y="1874519"/>
            <a:ext cx="5056632" cy="64008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29384"/>
            <a:ext cx="45994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COMMUNICATION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2862071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254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807208"/>
            <a:ext cx="3959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Daily stand-ups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Quick sync, unblock fast.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3776472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721607"/>
            <a:ext cx="3959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Focused silent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Deep-work sessions, no noise.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4690872"/>
            <a:ext cx="310896" cy="31089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6542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36007"/>
            <a:ext cx="3959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Frequent reviews &amp; testing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Catch issues early, together.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PRIORITIES — THIS &amp;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D1D21"/>
                </a:solidFill>
                <a:latin typeface="Arial"/>
              </a:rPr>
              <a:t>Main goal: live testing on our phones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37160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E6F74"/>
                </a:solidFill>
                <a:latin typeface="Arial"/>
              </a:rPr>
              <a:t>Everything this sprint points at one thing: </a:t>
            </a:r>
            <a:r>
              <a:rPr sz="1400" b="1" i="0">
                <a:solidFill>
                  <a:srgbClr val="1D1D21"/>
                </a:solidFill>
                <a:latin typeface="Arial"/>
              </a:rPr>
              <a:t>getting the full flow onto real devices and demo-ready.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14016"/>
            <a:ext cx="73152" cy="1572768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5F7B4F"/>
                </a:solidFill>
                <a:latin typeface="Arial"/>
              </a:rPr>
              <a:t>End-to-end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Stable workflow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Upload → gaps → recs, no breaks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599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599" y="241401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7C9A6A"/>
                </a:solidFill>
                <a:latin typeface="Arial"/>
              </a:rPr>
              <a:t>Onboarding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Better user flow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Smoother first-run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41401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7C9A6A"/>
                </a:solidFill>
                <a:latin typeface="Arial"/>
              </a:rPr>
              <a:t>Quality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Higher-quality recs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More relevant, better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8600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2414016"/>
            <a:ext cx="73152" cy="157276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414016"/>
            <a:ext cx="2231136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7C9A6A"/>
                </a:solidFill>
                <a:latin typeface="Arial"/>
              </a:rPr>
              <a:t>Extra value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D1D21"/>
                </a:solidFill>
                <a:latin typeface="Arial"/>
              </a:rPr>
              <a:t>Recommendation ranking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E6F74"/>
                </a:solidFill>
                <a:latin typeface="Arial"/>
              </a:rPr>
              <a:t>Order picks by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90288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Demo readiness is the finish line.  </a:t>
            </a:r>
            <a:r>
              <a:rPr sz="1350" b="0" i="0">
                <a:solidFill>
                  <a:srgbClr val="1D1D21"/>
                </a:solidFill>
                <a:latin typeface="Arial"/>
              </a:rPr>
              <a:t>We want to run the whole loop from our own phones — that's the fastest way to feel the rough edges, validate the recommendations, and get the product ready to show.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  <a:r>
              <a:rPr sz="900" b="0" i="0">
                <a:solidFill>
                  <a:srgbClr val="6E6F74"/>
                </a:solidFill>
                <a:latin typeface="Arial"/>
              </a:rPr>
              <a:t>  ·  PM Meeting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282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9552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1D1D21"/>
                </a:solidFill>
                <a:latin typeface="Arial"/>
              </a:rPr>
              <a:t>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383280"/>
            <a:ext cx="3108960" cy="41148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5F7B4F"/>
                </a:solidFill>
                <a:latin typeface="Arial"/>
              </a:rPr>
              <a:t>Upload your receipt. Get a smarter next shopping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  <a:r>
              <a:rPr sz="1500" b="0" i="0">
                <a:solidFill>
                  <a:srgbClr val="6E6F74"/>
                </a:solidFill>
                <a:latin typeface="Arial"/>
              </a:rPr>
              <a:t>   &amp;   </a:t>
            </a: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NutriWise  ·  AI PM Capstone  ·  PM Meeting 3  — 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